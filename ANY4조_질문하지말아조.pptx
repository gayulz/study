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61" r:id="rId4"/>
    <p:sldId id="262" r:id="rId5"/>
    <p:sldId id="265" r:id="rId6"/>
    <p:sldId id="266" r:id="rId7"/>
    <p:sldId id="268" r:id="rId8"/>
    <p:sldId id="269" r:id="rId9"/>
    <p:sldId id="279" r:id="rId10"/>
    <p:sldId id="278" r:id="rId11"/>
    <p:sldId id="280" r:id="rId12"/>
    <p:sldId id="277" r:id="rId13"/>
    <p:sldId id="303" r:id="rId14"/>
    <p:sldId id="306" r:id="rId15"/>
    <p:sldId id="307" r:id="rId16"/>
    <p:sldId id="308" r:id="rId17"/>
    <p:sldId id="296" r:id="rId18"/>
    <p:sldId id="297" r:id="rId19"/>
    <p:sldId id="298" r:id="rId20"/>
    <p:sldId id="299" r:id="rId21"/>
    <p:sldId id="284" r:id="rId22"/>
    <p:sldId id="300" r:id="rId23"/>
    <p:sldId id="283" r:id="rId24"/>
    <p:sldId id="285" r:id="rId25"/>
    <p:sldId id="301" r:id="rId26"/>
    <p:sldId id="302" r:id="rId27"/>
    <p:sldId id="286" r:id="rId28"/>
    <p:sldId id="287" r:id="rId29"/>
    <p:sldId id="288" r:id="rId30"/>
    <p:sldId id="264" r:id="rId31"/>
    <p:sldId id="260" r:id="rId32"/>
  </p:sldIdLst>
  <p:sldSz cx="12192000" cy="6858000"/>
  <p:notesSz cx="6858000" cy="9144000"/>
  <p:embeddedFontLst>
    <p:embeddedFont>
      <p:font typeface="맑은 고딕" panose="020B0503020000020004" pitchFamily="34" charset="-127"/>
      <p:regular r:id="rId34"/>
      <p:bold r:id="rId35"/>
    </p:embeddedFont>
    <p:embeddedFont>
      <p:font typeface="Arial Unicode MS" panose="020B0604020202020204" pitchFamily="34" charset="-128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NanumMyeongjo" pitchFamily="2" charset="-127"/>
      <p:regular r:id="rId42"/>
      <p:bold r:id="rId43"/>
    </p:embeddedFont>
    <p:embeddedFont>
      <p:font typeface="NANUMMYEONGJOEXTRABOLD" panose="02020603020101020101" pitchFamily="18" charset="-127"/>
      <p:bold r:id="rId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699"/>
    <a:srgbClr val="4990B1"/>
    <a:srgbClr val="4990B2"/>
    <a:srgbClr val="997380"/>
    <a:srgbClr val="765661"/>
    <a:srgbClr val="A4A8AC"/>
    <a:srgbClr val="7C9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83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4" d="100"/>
        <a:sy n="13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39993-CE8B-4A4C-A076-9B414FE33957}" type="datetimeFigureOut">
              <a:rPr kumimoji="1" lang="x-none" altLang="en-US" smtClean="0"/>
              <a:pPr/>
              <a:t>2023. 9. 14.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DBADD-1E66-7148-8CC1-D4DA4F0C35E1}" type="slidenum">
              <a:rPr kumimoji="1" lang="x-none" altLang="en-US" smtClean="0"/>
              <a:pPr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5287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7B7C-9D98-D74F-9C2F-C0C5AA02D19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61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F1A-C9A7-5A47-B7AC-3F133EB1145A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66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F0C62-A667-2842-BBFD-C3260A4FEFE9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19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BBEC-1C79-7046-B6AC-4AD62D720729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49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7E47-7ED2-D341-B8AE-9D191A478C28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59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0BB58-B369-E846-B00F-423ADF3DB0A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96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B955-1EC4-1449-844D-6B422C4DDBE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54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30643-723B-404F-8319-3BD6AD56FDEB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1C33-44A3-114B-9CFF-B536F996A20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30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A06F-1E67-B440-B95C-E539465B094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23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2AA32-856F-234E-BCDA-B63CCF1B36B2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52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4A8AC"/>
            </a:gs>
            <a:gs pos="39000">
              <a:srgbClr val="7C9FB0"/>
            </a:gs>
            <a:gs pos="100000">
              <a:srgbClr val="4990B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C3CAB-C28D-B940-B29E-C7658DA6E82E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2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346968" y="2986377"/>
            <a:ext cx="3498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김가율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/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ko-KR" altLang="en-US" sz="20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진소원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/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ko-KR" altLang="en-US" sz="20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김영균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/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고동현</a:t>
            </a:r>
            <a:endParaRPr lang="en-US" altLang="ko-KR" sz="2000" b="1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0684" y="3316450"/>
            <a:ext cx="46506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질문하지말아</a:t>
            </a:r>
            <a:r>
              <a:rPr lang="ko-KR" altLang="en-US" sz="5400" b="1" spc="-150" dirty="0" err="1">
                <a:solidFill>
                  <a:schemeClr val="accent5">
                    <a:lumMod val="50000"/>
                  </a:schemeClr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조</a:t>
            </a:r>
            <a:endParaRPr lang="en-US" altLang="ko-KR" sz="5400" b="1" spc="-150" dirty="0">
              <a:solidFill>
                <a:schemeClr val="accent5">
                  <a:lumMod val="50000"/>
                </a:schemeClr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cxnSp>
        <p:nvCxnSpPr>
          <p:cNvPr id="21" name="직선 연결선 20"/>
          <p:cNvCxnSpPr>
            <a:cxnSpLocks/>
          </p:cNvCxnSpPr>
          <p:nvPr/>
        </p:nvCxnSpPr>
        <p:spPr>
          <a:xfrm rot="10800000">
            <a:off x="7012634" y="5359633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</p:cNvCxnSpPr>
          <p:nvPr/>
        </p:nvCxnSpPr>
        <p:spPr>
          <a:xfrm rot="10800000">
            <a:off x="10130541" y="4170827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20">
            <a:extLst>
              <a:ext uri="{FF2B5EF4-FFF2-40B4-BE49-F238E27FC236}">
                <a16:creationId xmlns:a16="http://schemas.microsoft.com/office/drawing/2014/main" id="{8110BAAF-29A9-AEAF-FE1E-F4E3755472A8}"/>
              </a:ext>
            </a:extLst>
          </p:cNvPr>
          <p:cNvCxnSpPr>
            <a:cxnSpLocks/>
          </p:cNvCxnSpPr>
          <p:nvPr/>
        </p:nvCxnSpPr>
        <p:spPr>
          <a:xfrm rot="10800000">
            <a:off x="1857483" y="1696681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1">
            <a:extLst>
              <a:ext uri="{FF2B5EF4-FFF2-40B4-BE49-F238E27FC236}">
                <a16:creationId xmlns:a16="http://schemas.microsoft.com/office/drawing/2014/main" id="{141F14D8-35AE-2D9C-7701-7D6F822CFDD2}"/>
              </a:ext>
            </a:extLst>
          </p:cNvPr>
          <p:cNvCxnSpPr>
            <a:cxnSpLocks/>
          </p:cNvCxnSpPr>
          <p:nvPr/>
        </p:nvCxnSpPr>
        <p:spPr>
          <a:xfrm rot="10800000">
            <a:off x="2311092" y="1232031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04C7A0-BA7C-877F-650A-D6A0CF50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4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10486" y="874161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CONTENTS</a:t>
            </a:r>
            <a:endParaRPr lang="ko-KR" altLang="en-US" sz="11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9" name="직선 연결선 8"/>
          <p:cNvCxnSpPr>
            <a:cxnSpLocks/>
          </p:cNvCxnSpPr>
          <p:nvPr/>
        </p:nvCxnSpPr>
        <p:spPr>
          <a:xfrm>
            <a:off x="4640307" y="1259703"/>
            <a:ext cx="0" cy="462928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8562" y="1314324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rgbClr val="00206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79477" y="1314324"/>
            <a:ext cx="2996333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DB </a:t>
            </a: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주제 설명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기능과 요구사항 정의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ERD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 명세서 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프로젝트 후기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B20D9-09C7-9C27-37DC-CC84A9B6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02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6" y="0"/>
            <a:ext cx="10661583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" name="직선 연결선 3"/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97100" y="1479550"/>
            <a:ext cx="3898900" cy="3898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92800" y="1492277"/>
            <a:ext cx="629920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28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회원제 영화예매 데이터베이스 개요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35" y="2929996"/>
            <a:ext cx="237566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en-US" altLang="ko-KR" sz="16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5" name="그림 14" descr="텍스트, 폰트, 스크린샷, 포스터이(가) 표시된 사진&#10;&#10;자동 생성된 설명">
            <a:extLst>
              <a:ext uri="{FF2B5EF4-FFF2-40B4-BE49-F238E27FC236}">
                <a16:creationId xmlns:a16="http://schemas.microsoft.com/office/drawing/2014/main" id="{99EFE28E-37C1-7EB2-8A09-31C7BD077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045" y="878515"/>
            <a:ext cx="4931009" cy="49310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28BCE0-153A-69BC-64A7-A966A111D673}"/>
              </a:ext>
            </a:extLst>
          </p:cNvPr>
          <p:cNvSpPr txBox="1"/>
          <p:nvPr/>
        </p:nvSpPr>
        <p:spPr>
          <a:xfrm>
            <a:off x="6195385" y="2088100"/>
            <a:ext cx="574756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회원제로만 운영하는 영화 예매 프로그램에 기반이 되는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데이터베이스를 콘셉트로 여러 기능을 구현하였습니다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영화 예매라고 한다면 크게 회원관리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영화예매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결제 관리로 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가지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기본 기능으로 나누어집니다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기본 제공 기능에서 추가 기능을 확장하는 콘셉트로 목표하였습니다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회원 관리에는 회원정보와 </a:t>
            </a:r>
            <a:r>
              <a:rPr lang="ko-KR" altLang="en-US" sz="1300" dirty="0" err="1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회원별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 포인트 제도를 바탕으로 예매 시 자동 포인트 합산까지 되는 기능이 제공하게 구현했습니다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영화 예매는 영화 정보와 등록된 리뷰를 참고할 수 있도록 하고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예매 진행과 결제 진행 시 자동으로 잔여 좌석에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변동이 될 수 있도록 했습니다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결제 방식은 최신 트렌드에 맞춰 여러 가지 결제 방법을 제안하였고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결제 완료 시 발급되는 고유 번호를 기준으로 </a:t>
            </a:r>
            <a:endParaRPr lang="en-US" altLang="ko-KR" sz="1300" dirty="0">
              <a:solidFill>
                <a:schemeClr val="tx2">
                  <a:lumMod val="75000"/>
                </a:schemeClr>
              </a:solidFill>
              <a:effectLst/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r"/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티켓 출력 확인을 할 수 있는 프로시저를 구현하였습니다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추가적으로 결제 취소를 고려하여 취소 시 지급된 포인트 자동반과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예약한 좌석수에 취소된 만큼 원복 될 수 있도록 하였습니다</a:t>
            </a:r>
            <a:endParaRPr kumimoji="1" lang="en-US" altLang="ko-KR" sz="1300" dirty="0">
              <a:solidFill>
                <a:schemeClr val="tx2">
                  <a:lumMod val="7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C9B792-ED24-69EE-88F4-66A174DB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9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24280" y="-6137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903" y="785526"/>
            <a:ext cx="4932084" cy="470579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TextBox 8"/>
          <p:cNvSpPr txBox="1"/>
          <p:nvPr/>
        </p:nvSpPr>
        <p:spPr>
          <a:xfrm>
            <a:off x="7916464" y="2087364"/>
            <a:ext cx="36856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spc="-15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기능과 요구 사항 정의</a:t>
            </a:r>
            <a:endParaRPr lang="en-US" altLang="ko-KR" sz="3000" b="1" spc="-150" dirty="0">
              <a:solidFill>
                <a:schemeClr val="tx2">
                  <a:lumMod val="7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C5A91-934C-B93D-3942-8E4410D58D16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C771D-092A-D515-689B-2D9C1B9601A4}"/>
              </a:ext>
            </a:extLst>
          </p:cNvPr>
          <p:cNvSpPr txBox="1"/>
          <p:nvPr/>
        </p:nvSpPr>
        <p:spPr>
          <a:xfrm>
            <a:off x="1854218" y="644378"/>
            <a:ext cx="5455715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회원정보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회원고유번호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 , 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비밀번호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이름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전화번호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포인트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회원고유번호와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는 중복 불가이며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포인트의 기본값은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이다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영화정보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영화제목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장르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감동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주인공의 정보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번호는 중복 불가하며 같은 영화여도 다른 번호를 부여한다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리뷰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이미 관람한 관람객들의 리뷰가 있다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총 좌석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잔여 좌석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상영관은 총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개이며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개별적 총 좌석은 각각 다르지만 최대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200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석 까지만 가능하다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잔여 좌석은 결제와 취소에 따라 차감되거나 복구된다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상영일정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 일정 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상영 시간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상영관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영화 번호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상영 일정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회원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인원수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인원 수 만큼 자동으로 포인트 적용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결제 방법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티켓 가격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티켓 가격 기본값은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15,000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원 이다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2D8B0B3-8FB8-B350-56D4-02B3BB79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4</a:t>
            </a:fld>
            <a:endParaRPr lang="ko-KR" altLang="en-US"/>
          </a:p>
        </p:txBody>
      </p:sp>
      <p:cxnSp>
        <p:nvCxnSpPr>
          <p:cNvPr id="3" name="직선 연결선 3">
            <a:extLst>
              <a:ext uri="{FF2B5EF4-FFF2-40B4-BE49-F238E27FC236}">
                <a16:creationId xmlns:a16="http://schemas.microsoft.com/office/drawing/2014/main" id="{83F392B2-3445-84CD-5892-57901EC618A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6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E030FEF-467F-6585-3786-2B91BC34F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43" y="0"/>
            <a:ext cx="10688455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C72038-7953-674B-85AF-EE3E4987BEEB}"/>
              </a:ext>
            </a:extLst>
          </p:cNvPr>
          <p:cNvSpPr txBox="1"/>
          <p:nvPr/>
        </p:nvSpPr>
        <p:spPr>
          <a:xfrm>
            <a:off x="1833403" y="-105726"/>
            <a:ext cx="6121570" cy="908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>
                <a:solidFill>
                  <a:srgbClr val="002060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ERD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D9B638-491F-8764-1D12-31A5A5928458}"/>
              </a:ext>
            </a:extLst>
          </p:cNvPr>
          <p:cNvSpPr txBox="1"/>
          <p:nvPr/>
        </p:nvSpPr>
        <p:spPr>
          <a:xfrm>
            <a:off x="2942990" y="290419"/>
            <a:ext cx="612157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76566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M</a:t>
            </a:r>
            <a:r>
              <a:rPr lang="en-US" altLang="ko-KR" sz="1400" b="1" dirty="0">
                <a:solidFill>
                  <a:srgbClr val="B88699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ovie</a:t>
            </a:r>
            <a:r>
              <a:rPr lang="en-US" altLang="ko-KR" sz="1400" b="1" dirty="0">
                <a:solidFill>
                  <a:srgbClr val="76566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T</a:t>
            </a:r>
            <a:r>
              <a:rPr lang="en-US" altLang="ko-KR" sz="1400" b="1" dirty="0">
                <a:solidFill>
                  <a:srgbClr val="B88699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icket</a:t>
            </a:r>
            <a:r>
              <a:rPr lang="en-US" altLang="ko-KR" sz="1400" b="1" dirty="0">
                <a:solidFill>
                  <a:srgbClr val="76566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D</a:t>
            </a:r>
            <a:r>
              <a:rPr lang="en-US" altLang="ko-KR" sz="1400" b="1" dirty="0">
                <a:solidFill>
                  <a:srgbClr val="B88699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atabase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D482A017-1B3C-BC94-E707-38E3C007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5</a:t>
            </a:fld>
            <a:endParaRPr lang="ko-KR" altLang="en-US"/>
          </a:p>
        </p:txBody>
      </p:sp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26A96E6F-05A4-DC5F-19B3-99D652114422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45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192703"/>
              </p:ext>
            </p:extLst>
          </p:nvPr>
        </p:nvGraphicFramePr>
        <p:xfrm>
          <a:off x="1282621" y="1235146"/>
          <a:ext cx="10103768" cy="2407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22206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회원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230607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CUSTOMER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회원에 대한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1409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cos_num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 key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ID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cos_id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Unique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비밀번호</a:t>
                      </a:r>
                      <a:endParaRPr lang="ko-KR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cos_pass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전화번호</a:t>
                      </a:r>
                      <a:endParaRPr lang="ko-KR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cos_phone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varchar2(13)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5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포인트</a:t>
                      </a:r>
                      <a:endParaRPr lang="ko-KR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cos_point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Default 0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837946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6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회원이름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cos_name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varchar2(10)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42432941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 dirty="0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 dirty="0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kumimoji="1" lang="ko-KR" altLang="en-US" b="1" dirty="0" err="1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쿼리문</a:t>
            </a:r>
            <a:endParaRPr kumimoji="1" lang="en-US" altLang="x-none" b="1" dirty="0">
              <a:solidFill>
                <a:schemeClr val="bg1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CUSTOMER (     </a:t>
            </a:r>
            <a:endParaRPr kumimoji="1" lang="ko-KR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</a:t>
            </a:r>
            <a:endParaRPr kumimoji="1" lang="ko-KR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cos_id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varchar2(15)  NOT NULL</a:t>
            </a:r>
            <a:endParaRPr kumimoji="1" lang="ko-KR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cos_name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varchar2(10) NOT NULL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cos_pass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varchar2(15) NOT NULL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cos_phone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varchar2(13)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cos_point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DEFAULT 0  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 회원 포인트</a:t>
            </a:r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기본값은 </a:t>
            </a:r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으로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함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PRIMARY KEY (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 	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회원번호를 기본키로 설정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UNIQUE (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cos_id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아이디가 중복되지 않도록 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unique 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제약조건 설정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</a:t>
            </a:r>
          </a:p>
          <a:p>
            <a:endParaRPr kumimoji="1" lang="x-none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4D99860D-FDC6-923C-E287-526D1887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6</a:t>
            </a:fld>
            <a:endParaRPr lang="ko-KR" altLang="en-US"/>
          </a:p>
        </p:txBody>
      </p:sp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82017E78-0687-98DB-588E-D38E7E6EB16E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438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55575"/>
              </p:ext>
            </p:extLst>
          </p:nvPr>
        </p:nvGraphicFramePr>
        <p:xfrm>
          <a:off x="1282621" y="1234664"/>
          <a:ext cx="10103768" cy="2423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22206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r>
                        <a:rPr lang="en-US" altLang="ko-KR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`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영화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230607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MOVIE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영화에 대한 상세한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1409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key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영화제목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mo_title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varchar2(50)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주인공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mo_actor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varchar2(10)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6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영화장르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mo_gen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4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Check</a:t>
                      </a:r>
                      <a:r>
                        <a:rPr lang="x-none" altLang="en-US" sz="14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endParaRPr lang="x-none" altLang="en-US" sz="14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5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감독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mo_super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837946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MOVIE (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영화정보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PRIMARY KEY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mo_title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varchar2(50) NOT NULL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제목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mo_actor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varchar2(20) NOT NULL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배우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mo_gen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varchar2(15) CHECK   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장르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	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mo_gen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IN('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로맨스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SF',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액션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스릴러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’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드라마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코미디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판타지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애니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')) 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장르의 입력 값 제한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mo_super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varchar2(20) NOT NULL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감독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</a:t>
            </a:r>
            <a:endParaRPr kumimoji="1" lang="ko-KR" altLang="en-US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F4720-3790-23E8-9DE0-65F765941299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E9AC0B-1101-9C7F-AADE-1249672E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7</a:t>
            </a:fld>
            <a:endParaRPr lang="ko-KR" altLang="en-US"/>
          </a:p>
        </p:txBody>
      </p:sp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E86AFF1E-77FF-BA6A-344B-5165C98D51FB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73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83764"/>
              </p:ext>
            </p:extLst>
          </p:nvPr>
        </p:nvGraphicFramePr>
        <p:xfrm>
          <a:off x="1250032" y="1277305"/>
          <a:ext cx="10103768" cy="23673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437053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상영일정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291369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SHOW_DAY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각 영화에 상영 일정 및 시간</a:t>
                      </a:r>
                      <a:r>
                        <a:rPr lang="en-US" altLang="ko-KR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, </a:t>
                      </a: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상영관에 대한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29136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27315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일정번호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 key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27315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상영시간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Sh_time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date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u="none" strike="noStrike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40063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상영관번호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Sh_moiven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1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r>
                        <a:rPr lang="en-US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Unique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40063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영화번호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1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r>
                        <a:rPr lang="en-US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 </a:t>
                      </a:r>
                      <a:r>
                        <a:rPr lang="en-US" alt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moive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x-none" sz="1200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SHOW_DAY (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상영정보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 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sh_time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DATE 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 시간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NOT NULL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show_pk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PRIMARY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 번호를 기본키로 지정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MOVIE(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번호를 영화테이블의 영화 번호를 참조하는 외래키로 지정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UNIQUE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번호는 중복되어선 안됨 됨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</a:t>
            </a:r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2C4EED-E810-B9DB-3A1B-725BA653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8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024F5E4D-4D9A-0DA6-71FA-57ACC0703CF1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47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94388"/>
              </p:ext>
            </p:extLst>
          </p:nvPr>
        </p:nvGraphicFramePr>
        <p:xfrm>
          <a:off x="1282621" y="1235146"/>
          <a:ext cx="10103768" cy="24803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1385705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013110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52082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</a:t>
                      </a: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 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영화관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605573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MOVIE_ROUNGE</a:t>
                      </a:r>
                      <a:endParaRPr lang="en-US" sz="11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회원에 대한 정보를 기술하는 테이블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31858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765661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000" b="1" i="0" dirty="0">
                        <a:solidFill>
                          <a:srgbClr val="765661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298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상영관번호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 </a:t>
                      </a: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show_day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(</a:t>
                      </a: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sh_movien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298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총좌석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ro_seet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Check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(</a:t>
                      </a:r>
                      <a:r>
                        <a:rPr lang="en-US" sz="1100" b="1" i="0" baseline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ro_seet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&lt;=200)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43805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잔여좌석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re_seet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05901" y="3974592"/>
            <a:ext cx="127402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MOVIE_ROUNGE (  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영화관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   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ro_seet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 CHECK (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ro_seet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&lt;= 200) 			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총좌석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좌석은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200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개가 넘지 않도록 제한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re_seet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	NUMBER NOT NULL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잔여 좌석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rounge_fk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SHOW_DAY(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	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부모테이블인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SHOW_DAY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의 </a:t>
            </a:r>
            <a:r>
              <a:rPr kumimoji="1" lang="en-US" altLang="ko-KR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과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자식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MOVIE_ROUNGE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외래키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지정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1BAA3D-54D7-E722-4B88-0B1370B1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9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D7FF676B-5193-7EF0-F692-4CEFCDF14D2D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30072"/>
              </p:ext>
            </p:extLst>
          </p:nvPr>
        </p:nvGraphicFramePr>
        <p:xfrm>
          <a:off x="1282620" y="1259421"/>
          <a:ext cx="10103768" cy="24807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49614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예매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330764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ticketting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예매할 때 </a:t>
                      </a: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필때</a:t>
                      </a: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 필요한 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예매번호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Ti_num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 key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일정번호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Sh_num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</a:t>
                      </a:r>
                      <a:r>
                        <a:rPr lang="en-US" sz="10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</a:t>
                      </a:r>
                      <a:r>
                        <a:rPr lang="en-US" sz="1000" b="1" i="0" baseline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show_day</a:t>
                      </a:r>
                      <a:r>
                        <a:rPr lang="en-US" sz="10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회원번호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Cos_num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</a:t>
                      </a:r>
                      <a:r>
                        <a:rPr lang="en-US" altLang="en-US" sz="10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customer </a:t>
                      </a:r>
                      <a:endParaRPr lang="x-none" alt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총인원</a:t>
                      </a:r>
                      <a:endParaRPr lang="ko-KR" alt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Ti_nop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varchar2(13)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282620" y="3902479"/>
            <a:ext cx="12740216" cy="2469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kumimoji="1" lang="ko-KR" altLang="en-US" b="1" dirty="0" err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TICKETTING (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예매정보 </a:t>
            </a:r>
          </a:p>
          <a:p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 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예매번호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일정번호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회원번호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ti_nop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NOT NULL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인원수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CONSTRAINT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ticket_pk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PRIMARY KEY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예매번호를 기본키로 지정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, FOREIGN KEY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SHOW_DAY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</a:t>
            </a: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ON DELETE SET NULL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일정번호 </a:t>
            </a:r>
            <a:r>
              <a:rPr kumimoji="1" lang="ko-KR" altLang="en-US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외래외래키로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지정하며 부모 테이블인 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, FOREIGN KEY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CUSTOMER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		SHOW_DAY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정보 삭제 시 </a:t>
            </a:r>
            <a:r>
              <a:rPr kumimoji="1" lang="en-US" altLang="ko-KR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NULL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로 보존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ON DELETE SET NULL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회원번호 </a:t>
            </a:r>
            <a:r>
              <a:rPr kumimoji="1" lang="ko-KR" altLang="en-US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외래키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지정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 테이블인 </a:t>
            </a:r>
            <a:r>
              <a:rPr kumimoji="1" lang="en-US" altLang="ko-KR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CUSTOMER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에 정보 삭제되더라도 </a:t>
            </a:r>
            <a:endParaRPr kumimoji="1" lang="en-US" altLang="ko-KR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					NULL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값으로 처리되며 정보유지 옵션지정 </a:t>
            </a:r>
            <a:endParaRPr kumimoji="1" lang="x-none" altLang="en-US" sz="105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F8737-21D2-D150-5778-E3C02956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10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5CFC0FF4-08EE-18EB-2FA1-BA2976B1541B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251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293261"/>
              </p:ext>
            </p:extLst>
          </p:nvPr>
        </p:nvGraphicFramePr>
        <p:xfrm>
          <a:off x="1282621" y="1235146"/>
          <a:ext cx="10103768" cy="2367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526082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결제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350721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PAY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결제에 대한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35072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32880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예매번호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 </a:t>
                      </a:r>
                      <a:r>
                        <a:rPr lang="en-US" altLang="ko-KR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ticketting</a:t>
                      </a:r>
                      <a:r>
                        <a:rPr lang="en-US" altLang="ko-KR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, unique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32880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결제방법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Py_type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varchar2(7)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Check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48224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기본금액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Py_tot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1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r>
                        <a:rPr lang="en-US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Default 15000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05901" y="3928429"/>
            <a:ext cx="12740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ko-KR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PAY (  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결제정보		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예약번호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py_type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varchar2(20)	CHECK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결제방법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 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py_type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IN('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카드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삼성페이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카카오페이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애플페이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네이버페이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상품권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'))  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결제방법 입력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값 제한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py_tot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DEFAULT 15000				1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인당 기본금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기본값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15000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으로 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	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pay_fk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	REFERENCES TICKETTING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TICKETTING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예매번호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	ON DELETE CASCADE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삭제 시 자식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PAY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테이블에도 정보가 삭제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될 수 있도록 옵션 추가</a:t>
            </a:r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D1EAC4-CAD3-160B-8182-7A6A117E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11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FF914BB5-8D3D-31D2-CD3C-B7BD52AB0F8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99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44707"/>
              </p:ext>
            </p:extLst>
          </p:nvPr>
        </p:nvGraphicFramePr>
        <p:xfrm>
          <a:off x="1282621" y="1302000"/>
          <a:ext cx="10103768" cy="22762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577471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리뷰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438391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Review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이미 영화를 본 사람들이 볼 예정인 사람들에게 후기를 보여주기 위한 재료 테이블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43839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41099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movie  / On Delete Cascade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41099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리뷰내용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re_text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kumimoji="1" lang="ko-KR" altLang="en-US" b="1" dirty="0" err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REVIEW (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리뷰정보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re_text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varchar2(100)		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re_fk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MOVIE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ON DELETE CASCADE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MOVIE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영화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넘버가 삭제 시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=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영화 삭제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자녀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Review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자료도 삭제될 수 있도록 옵션지정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4D8CE-F620-FCFD-4F64-FFB0F58A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12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ED0EE6AA-9BC1-58D1-4B36-7469F38EEC0D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3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128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포인트가 높은 순서대로 </a:t>
            </a: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4~6</a:t>
            </a:r>
            <a:r>
              <a:rPr lang="ko-KR" alt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위까지 회원의 정보를 </a:t>
            </a:r>
            <a:r>
              <a:rPr lang="ko-KR" alt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출력하시오</a:t>
            </a: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13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4862"/>
              </p:ext>
            </p:extLst>
          </p:nvPr>
        </p:nvGraphicFramePr>
        <p:xfrm>
          <a:off x="1118132" y="2363484"/>
          <a:ext cx="4358108" cy="2926080"/>
        </p:xfrm>
        <a:graphic>
          <a:graphicData uri="http://schemas.openxmlformats.org/drawingml/2006/table">
            <a:tbl>
              <a:tblPr/>
              <a:tblGrid>
                <a:gridCol w="4358108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SELECT *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FROM(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select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rownum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rn,c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.*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from(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select * from customer c 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order by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cos_point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desc)c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)c1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WHERE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rn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between 4 and 6;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A3C4CB9C-3939-FB7B-5C93-1C5B094715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05" r="660"/>
          <a:stretch/>
        </p:blipFill>
        <p:spPr>
          <a:xfrm>
            <a:off x="6376497" y="2363484"/>
            <a:ext cx="5053462" cy="2926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873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정보를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단 비밀번호는 </a:t>
            </a:r>
            <a:r>
              <a:rPr lang="en-US" altLang="ko-KR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*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표로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14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60048"/>
              </p:ext>
            </p:extLst>
          </p:nvPr>
        </p:nvGraphicFramePr>
        <p:xfrm>
          <a:off x="1118132" y="2363484"/>
          <a:ext cx="4358108" cy="2926020"/>
        </p:xfrm>
        <a:graphic>
          <a:graphicData uri="http://schemas.openxmlformats.org/drawingml/2006/table">
            <a:tbl>
              <a:tblPr/>
              <a:tblGrid>
                <a:gridCol w="4358108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SELECT </a:t>
                      </a:r>
                    </a:p>
                    <a:p>
                      <a:pPr rtl="0" fontAlgn="ctr"/>
                      <a:endParaRPr lang="en-US" altLang="ko-Kore-KR" sz="2400" b="0" i="0" dirty="0">
                        <a:effectLst/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cos_name,cos_id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,</a:t>
                      </a: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rpad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(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substr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(cos_pass,0,1),</a:t>
                      </a: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length(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cos_pass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),'*’)</a:t>
                      </a:r>
                    </a:p>
                    <a:p>
                      <a:pPr rtl="0" fontAlgn="ctr"/>
                      <a:endParaRPr lang="en-US" altLang="ko-Kore-KR" sz="2400" b="0" i="0" dirty="0">
                        <a:effectLst/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FROM customer;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497383-EA9D-19B4-9D80-B6CCD630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0" y="2363484"/>
            <a:ext cx="4639208" cy="293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85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872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회원중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포인트를 가장 많이 소유하고 있는 회원의 정보를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endParaRPr lang="en-US" altLang="ko-KR" sz="1800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15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813867"/>
              </p:ext>
            </p:extLst>
          </p:nvPr>
        </p:nvGraphicFramePr>
        <p:xfrm>
          <a:off x="1118132" y="2363484"/>
          <a:ext cx="4358108" cy="2926020"/>
        </p:xfrm>
        <a:graphic>
          <a:graphicData uri="http://schemas.openxmlformats.org/drawingml/2006/table">
            <a:tbl>
              <a:tblPr/>
              <a:tblGrid>
                <a:gridCol w="4358108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c.*</a:t>
                      </a: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FROM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customer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c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endParaRPr lang="ko-KR" altLang="en-US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WHERE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cos_point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= 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(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max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(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cos_point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)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  FROM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 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customer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);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72F6F4-35F9-FE7A-2927-0C772746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0" y="3285137"/>
            <a:ext cx="5242332" cy="11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5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잔여 좌석이 제일 적은 상영관의 정보를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16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995878"/>
              </p:ext>
            </p:extLst>
          </p:nvPr>
        </p:nvGraphicFramePr>
        <p:xfrm>
          <a:off x="1062476" y="2363484"/>
          <a:ext cx="4413764" cy="2926020"/>
        </p:xfrm>
        <a:graphic>
          <a:graphicData uri="http://schemas.openxmlformats.org/drawingml/2006/table">
            <a:tbl>
              <a:tblPr/>
              <a:tblGrid>
                <a:gridCol w="4413764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*</a:t>
                      </a:r>
                    </a:p>
                    <a:p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FROM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(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* 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        FROM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movie_rounge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        ORDER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BY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re_seet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) </a:t>
                      </a: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WHERE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rownum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=1;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808A92-683C-EB73-07A9-9693DEB6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619" y="3344699"/>
            <a:ext cx="5344926" cy="96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9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7" y="-10160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화살표: 갈매기형 수장 6"/>
          <p:cNvSpPr/>
          <p:nvPr/>
        </p:nvSpPr>
        <p:spPr>
          <a:xfrm>
            <a:off x="3173090" y="2974884"/>
            <a:ext cx="2320636" cy="699576"/>
          </a:xfrm>
          <a:prstGeom prst="chevron">
            <a:avLst/>
          </a:prstGeom>
          <a:solidFill>
            <a:srgbClr val="4990B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/>
          <p:cNvSpPr/>
          <p:nvPr/>
        </p:nvSpPr>
        <p:spPr>
          <a:xfrm>
            <a:off x="5679769" y="2974884"/>
            <a:ext cx="2320636" cy="699576"/>
          </a:xfrm>
          <a:prstGeom prst="chevron">
            <a:avLst/>
          </a:prstGeom>
          <a:solidFill>
            <a:srgbClr val="4990B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/>
          <p:cNvSpPr/>
          <p:nvPr/>
        </p:nvSpPr>
        <p:spPr>
          <a:xfrm>
            <a:off x="8186447" y="2974884"/>
            <a:ext cx="2320636" cy="69957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0790" y="3086845"/>
            <a:ext cx="1866271" cy="475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</a:t>
            </a:r>
            <a:endParaRPr lang="ko-KR" altLang="en-US" sz="2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5183" y="3120869"/>
            <a:ext cx="1473598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포인트 적립</a:t>
            </a:r>
            <a:endParaRPr lang="ko-KR" altLang="en-US" sz="28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97228" y="3086845"/>
            <a:ext cx="1099077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7" y="319120"/>
            <a:ext cx="10661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1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353902"/>
            <a:ext cx="10661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1. </a:t>
            </a:r>
            <a:r>
              <a:rPr kumimoji="1" lang="x-none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예매</a:t>
            </a:r>
            <a:r>
              <a:rPr kumimoji="1" lang="ko-KR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이벤트 발생 시 구매 회원의 포인트 증가 및 상영관 잔여 좌석 차감 자동 진행 및 기존 데이터 반영</a:t>
            </a:r>
            <a:endParaRPr kumimoji="1" lang="x-none" altLang="en-US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520657D-00FE-F788-79D5-15117DD2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3102996" y="3828957"/>
            <a:ext cx="7371844" cy="2739211"/>
          </a:xfrm>
          <a:prstGeom prst="rect">
            <a:avLst/>
          </a:prstGeom>
          <a:ln>
            <a:solidFill>
              <a:srgbClr val="4990B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>
                <a:ln w="0"/>
                <a:solidFill>
                  <a:srgbClr val="4990B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stA="45000" endPos="5100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트리거의 필요 이유</a:t>
            </a:r>
            <a:endParaRPr kumimoji="1" lang="en-US" altLang="ko-KR" sz="2400" dirty="0">
              <a:ln w="0"/>
              <a:solidFill>
                <a:srgbClr val="4990B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stA="45000" endPos="5100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회원이 예매를 하면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포인트 컬럼의 값이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되야 하고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상영관의 잔여 좌석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컬럼값이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개별 처리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해야한다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테이블에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insert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될때마때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마다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 수동적으로 해주어야 하므로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트리거가 없다면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수작업을 해야 하는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매우 불편한 부분이 발생 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6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이를 개선 하기 위해 자동으로 처리 되는 </a:t>
            </a:r>
            <a:r>
              <a:rPr kumimoji="1" lang="ko-KR" altLang="en-US" sz="1600" u="sng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트리거를 사용 한다</a:t>
            </a:r>
            <a:endParaRPr kumimoji="1" lang="en-US" altLang="ko-KR" sz="1600" u="sng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1" name="화살표: 갈매기형 수장 6"/>
          <p:cNvSpPr/>
          <p:nvPr/>
        </p:nvSpPr>
        <p:spPr>
          <a:xfrm>
            <a:off x="3140039" y="1972349"/>
            <a:ext cx="2320636" cy="699576"/>
          </a:xfrm>
          <a:prstGeom prst="chevron">
            <a:avLst/>
          </a:prstGeom>
          <a:solidFill>
            <a:srgbClr val="4990B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화살표: 갈매기형 수장 7"/>
          <p:cNvSpPr/>
          <p:nvPr/>
        </p:nvSpPr>
        <p:spPr>
          <a:xfrm>
            <a:off x="5636558" y="1937370"/>
            <a:ext cx="2320636" cy="769534"/>
          </a:xfrm>
          <a:prstGeom prst="chevron">
            <a:avLst/>
          </a:prstGeom>
          <a:solidFill>
            <a:srgbClr val="4990B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화살표: 갈매기형 수장 8"/>
          <p:cNvSpPr/>
          <p:nvPr/>
        </p:nvSpPr>
        <p:spPr>
          <a:xfrm>
            <a:off x="8153396" y="1962189"/>
            <a:ext cx="2320636" cy="69957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85871" y="2084310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</a:t>
            </a:r>
            <a:endParaRPr lang="ko-KR" altLang="en-US" sz="2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94108" y="2118334"/>
            <a:ext cx="1225860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좌석 차감</a:t>
            </a:r>
            <a:endParaRPr lang="ko-KR" altLang="en-US" sz="28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64177" y="2084310"/>
            <a:ext cx="1099077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0580E-E2BB-D42A-3337-6ED401B5F2A0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05EF278-BB55-CBC9-08BA-246E40A2A249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13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21" grpId="0" animBg="1"/>
      <p:bldP spid="22" grpId="0" animBg="1"/>
      <p:bldP spid="23" grpId="0" animBg="1"/>
      <p:bldP spid="24" grpId="0"/>
      <p:bldP spid="25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20256" y="-2991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화살표: 갈매기형 수장 8"/>
          <p:cNvSpPr/>
          <p:nvPr/>
        </p:nvSpPr>
        <p:spPr>
          <a:xfrm>
            <a:off x="2994856" y="1745676"/>
            <a:ext cx="2562384" cy="54722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21144" y="1769682"/>
            <a:ext cx="123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7" y="319120"/>
            <a:ext cx="10661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1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228746"/>
            <a:ext cx="10661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1. </a:t>
            </a:r>
            <a:r>
              <a:rPr kumimoji="1" lang="x-none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예매</a:t>
            </a:r>
            <a:r>
              <a:rPr kumimoji="1" lang="ko-KR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이벤트 발생 시 구매 회원의 포인트 증가 및 상영관 잔여 좌석 차감 자동 진행 및 기존 데이터 반영</a:t>
            </a:r>
            <a:endParaRPr kumimoji="1" lang="x-none" altLang="en-US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520657D-00FE-F788-79D5-15117DD2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276696" y="2402347"/>
            <a:ext cx="9489195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CREATE OR REPLACE TRIGGER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upd_cos_point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AFTER 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INSERT ON TICKETTING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FOR EACH ROW</a:t>
            </a:r>
          </a:p>
          <a:p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DECLARE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  number;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number;</a:t>
            </a:r>
          </a:p>
          <a:p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BEGIN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NEW.ti_nop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NEW.sh_num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 UPDATE CUSTOMER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+ 100 *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= :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NEW.cos_num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;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UPDATE MOVIE_ROUNGE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-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=</a:t>
            </a:r>
          </a:p>
          <a:p>
            <a:r>
              <a:rPr lang="ko-KR" altLang="en-US" sz="1100" b="1" dirty="0">
                <a:latin typeface="NanumMyeongjo" pitchFamily="2" charset="-127"/>
                <a:ea typeface="NanumMyeongjo" pitchFamily="2" charset="-127"/>
              </a:rPr>
              <a:t>       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(select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sh_movien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from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show_day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where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sh_num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) ;</a:t>
            </a:r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END;</a:t>
            </a:r>
          </a:p>
          <a:p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766560" y="1560498"/>
            <a:ext cx="4149197" cy="638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137438" endPos="4568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upd_cos_point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effectLst>
                <a:reflection blurRad="137438" endPos="4568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예매 테이블에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가 실행 된 후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변수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선언부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선언을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데이터 타입이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number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와 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이라는 변수를 선언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인원수 값을 할당한다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는 인원수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일정번호를 할당한다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은 일정번호이다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 컬럼 값은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=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포인트 적립 기능이다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100 *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인원수만큼 더해서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변경하고 저장 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 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 번호가 새로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회원번호와 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 한다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상영관의 잔여좌석 값을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=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 차감 기능을 한다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잔여좌석을 인원수만큼 빼서 변경하고 저장 하고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새로 들어온 상영관 번호와 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 한다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altLang="ko-Kore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marL="285750" indent="-285750">
              <a:buFont typeface="Wingdings" pitchFamily="2" charset="2"/>
              <a:buChar char="n"/>
            </a:pP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altLang="ko-Kore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altLang="ko-Kore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4154181-982D-F3A9-9B28-928A5B7A7059}"/>
              </a:ext>
            </a:extLst>
          </p:cNvPr>
          <p:cNvSpPr/>
          <p:nvPr/>
        </p:nvSpPr>
        <p:spPr>
          <a:xfrm>
            <a:off x="6573520" y="1683302"/>
            <a:ext cx="4499168" cy="4607654"/>
          </a:xfrm>
          <a:prstGeom prst="roundRect">
            <a:avLst/>
          </a:prstGeom>
          <a:noFill/>
          <a:ln w="25400" cap="flat" cmpd="sng" algn="ctr">
            <a:solidFill>
              <a:srgbClr val="4990B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C02B5-A9A8-BD21-DDBE-646758A9784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2B1FDF64-2497-8E73-36BE-708D98560B2A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2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6" y="16256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화살표: 갈매기형 수장 6"/>
          <p:cNvSpPr/>
          <p:nvPr/>
        </p:nvSpPr>
        <p:spPr>
          <a:xfrm>
            <a:off x="2794000" y="2372391"/>
            <a:ext cx="2685515" cy="1081276"/>
          </a:xfrm>
          <a:prstGeom prst="chevron">
            <a:avLst/>
          </a:prstGeom>
          <a:solidFill>
            <a:srgbClr val="4990B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/>
          <p:cNvSpPr/>
          <p:nvPr/>
        </p:nvSpPr>
        <p:spPr>
          <a:xfrm>
            <a:off x="5300679" y="2372391"/>
            <a:ext cx="2685515" cy="1081276"/>
          </a:xfrm>
          <a:prstGeom prst="chevron">
            <a:avLst/>
          </a:prstGeom>
          <a:solidFill>
            <a:srgbClr val="4990B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/>
          <p:cNvSpPr/>
          <p:nvPr/>
        </p:nvSpPr>
        <p:spPr>
          <a:xfrm>
            <a:off x="7807357" y="2372391"/>
            <a:ext cx="2685515" cy="108127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4894" y="2630379"/>
            <a:ext cx="1674176" cy="575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</a:t>
            </a:r>
            <a:r>
              <a:rPr lang="en-US" altLang="ko-KR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endParaRPr lang="ko-KR" altLang="en-US" sz="28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3088" y="2692312"/>
            <a:ext cx="1620958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포인트 복구</a:t>
            </a:r>
            <a:endParaRPr lang="ko-KR" altLang="en-US" sz="28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1951" y="2630379"/>
            <a:ext cx="1208984" cy="575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8" y="319120"/>
            <a:ext cx="10661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2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410145"/>
            <a:ext cx="10661583" cy="1049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2.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시 회원의 포인트와 상영관의 잔여좌석 복구</a:t>
            </a:r>
            <a:endParaRPr kumimoji="1" lang="en-US" altLang="ko-KR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endParaRPr kumimoji="1" lang="en-US" altLang="ko-KR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en-US" altLang="ko-KR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KEY</a:t>
            </a:r>
            <a:r>
              <a:rPr kumimoji="1" lang="ko-KR" altLang="en-US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POINT</a:t>
            </a:r>
            <a:r>
              <a:rPr kumimoji="1" lang="ko-KR" altLang="en-US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24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51226-C76D-E042-423B-1411DFE6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68610-2628-9F58-9A0C-5E7174BE183B}"/>
              </a:ext>
            </a:extLst>
          </p:cNvPr>
          <p:cNvSpPr txBox="1"/>
          <p:nvPr/>
        </p:nvSpPr>
        <p:spPr>
          <a:xfrm>
            <a:off x="2981076" y="3717197"/>
            <a:ext cx="7371844" cy="2739211"/>
          </a:xfrm>
          <a:prstGeom prst="rect">
            <a:avLst/>
          </a:prstGeom>
          <a:ln>
            <a:solidFill>
              <a:srgbClr val="4990B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>
                <a:ln w="0"/>
                <a:solidFill>
                  <a:srgbClr val="4990B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stA="45000" endPos="5100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트리거의 필요 이유</a:t>
            </a:r>
            <a:endParaRPr kumimoji="1" lang="en-US" altLang="ko-KR" sz="2400" dirty="0">
              <a:ln w="0"/>
              <a:solidFill>
                <a:srgbClr val="4990B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stA="45000" endPos="5100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회원이 예매를 하면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포인트 컬럼의 값이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되야 하고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상영관의 잔여 좌석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컬럼값이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개별 처리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해야한다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테이블에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DELETE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될때마때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마다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 수동적으로 해주어야 하므로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트리거가 없다면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수작업을 해야 하는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매우 불편한 부분이 발생 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6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이를 개선 하기 위해 자동으로 처리 되는 </a:t>
            </a:r>
            <a:r>
              <a:rPr kumimoji="1" lang="ko-KR" altLang="en-US" sz="1600" u="sng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트리거를 사용 한다</a:t>
            </a:r>
            <a:endParaRPr kumimoji="1" lang="en-US" altLang="ko-KR" sz="1600" u="sng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F0533-0098-0644-C4A6-3726D044C2B0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3" name="직선 연결선 3">
            <a:extLst>
              <a:ext uri="{FF2B5EF4-FFF2-40B4-BE49-F238E27FC236}">
                <a16:creationId xmlns:a16="http://schemas.microsoft.com/office/drawing/2014/main" id="{5B5819D2-49DC-636B-6545-6417E566D5C7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1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7" y="0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7" y="319120"/>
            <a:ext cx="10661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2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520657D-00FE-F788-79D5-15117DD2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100136" y="2156518"/>
            <a:ext cx="9533675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NanumMyeongjo" pitchFamily="2" charset="-127"/>
                <a:ea typeface="NanumMyeongjo" pitchFamily="2" charset="-127"/>
              </a:rPr>
              <a:t>CREATE OR REPLACE TRIGGER </a:t>
            </a:r>
            <a:r>
              <a:rPr lang="en-US" sz="1600" b="1" dirty="0" err="1">
                <a:latin typeface="NanumMyeongjo" pitchFamily="2" charset="-127"/>
                <a:ea typeface="NanumMyeongjo" pitchFamily="2" charset="-127"/>
              </a:rPr>
              <a:t>upt_reset</a:t>
            </a:r>
            <a:endParaRPr lang="en-US" sz="1600" b="1" dirty="0">
              <a:latin typeface="NanumMyeongjo" pitchFamily="2" charset="-127"/>
              <a:ea typeface="NanumMyeongjo" pitchFamily="2" charset="-127"/>
            </a:endParaRP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AFTER DELETE ON TICKETTING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FOR EACH ROW</a:t>
            </a: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DECLARE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  number;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number;</a:t>
            </a: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BEGIN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NEW.ti_nop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NEW.sh_num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 UPDATE CUSTOMER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- 100 *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= :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OLD.cos_num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;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UPDATE MOVIE_ROUNGE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+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=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   (select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sh_movien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from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show_day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where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sh_num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) ;</a:t>
            </a:r>
          </a:p>
          <a:p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END;</a:t>
            </a:r>
          </a:p>
          <a:p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endParaRPr lang="ko-KR" altLang="en-US" sz="1200" b="1" dirty="0"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908801" y="1330960"/>
            <a:ext cx="4267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b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en-US" altLang="ko-Kore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137438" endPos="4568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upd_</a:t>
            </a:r>
            <a:r>
              <a:rPr lang="en-US" altLang="ko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137438" endPos="4568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reset</a:t>
            </a:r>
            <a:endParaRPr lang="en-US" altLang="ko-Kore-KR" b="1" dirty="0">
              <a:solidFill>
                <a:schemeClr val="tx1">
                  <a:lumMod val="75000"/>
                  <a:lumOff val="25000"/>
                </a:schemeClr>
              </a:solidFill>
              <a:effectLst>
                <a:reflection blurRad="137438" endPos="4568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pPr algn="ctr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예매 테이블에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이벤트가 발생 되었을 때 실행된다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변수 선언부에 기재된 데이터 타입이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number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 </a:t>
            </a:r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와 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이라는 변수를 선언 해 놓는다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DELETE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인원수 값을 할당한다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는 인원수이다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DELETE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일정번호를 할당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는 일정번호이다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 컬럼 값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하여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포인트 복구를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100 *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인원수만큼 뺄셈 연산 하여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변경하고 변경된 값을 회원 정보 포인트에 저장한다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 번호가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DELETE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회원번호와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 하여 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상영관의 잔여좌석 값을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실행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 복구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잔여좌석을 예매한 인원수만큼 더해서 변경하고 저장 한다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상영관 번호와 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144742"/>
            <a:ext cx="10661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2.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시 회원의 포인트와 상영관의 잔여좌석 복구 </a:t>
            </a:r>
            <a:endParaRPr kumimoji="1" lang="x-none" altLang="en-US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916E94E-5069-270E-BB1C-58AF05D51E92}"/>
              </a:ext>
            </a:extLst>
          </p:cNvPr>
          <p:cNvSpPr/>
          <p:nvPr/>
        </p:nvSpPr>
        <p:spPr>
          <a:xfrm>
            <a:off x="6776720" y="1683302"/>
            <a:ext cx="4499168" cy="4607654"/>
          </a:xfrm>
          <a:prstGeom prst="roundRect">
            <a:avLst/>
          </a:prstGeom>
          <a:noFill/>
          <a:ln w="25400" cap="flat" cmpd="sng" algn="ctr">
            <a:solidFill>
              <a:srgbClr val="4990B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" name="화살표: 갈매기형 수장 8">
            <a:extLst>
              <a:ext uri="{FF2B5EF4-FFF2-40B4-BE49-F238E27FC236}">
                <a16:creationId xmlns:a16="http://schemas.microsoft.com/office/drawing/2014/main" id="{DFED3DA7-F116-C20D-4C51-2ACB9E805F68}"/>
              </a:ext>
            </a:extLst>
          </p:cNvPr>
          <p:cNvSpPr/>
          <p:nvPr/>
        </p:nvSpPr>
        <p:spPr>
          <a:xfrm>
            <a:off x="2994856" y="1593276"/>
            <a:ext cx="2562384" cy="54722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1AC57-7147-25E3-4F1F-1FC7A46858F7}"/>
              </a:ext>
            </a:extLst>
          </p:cNvPr>
          <p:cNvSpPr txBox="1"/>
          <p:nvPr/>
        </p:nvSpPr>
        <p:spPr>
          <a:xfrm>
            <a:off x="3621144" y="1617282"/>
            <a:ext cx="123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44399-D92C-3725-5ABD-1448C761F2F2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8" name="직선 연결선 3">
            <a:extLst>
              <a:ext uri="{FF2B5EF4-FFF2-40B4-BE49-F238E27FC236}">
                <a16:creationId xmlns:a16="http://schemas.microsoft.com/office/drawing/2014/main" id="{8386C860-215E-11BE-61D3-9338E4E23227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0356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전 포인트 값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123440" y="1503600"/>
            <a:ext cx="32613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629CCD-42B2-44CD-26D6-06F0869FF8EE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0356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이벤트 발생 후 포인트 값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6768000" y="1656000"/>
            <a:ext cx="3852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26" name="Picture 2" descr="C:\Users\human-18\Desktop\자료\예악전 포인트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2718" y="1611948"/>
            <a:ext cx="4719002" cy="3493452"/>
          </a:xfrm>
          <a:prstGeom prst="rect">
            <a:avLst/>
          </a:prstGeom>
          <a:noFill/>
        </p:spPr>
      </p:pic>
      <p:pic>
        <p:nvPicPr>
          <p:cNvPr id="1028" name="Picture 4" descr="C:\Users\human-18\Desktop\자료\예약후 포인트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8258" y="1598295"/>
            <a:ext cx="4670742" cy="3507105"/>
          </a:xfrm>
          <a:prstGeom prst="rect">
            <a:avLst/>
          </a:prstGeom>
          <a:noFill/>
        </p:spPr>
      </p:pic>
      <p:sp>
        <p:nvSpPr>
          <p:cNvPr id="19" name="직사각형 18"/>
          <p:cNvSpPr/>
          <p:nvPr/>
        </p:nvSpPr>
        <p:spPr>
          <a:xfrm>
            <a:off x="289560" y="5205274"/>
            <a:ext cx="11760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INTO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VALUES (ti_no.nextval,1,1,5);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(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예매번호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1</a:t>
            </a:r>
            <a:r>
              <a:rPr lang="ko-KR" altLang="en-US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번상영관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,1</a:t>
            </a:r>
            <a:r>
              <a:rPr lang="ko-KR" altLang="en-US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번회원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회원번호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c.cos_name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회원이름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c.cos_point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포인트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t.ti_nop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</a:p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CUSTOMER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R" sz="1400" b="1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WHERE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t.cos_num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endParaRPr lang="en-US" altLang="ko-KR" sz="1400" b="1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 정보 조회 조인으로 인원수까지 구현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429622" y="1845387"/>
            <a:ext cx="4726236" cy="237413"/>
          </a:xfrm>
          <a:prstGeom prst="rect">
            <a:avLst/>
          </a:prstGeom>
          <a:solidFill>
            <a:srgbClr val="FF0000">
              <a:alpha val="10108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9D8365-ABCA-6C7D-FB82-D0708B5DE2DF}"/>
              </a:ext>
            </a:extLst>
          </p:cNvPr>
          <p:cNvSpPr/>
          <p:nvPr/>
        </p:nvSpPr>
        <p:spPr>
          <a:xfrm>
            <a:off x="6387702" y="1845387"/>
            <a:ext cx="4670742" cy="237413"/>
          </a:xfrm>
          <a:prstGeom prst="rect">
            <a:avLst/>
          </a:prstGeom>
          <a:solidFill>
            <a:srgbClr val="FF0000">
              <a:alpha val="10108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5FFE8-CBD9-C28F-C7A6-E496BE232A02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32881F34-1FDA-A03A-84F6-D14AA709FF74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2">
            <a:extLst>
              <a:ext uri="{FF2B5EF4-FFF2-40B4-BE49-F238E27FC236}">
                <a16:creationId xmlns:a16="http://schemas.microsoft.com/office/drawing/2014/main" id="{A2897563-9359-190D-9A1B-859714C76819}"/>
              </a:ext>
            </a:extLst>
          </p:cNvPr>
          <p:cNvCxnSpPr>
            <a:cxnSpLocks/>
          </p:cNvCxnSpPr>
          <p:nvPr/>
        </p:nvCxnSpPr>
        <p:spPr>
          <a:xfrm>
            <a:off x="7078956" y="1525372"/>
            <a:ext cx="32613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1228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발생 전 좌석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082800" y="1644920"/>
            <a:ext cx="329184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발동 후 좌석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2050" name="Picture 2" descr="C:\Users\human-18\Desktop\자료\예약전 좌석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9228" y="1744345"/>
            <a:ext cx="4687252" cy="2783799"/>
          </a:xfrm>
          <a:prstGeom prst="rect">
            <a:avLst/>
          </a:prstGeom>
          <a:noFill/>
        </p:spPr>
      </p:pic>
      <p:pic>
        <p:nvPicPr>
          <p:cNvPr id="2051" name="Picture 3" descr="C:\Users\human-18\Desktop\자료\예약후 좌석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5885" y="1727240"/>
            <a:ext cx="4130675" cy="2783799"/>
          </a:xfrm>
          <a:prstGeom prst="rect">
            <a:avLst/>
          </a:prstGeom>
          <a:noFill/>
        </p:spPr>
      </p:pic>
      <p:sp>
        <p:nvSpPr>
          <p:cNvPr id="28" name="직사각형 27"/>
          <p:cNvSpPr/>
          <p:nvPr/>
        </p:nvSpPr>
        <p:spPr>
          <a:xfrm>
            <a:off x="1264920" y="4594275"/>
            <a:ext cx="94792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INTO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VALUES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(ti_no.nextval,1,1,5); </a:t>
            </a:r>
          </a:p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예매번호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1</a:t>
            </a:r>
            <a:r>
              <a:rPr lang="ko-KR" altLang="en-US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번상영관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,1</a:t>
            </a:r>
            <a:r>
              <a:rPr lang="ko-KR" altLang="en-US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번회원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상영관번호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ro_seet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총좌석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잔여좌석 </a:t>
            </a:r>
            <a:endParaRPr lang="en-US" altLang="ko-KR" sz="16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movie_rounge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endParaRPr lang="en-US" altLang="ko-KR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  테이블 좌석 조회 구현</a:t>
            </a:r>
          </a:p>
          <a:p>
            <a:pPr algn="ctr"/>
            <a:endParaRPr lang="en-US" altLang="ko-KR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cxnSp>
        <p:nvCxnSpPr>
          <p:cNvPr id="10" name="직선 연결선 12">
            <a:extLst>
              <a:ext uri="{FF2B5EF4-FFF2-40B4-BE49-F238E27FC236}">
                <a16:creationId xmlns:a16="http://schemas.microsoft.com/office/drawing/2014/main" id="{C7B9DBA4-C499-3EEB-C55F-687B8E819C91}"/>
              </a:ext>
            </a:extLst>
          </p:cNvPr>
          <p:cNvCxnSpPr>
            <a:cxnSpLocks/>
          </p:cNvCxnSpPr>
          <p:nvPr/>
        </p:nvCxnSpPr>
        <p:spPr>
          <a:xfrm>
            <a:off x="7000240" y="1634760"/>
            <a:ext cx="329184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09D5F0-F3D0-8E5B-6FC6-CF60A8075A58}"/>
              </a:ext>
            </a:extLst>
          </p:cNvPr>
          <p:cNvSpPr/>
          <p:nvPr/>
        </p:nvSpPr>
        <p:spPr>
          <a:xfrm>
            <a:off x="1449388" y="2204720"/>
            <a:ext cx="4585652" cy="41656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90587A-CAE1-7A03-7E65-3FAA42F7E2DA}"/>
              </a:ext>
            </a:extLst>
          </p:cNvPr>
          <p:cNvSpPr/>
          <p:nvPr/>
        </p:nvSpPr>
        <p:spPr>
          <a:xfrm>
            <a:off x="6422108" y="2213686"/>
            <a:ext cx="4130675" cy="41656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64359-1588-9418-2819-F7EF835A8FC7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21" name="직선 연결선 3">
            <a:extLst>
              <a:ext uri="{FF2B5EF4-FFF2-40B4-BE49-F238E27FC236}">
                <a16:creationId xmlns:a16="http://schemas.microsoft.com/office/drawing/2014/main" id="{79B780D2-7D15-B883-3571-B1D73AC94680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C9553B-0DCF-F600-19D0-7BD342D2966F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39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전 포인트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1910080" y="1656000"/>
            <a:ext cx="359664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발생 후 포인트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6660000" y="1656000"/>
            <a:ext cx="4068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15" name="Picture 4" descr="C:\Users\human-18\Desktop\자료\예약후 포인트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8138" y="1735455"/>
            <a:ext cx="4076382" cy="3476625"/>
          </a:xfrm>
          <a:prstGeom prst="rect">
            <a:avLst/>
          </a:prstGeom>
          <a:noFill/>
        </p:spPr>
      </p:pic>
      <p:pic>
        <p:nvPicPr>
          <p:cNvPr id="3074" name="Picture 2" descr="C:\Users\human-18\Desktop\자료\예악취소후 포인트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1780" y="1715134"/>
            <a:ext cx="4198620" cy="3512185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/>
        </p:nvSpPr>
        <p:spPr>
          <a:xfrm>
            <a:off x="731520" y="5380672"/>
            <a:ext cx="111556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DELETE TICKETTING WHERE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=1 and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ti_nop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=5;  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1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 인원수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 예약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건 취소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회원번호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c.cos_name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회원이름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c.cos_point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포인트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t.ti_nop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t, customer c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WHERE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 정보 조회 조인으로 인원수까지 나오게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구현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  <a:endParaRPr lang="ko-KR" altLang="en-US" sz="14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16725" y="1994611"/>
            <a:ext cx="4067795" cy="39806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630685" y="1948891"/>
            <a:ext cx="4204955" cy="27614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B9FE9-A881-BA7D-CFB6-1DCC7F11F9A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7" name="직선 연결선 3">
            <a:extLst>
              <a:ext uri="{FF2B5EF4-FFF2-40B4-BE49-F238E27FC236}">
                <a16:creationId xmlns:a16="http://schemas.microsoft.com/office/drawing/2014/main" id="{C37FED06-A986-72A9-EEA0-4F25D6ED47B1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4DAA97-2CA0-F5F0-9C1B-F94B603F91D5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43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>
            <a:cxnSpLocks/>
          </p:cNvCxnSpPr>
          <p:nvPr/>
        </p:nvCxnSpPr>
        <p:spPr>
          <a:xfrm>
            <a:off x="2011680" y="1656000"/>
            <a:ext cx="32766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6781800" y="1656000"/>
            <a:ext cx="368808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4098" name="Picture 2" descr="C:\Users\human-18\Desktop\자료\예약후 좌석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5805" y="1771967"/>
            <a:ext cx="3307715" cy="2556183"/>
          </a:xfrm>
          <a:prstGeom prst="rect">
            <a:avLst/>
          </a:prstGeom>
          <a:noFill/>
        </p:spPr>
      </p:pic>
      <p:pic>
        <p:nvPicPr>
          <p:cNvPr id="4099" name="Picture 3" descr="C:\Users\human-18\Desktop\자료\예약 취소후 좌석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795779"/>
            <a:ext cx="3688080" cy="2532363"/>
          </a:xfrm>
          <a:prstGeom prst="rect">
            <a:avLst/>
          </a:prstGeom>
          <a:noFill/>
        </p:spPr>
      </p:pic>
      <p:sp>
        <p:nvSpPr>
          <p:cNvPr id="19" name="직사각형 18"/>
          <p:cNvSpPr/>
          <p:nvPr/>
        </p:nvSpPr>
        <p:spPr>
          <a:xfrm>
            <a:off x="746760" y="4572615"/>
            <a:ext cx="10226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DELETE TICKETTING WHERE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=1 and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ti_nop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=5;  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1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 인원수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 </a:t>
            </a:r>
            <a:r>
              <a:rPr lang="ko-KR" altLang="en-US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예약건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취소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상영관번호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ro_seet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총좌석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잔여좌석 </a:t>
            </a:r>
            <a:endParaRPr lang="en-US" altLang="ko-KR" sz="14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movie_rounge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endParaRPr lang="en-US" altLang="ko-KR" sz="14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  테이블 좌석 조회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구현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011680" y="2177491"/>
            <a:ext cx="3276600" cy="44378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781800" y="2147011"/>
            <a:ext cx="3688080" cy="456917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42D1C-7ED9-C3BB-6845-723ACE42DF11}"/>
              </a:ext>
            </a:extLst>
          </p:cNvPr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전 좌석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F2A3D-7E0D-B6B3-CEBC-2565DAA91C4F}"/>
              </a:ext>
            </a:extLst>
          </p:cNvPr>
          <p:cNvSpPr txBox="1"/>
          <p:nvPr/>
        </p:nvSpPr>
        <p:spPr>
          <a:xfrm>
            <a:off x="6781800" y="1188000"/>
            <a:ext cx="368808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발생 후 좌석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DD7A2D-00CA-20B9-07DB-69F86362A299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24" name="직선 연결선 3">
            <a:extLst>
              <a:ext uri="{FF2B5EF4-FFF2-40B4-BE49-F238E27FC236}">
                <a16:creationId xmlns:a16="http://schemas.microsoft.com/office/drawing/2014/main" id="{34A61521-27F9-F455-5DD1-82DC2DA85906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15A99D-F829-2B44-B314-3BA465C1DD20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59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>
            <a:cxnSpLocks/>
          </p:cNvCxnSpPr>
          <p:nvPr/>
        </p:nvCxnSpPr>
        <p:spPr>
          <a:xfrm>
            <a:off x="2265680" y="1644920"/>
            <a:ext cx="2932480" cy="1108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614800" y="1656000"/>
            <a:ext cx="3312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5122" name="Picture 2" descr="C:\Users\human-18\Desktop\자료\회원탈퇴전 예매정보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2750" y="1719263"/>
            <a:ext cx="4220210" cy="3297017"/>
          </a:xfrm>
          <a:prstGeom prst="rect">
            <a:avLst/>
          </a:prstGeom>
          <a:noFill/>
        </p:spPr>
      </p:pic>
      <p:pic>
        <p:nvPicPr>
          <p:cNvPr id="5123" name="Picture 3" descr="C:\Users\human-18\Desktop\자료\회원탈퇴후 예매정보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3702" y="1742757"/>
            <a:ext cx="4686617" cy="3237193"/>
          </a:xfrm>
          <a:prstGeom prst="rect">
            <a:avLst/>
          </a:prstGeom>
          <a:noFill/>
        </p:spPr>
      </p:pic>
      <p:sp>
        <p:nvSpPr>
          <p:cNvPr id="22" name="직사각형 21"/>
          <p:cNvSpPr/>
          <p:nvPr/>
        </p:nvSpPr>
        <p:spPr>
          <a:xfrm>
            <a:off x="1635758" y="4875014"/>
            <a:ext cx="98145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DELETE CUSTOMER WHERE </a:t>
            </a:r>
            <a:r>
              <a:rPr lang="en-US" altLang="ko-KR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=1; </a:t>
            </a:r>
          </a:p>
          <a:p>
            <a:pPr algn="ctr"/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1</a:t>
            </a:r>
            <a:r>
              <a:rPr lang="ko-KR" altLang="en-US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번회원을 삭제 한다</a:t>
            </a:r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kumimoji="1" lang="en-US" altLang="x-none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*FOREIGN KEY (</a:t>
            </a:r>
            <a:r>
              <a:rPr kumimoji="1" lang="en-US" altLang="x-none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kumimoji="1" lang="en-US" altLang="x-none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 REFERENCES CUSTOMER (</a:t>
            </a:r>
            <a:r>
              <a:rPr kumimoji="1" lang="en-US" altLang="x-none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kumimoji="1" lang="en-US" altLang="x-none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 ON DELETE SET NULL</a:t>
            </a:r>
          </a:p>
          <a:p>
            <a:pPr algn="ctr"/>
            <a:r>
              <a:rPr kumimoji="1" lang="ko-KR" altLang="en-US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탈퇴된</a:t>
            </a:r>
            <a:r>
              <a:rPr kumimoji="1" lang="ko-KR" altLang="en-US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회원의 예매정보는 남아있음</a:t>
            </a:r>
            <a:endParaRPr lang="ko-KR" altLang="en-US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endParaRPr lang="ko-KR" altLang="en-US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71641" y="1948891"/>
            <a:ext cx="4678680" cy="212483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686561" y="1908251"/>
            <a:ext cx="4190999" cy="29646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57049-DF3B-5905-BF86-6FBBD1A71666}"/>
              </a:ext>
            </a:extLst>
          </p:cNvPr>
          <p:cNvSpPr txBox="1"/>
          <p:nvPr/>
        </p:nvSpPr>
        <p:spPr>
          <a:xfrm>
            <a:off x="138053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 탈퇴 전 예매 정보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019B7-0E81-E78E-1322-A23158460694}"/>
              </a:ext>
            </a:extLst>
          </p:cNvPr>
          <p:cNvSpPr txBox="1"/>
          <p:nvPr/>
        </p:nvSpPr>
        <p:spPr>
          <a:xfrm>
            <a:off x="7340600" y="1177840"/>
            <a:ext cx="368808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 탈퇴 후 예매정보 확인</a:t>
            </a:r>
            <a:endParaRPr lang="en-US" altLang="ko-KR" sz="20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8CE7B-C58B-534B-6CBA-356296C08DC8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5" name="직선 연결선 3">
            <a:extLst>
              <a:ext uri="{FF2B5EF4-FFF2-40B4-BE49-F238E27FC236}">
                <a16:creationId xmlns:a16="http://schemas.microsoft.com/office/drawing/2014/main" id="{4756C871-252C-3735-B46A-80A98588F12F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52690A-DC96-9859-80AA-7CE70369466C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384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00856" y="9848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삭제 전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123440" y="1462960"/>
            <a:ext cx="318008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683360" y="99496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삭제 후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503040" y="1493440"/>
            <a:ext cx="3312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6146" name="Picture 2" descr="C:\Users\human-18\Desktop\자료\영화+리뷰 영화삭제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4160" y="1532890"/>
            <a:ext cx="4625023" cy="3618230"/>
          </a:xfrm>
          <a:prstGeom prst="rect">
            <a:avLst/>
          </a:prstGeom>
          <a:noFill/>
        </p:spPr>
      </p:pic>
      <p:pic>
        <p:nvPicPr>
          <p:cNvPr id="6147" name="Picture 3" descr="C:\Users\human-18\Desktop\자료\영화+리뷰 영화삭제후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0320" y="1575752"/>
            <a:ext cx="5237480" cy="3605847"/>
          </a:xfrm>
          <a:prstGeom prst="rect">
            <a:avLst/>
          </a:prstGeom>
          <a:noFill/>
        </p:spPr>
      </p:pic>
      <p:sp>
        <p:nvSpPr>
          <p:cNvPr id="22" name="직사각형 21"/>
          <p:cNvSpPr/>
          <p:nvPr/>
        </p:nvSpPr>
        <p:spPr>
          <a:xfrm>
            <a:off x="968056" y="5127565"/>
            <a:ext cx="523748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영화번호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m.mo_title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영화제목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m.mo_actor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	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배우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m.mo_gen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장르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m.mo_super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감독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r.re_text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내용</a:t>
            </a:r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FROM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 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movie m, review r </a:t>
            </a: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WHERE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r.mo_num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order by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pPr algn="r"/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 정보 조회 쿼리 </a:t>
            </a:r>
          </a:p>
          <a:p>
            <a:pPr algn="r"/>
            <a:endParaRPr lang="ko-KR" altLang="en-US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518921" y="3472891"/>
            <a:ext cx="4632959" cy="166298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C74FD-3A73-C803-82C4-2CB13736F58E}"/>
              </a:ext>
            </a:extLst>
          </p:cNvPr>
          <p:cNvSpPr txBox="1"/>
          <p:nvPr/>
        </p:nvSpPr>
        <p:spPr>
          <a:xfrm>
            <a:off x="7704218" y="5152151"/>
            <a:ext cx="40559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DELETE MOVIE WHERE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=6; </a:t>
            </a: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6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번영화 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'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박쥐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'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종영하여 삭제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진행 하였습니다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리뷰테이블에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영화번호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는 외래키로 </a:t>
            </a:r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ON DELETE CASCADE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되어 리뷰조회시 </a:t>
            </a:r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6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번영화 리뷰 전부 같이 삭제 </a:t>
            </a:r>
            <a:r>
              <a:rPr lang="ko-KR" altLang="en-US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된걸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확인하였습니다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r"/>
            <a:endParaRPr kumimoji="1" lang="ko-Kore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1D94D5-2635-3766-AB7D-ED97C04363E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5" name="직선 연결선 3">
            <a:extLst>
              <a:ext uri="{FF2B5EF4-FFF2-40B4-BE49-F238E27FC236}">
                <a16:creationId xmlns:a16="http://schemas.microsoft.com/office/drawing/2014/main" id="{CE67DD47-755B-9C39-E44F-3015667091D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B01679-AC48-F3F9-7CF2-38DED299D5AD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80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 정보 </a:t>
            </a:r>
            <a:r>
              <a:rPr lang="ko-KR" altLang="en-US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뷰</a:t>
            </a: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생성 쿼리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2592000" y="1656000"/>
            <a:ext cx="2304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509A3-37FC-EF32-BE17-7DDD8A493274}"/>
              </a:ext>
            </a:extLst>
          </p:cNvPr>
          <p:cNvSpPr/>
          <p:nvPr/>
        </p:nvSpPr>
        <p:spPr>
          <a:xfrm>
            <a:off x="1421175" y="1743456"/>
            <a:ext cx="4680000" cy="46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CREATE OR REPLACE VIEW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endParaRPr lang="en-US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endParaRPr lang="en-US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AS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SELECT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p.ti_num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T_NUM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c.cos_name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T_NAMES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s.sh_time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T_TIMES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m.mo_title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M_TITLES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p.py_type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P_TYPES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(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t.ti_nop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)*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p.py_tot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P_TOPAY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FROM pay p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ticketting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p.ti_num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t.ti_num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customer c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t.cos_num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c.cos_num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show_day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s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t.sh_num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s.sh_num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movie m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s.sh_movien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m.mo_num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; </a:t>
            </a:r>
          </a:p>
          <a:p>
            <a:endParaRPr lang="en-US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SELECT * FROM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 </a:t>
            </a:r>
            <a:br>
              <a:rPr lang="en-US" sz="16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</a:br>
            <a:endParaRPr lang="ko-KR" altLang="en-US" sz="1600" dirty="0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 정보 </a:t>
            </a:r>
            <a:r>
              <a:rPr lang="ko-KR" altLang="en-US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뷰</a:t>
            </a: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812000" y="1656000"/>
            <a:ext cx="1800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30524-A522-F090-F09B-1B62B00A71E4}"/>
              </a:ext>
            </a:extLst>
          </p:cNvPr>
          <p:cNvSpPr/>
          <p:nvPr/>
        </p:nvSpPr>
        <p:spPr>
          <a:xfrm>
            <a:off x="6372000" y="1743455"/>
            <a:ext cx="4680000" cy="468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FC450B-A173-03AB-28FA-C74F5A64B12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8CA7994E-F0E1-2F91-59DA-76AFC333B51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9617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E43EB2-FA3B-BD2B-BAF4-BD7DA0A3B5C9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80D5D287-7908-EA59-89BA-FD24805849B4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77110E-90FB-D982-CFD5-4DF8659BB63E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17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쿼리</a:t>
            </a:r>
            <a:endParaRPr lang="en-US" altLang="ko-KR" b="1" dirty="0">
              <a:solidFill>
                <a:schemeClr val="accent1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3024000" y="1656000"/>
            <a:ext cx="1440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629CCD-42B2-44CD-26D6-06F0869FF8EE}"/>
              </a:ext>
            </a:extLst>
          </p:cNvPr>
          <p:cNvSpPr txBox="1"/>
          <p:nvPr/>
        </p:nvSpPr>
        <p:spPr>
          <a:xfrm>
            <a:off x="0" y="20766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509A3-37FC-EF32-BE17-7DDD8A493274}"/>
              </a:ext>
            </a:extLst>
          </p:cNvPr>
          <p:cNvSpPr/>
          <p:nvPr/>
        </p:nvSpPr>
        <p:spPr>
          <a:xfrm>
            <a:off x="1421175" y="1743456"/>
            <a:ext cx="4680000" cy="46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CREATE OR REPLACE PROCEDURE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payProc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(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IN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EW_pay_info.T_NUM%TYPE</a:t>
            </a:r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AS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v_payNUMBER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NUMBER;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v_payNAME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varchar2(20);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DATE;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v_payTITLE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varchar2(50);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v_payTYPE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varchar2(20);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v_payTOPAY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NUMBER;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begin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T_NUM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v_payNUMBER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            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T_NAMES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v_payNAME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T_TIMES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M_TITLES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v_payTITLE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쿼리</a:t>
            </a:r>
            <a:endParaRPr lang="en-US" altLang="ko-KR" sz="2400" b="1" dirty="0">
              <a:solidFill>
                <a:schemeClr val="accent1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956000" y="1656000"/>
            <a:ext cx="1476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30524-A522-F090-F09B-1B62B00A71E4}"/>
              </a:ext>
            </a:extLst>
          </p:cNvPr>
          <p:cNvSpPr/>
          <p:nvPr/>
        </p:nvSpPr>
        <p:spPr>
          <a:xfrm>
            <a:off x="6372000" y="1743455"/>
            <a:ext cx="4680000" cy="46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P_TYPES into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v_payTYPE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P_TOPAY into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v_payTOPAY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DBMS_OUTPUT.PUT_LINE('-------- 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결제 완료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--------');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티켓번호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v_payNUMBER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회원이름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v_payNAME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상영날짜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영화이름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v_payTITLE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결제타입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v_payTYPE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결제총액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v_payTOPAY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END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payProc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; </a:t>
            </a:r>
          </a:p>
          <a:p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프로시저 호출 </a:t>
            </a:r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EXEC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payProc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(7);</a:t>
            </a:r>
            <a:endParaRPr lang="ko-KR" altLang="en-US" sz="1600" dirty="0">
              <a:solidFill>
                <a:schemeClr val="tx1"/>
              </a:solidFill>
              <a:latin typeface="Cambria Math" pitchFamily="18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FC450B-A173-03AB-28FA-C74F5A64B12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8CA7994E-F0E1-2F91-59DA-76AFC333B51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9617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CBBA2-C70F-D7D9-31A0-8B4159BF93F6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79D1491B-A1F6-463C-4B92-7AD5DAD86B5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417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기능 결과</a:t>
            </a:r>
            <a:endParaRPr lang="en-US" altLang="ko-KR" b="1" dirty="0">
              <a:solidFill>
                <a:schemeClr val="tx2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2772000" y="1656000"/>
            <a:ext cx="1944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509A3-37FC-EF32-BE17-7DDD8A493274}"/>
              </a:ext>
            </a:extLst>
          </p:cNvPr>
          <p:cNvSpPr/>
          <p:nvPr/>
        </p:nvSpPr>
        <p:spPr>
          <a:xfrm>
            <a:off x="1421175" y="1743456"/>
            <a:ext cx="4680000" cy="468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1400" dirty="0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설명</a:t>
            </a:r>
            <a:endParaRPr lang="en-US" altLang="ko-KR" sz="2400" b="1" dirty="0">
              <a:solidFill>
                <a:schemeClr val="tx2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956000" y="1656000"/>
            <a:ext cx="1440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30524-A522-F090-F09B-1B62B00A71E4}"/>
              </a:ext>
            </a:extLst>
          </p:cNvPr>
          <p:cNvSpPr/>
          <p:nvPr/>
        </p:nvSpPr>
        <p:spPr>
          <a:xfrm>
            <a:off x="6372000" y="1753615"/>
            <a:ext cx="4680000" cy="46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CREATE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구문중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()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괄호 안에 있는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pay_no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는 입력 파라미터 입니다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특정 프로시저를 호출 할 때 입력 받을 파라미터를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먼저 지정해 주어야 됩니다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AS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구문 뒤에는 출력할 매개변수들의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데이터 타입과 변수명을 지정해 줍니다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begin ~ end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사이의 구문은 실제 처리할 내용들을 적습니다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select ~ into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구문을 사용하여 </a:t>
            </a:r>
            <a:r>
              <a:rPr lang="en-US" altLang="ko-KR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EM_pay_info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뷰에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컬럼 별칭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T_NUM, T_NAMES, T_TIMES, M_TITLES, P_TYPE, P_TOPAY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를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각각 선언한 변수에 넣어줍니다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DBMS_OUTPUT.PUT_LINE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을 사용 하여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해당 변수에 들어간 값을 출력하도록 지정해 놓습니다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해당 프로시저를 사용할 때엔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지정해놓은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매개변수를 이용하여  뷰의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T_NUM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을 입력 시킵니다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프로시저는 일치된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NUM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의 결제정보를 화면에 출력해줍니다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학원에서 배운 영역은 아니지만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트리거와 자료를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찾다보니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알게되어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사용해 보았습니다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저장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프로시저같은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경우 다른 외부 값을 받아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함수처럼 처리도 할 수 있고</a:t>
            </a: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리턴값을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출력해주는 기능 등 다양한 기능이 있어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알아두면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좋을 것 같습니다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아직 해당 프로시저라는 개념을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100%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핸들링 하지는 못하지만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이번 기회에 활용해보아서 너무 뿌듯합니다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–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가율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외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명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-</a:t>
            </a:r>
            <a:endParaRPr lang="ko-KR" altLang="en-US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FC450B-A173-03AB-28FA-C74F5A64B12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8CA7994E-F0E1-2F91-59DA-76AFC333B51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9617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2B064-3803-BC3A-F5E5-1E5E40886E90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C086E965-560F-AF9A-2014-329F53AA6AB6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A26FF1-78FA-B35E-231A-FBDD3C049582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46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화살표: 오각형 2"/>
          <p:cNvSpPr/>
          <p:nvPr/>
        </p:nvSpPr>
        <p:spPr>
          <a:xfrm rot="5400000">
            <a:off x="2495270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833637" y="2189117"/>
            <a:ext cx="1950116" cy="158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 및 프로시저를 구현하며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DB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공부에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좋은 기회가 </a:t>
            </a:r>
            <a:r>
              <a:rPr lang="ko-KR" altLang="en-US" sz="1400" b="1" spc="-15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됬습니다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팀 워크 또한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훌륭해서 너무 좋았습니다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다음 조는 다음에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4" name="화살표: 오각형 23"/>
          <p:cNvSpPr/>
          <p:nvPr/>
        </p:nvSpPr>
        <p:spPr>
          <a:xfrm rot="5400000">
            <a:off x="4572257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각형 25"/>
          <p:cNvSpPr/>
          <p:nvPr/>
        </p:nvSpPr>
        <p:spPr>
          <a:xfrm rot="5400000">
            <a:off x="6649244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각형 27"/>
          <p:cNvSpPr/>
          <p:nvPr/>
        </p:nvSpPr>
        <p:spPr>
          <a:xfrm rot="5400000">
            <a:off x="8726231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3800294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684"/>
          <a:stretch/>
        </p:blipFill>
        <p:spPr>
          <a:xfrm>
            <a:off x="9883633" y="5324183"/>
            <a:ext cx="783856" cy="676592"/>
          </a:xfrm>
          <a:prstGeom prst="rect">
            <a:avLst/>
          </a:prstGeom>
        </p:spPr>
      </p:pic>
      <p:cxnSp>
        <p:nvCxnSpPr>
          <p:cNvPr id="37" name="직선 연결선 36"/>
          <p:cNvCxnSpPr/>
          <p:nvPr/>
        </p:nvCxnSpPr>
        <p:spPr>
          <a:xfrm>
            <a:off x="5877281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7954268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10031255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cxnSpLocks/>
            <a:endCxn id="30" idx="1"/>
          </p:cNvCxnSpPr>
          <p:nvPr/>
        </p:nvCxnSpPr>
        <p:spPr>
          <a:xfrm flipV="1">
            <a:off x="3800294" y="5882794"/>
            <a:ext cx="2152602" cy="8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52896" y="5744294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60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질문하지말아조</a:t>
            </a:r>
            <a:endParaRPr lang="ko-KR" altLang="en-US" sz="2400" b="1" spc="6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43" name="직선 연결선 42"/>
          <p:cNvCxnSpPr>
            <a:cxnSpLocks/>
          </p:cNvCxnSpPr>
          <p:nvPr/>
        </p:nvCxnSpPr>
        <p:spPr>
          <a:xfrm>
            <a:off x="7598616" y="5883686"/>
            <a:ext cx="2426793" cy="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4ED03B-F298-7C12-D668-A072D4983C72}"/>
              </a:ext>
            </a:extLst>
          </p:cNvPr>
          <p:cNvSpPr txBox="1"/>
          <p:nvPr/>
        </p:nvSpPr>
        <p:spPr>
          <a:xfrm>
            <a:off x="4918469" y="2197053"/>
            <a:ext cx="1950116" cy="1800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프로젝트를 진행 하면서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트리거를 구현 해 볼 수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있어서 좋은 기회가 되었습니다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팀워크가 너무 좋아서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수월하게 진행 할 수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있었습니다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BCE32-BACF-F5DE-88FF-939F337AF37C}"/>
              </a:ext>
            </a:extLst>
          </p:cNvPr>
          <p:cNvSpPr txBox="1"/>
          <p:nvPr/>
        </p:nvSpPr>
        <p:spPr>
          <a:xfrm>
            <a:off x="6991109" y="2204990"/>
            <a:ext cx="19501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주제를 같이 정하고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회의 하며 여러 기능 구현을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해보며 협업을 배웠습니다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쿼리를 작성 하며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테스트를 해보면서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배웠던 부분을 복기하여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너무 좋았습니다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B2C730-6E7F-BC32-F8FF-A69254E35BE9}"/>
              </a:ext>
            </a:extLst>
          </p:cNvPr>
          <p:cNvSpPr txBox="1"/>
          <p:nvPr/>
        </p:nvSpPr>
        <p:spPr>
          <a:xfrm>
            <a:off x="9069845" y="2197053"/>
            <a:ext cx="1950116" cy="1800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팀 워크가 훌륭하여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너무 좋았으며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배워보지 </a:t>
            </a:r>
            <a:r>
              <a:rPr lang="ko-KR" altLang="en-US" sz="1400" b="1" spc="-15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못환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기능들을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함께 공부 할 수 있는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계기가 되어 너무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즐거웠습니다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7E1EAD-9CA9-4645-5539-8613E06139F7}"/>
              </a:ext>
            </a:extLst>
          </p:cNvPr>
          <p:cNvSpPr txBox="1"/>
          <p:nvPr/>
        </p:nvSpPr>
        <p:spPr>
          <a:xfrm>
            <a:off x="2833635" y="1491368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CHUNSIC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54E31-A2C1-0A9B-15DB-5EEF27C39D7F}"/>
              </a:ext>
            </a:extLst>
          </p:cNvPr>
          <p:cNvSpPr txBox="1"/>
          <p:nvPr/>
        </p:nvSpPr>
        <p:spPr>
          <a:xfrm>
            <a:off x="4893399" y="1485272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JJIN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BBA2E-1FB8-97DD-65B5-88C8D2C71B68}"/>
              </a:ext>
            </a:extLst>
          </p:cNvPr>
          <p:cNvSpPr txBox="1"/>
          <p:nvPr/>
        </p:nvSpPr>
        <p:spPr>
          <a:xfrm>
            <a:off x="6987611" y="1485272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DONG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7CA094-44CA-D702-8F1B-42063C8187D5}"/>
              </a:ext>
            </a:extLst>
          </p:cNvPr>
          <p:cNvSpPr txBox="1"/>
          <p:nvPr/>
        </p:nvSpPr>
        <p:spPr>
          <a:xfrm>
            <a:off x="9058752" y="1485272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V12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BB3255A6-0BF8-EAEE-119E-75249585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2AE46-8753-919C-9FCD-FF21753E7818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9C5F4CBE-0BDC-EF6A-09A9-5B49CCB9FF5A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59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269492" y="2468217"/>
            <a:ext cx="1653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THANK YOU</a:t>
            </a:r>
            <a:endParaRPr lang="ko-KR" altLang="en-US" sz="2000" b="1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2156" y="2800949"/>
            <a:ext cx="3507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감사합니다</a:t>
            </a:r>
            <a:r>
              <a:rPr lang="en-US" altLang="ko-KR" sz="54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20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3895831" y="2343702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cxnSpLocks/>
          </p:cNvCxnSpPr>
          <p:nvPr/>
        </p:nvCxnSpPr>
        <p:spPr>
          <a:xfrm>
            <a:off x="4355882" y="1883813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cxnSpLocks/>
          </p:cNvCxnSpPr>
          <p:nvPr/>
        </p:nvCxnSpPr>
        <p:spPr>
          <a:xfrm rot="10800000">
            <a:off x="4753711" y="3782445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</p:cNvCxnSpPr>
          <p:nvPr/>
        </p:nvCxnSpPr>
        <p:spPr>
          <a:xfrm rot="10800000">
            <a:off x="7834802" y="2673416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C72192-D053-0309-BC2F-D52CC378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84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4246</Words>
  <Application>Microsoft Macintosh PowerPoint</Application>
  <PresentationFormat>와이드스크린</PresentationFormat>
  <Paragraphs>1092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Wingdings</vt:lpstr>
      <vt:lpstr>맑은 고딕</vt:lpstr>
      <vt:lpstr>NanumMyeongjo</vt:lpstr>
      <vt:lpstr>Arial Unicode MS</vt:lpstr>
      <vt:lpstr>KoPub돋움체 Medium</vt:lpstr>
      <vt:lpstr>Arial</vt:lpstr>
      <vt:lpstr>NANUMMYEONGJOEXTRABOLD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ICCT</dc:creator>
  <cp:lastModifiedBy>AiHao.Cc</cp:lastModifiedBy>
  <cp:revision>41</cp:revision>
  <dcterms:created xsi:type="dcterms:W3CDTF">2017-04-11T00:20:19Z</dcterms:created>
  <dcterms:modified xsi:type="dcterms:W3CDTF">2023-09-14T06:05:06Z</dcterms:modified>
</cp:coreProperties>
</file>