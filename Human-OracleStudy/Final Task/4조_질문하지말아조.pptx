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3"/>
  </p:notesMasterIdLst>
  <p:sldIdLst>
    <p:sldId id="256" r:id="rId2"/>
    <p:sldId id="258" r:id="rId3"/>
    <p:sldId id="261" r:id="rId4"/>
    <p:sldId id="262" r:id="rId5"/>
    <p:sldId id="265" r:id="rId6"/>
    <p:sldId id="266" r:id="rId7"/>
    <p:sldId id="268" r:id="rId8"/>
    <p:sldId id="269" r:id="rId9"/>
    <p:sldId id="279" r:id="rId10"/>
    <p:sldId id="278" r:id="rId11"/>
    <p:sldId id="280" r:id="rId12"/>
    <p:sldId id="277" r:id="rId13"/>
    <p:sldId id="303" r:id="rId14"/>
    <p:sldId id="306" r:id="rId15"/>
    <p:sldId id="307" r:id="rId16"/>
    <p:sldId id="308" r:id="rId17"/>
    <p:sldId id="296" r:id="rId18"/>
    <p:sldId id="297" r:id="rId19"/>
    <p:sldId id="298" r:id="rId20"/>
    <p:sldId id="299" r:id="rId21"/>
    <p:sldId id="284" r:id="rId22"/>
    <p:sldId id="300" r:id="rId23"/>
    <p:sldId id="283" r:id="rId24"/>
    <p:sldId id="285" r:id="rId25"/>
    <p:sldId id="301" r:id="rId26"/>
    <p:sldId id="302" r:id="rId27"/>
    <p:sldId id="286" r:id="rId28"/>
    <p:sldId id="287" r:id="rId29"/>
    <p:sldId id="288" r:id="rId30"/>
    <p:sldId id="264" r:id="rId31"/>
    <p:sldId id="260" r:id="rId32"/>
  </p:sldIdLst>
  <p:sldSz cx="12192000" cy="6858000"/>
  <p:notesSz cx="6858000" cy="9144000"/>
  <p:embeddedFontLst>
    <p:embeddedFont>
      <p:font typeface="맑은 고딕" panose="020B0503020000020004" pitchFamily="34" charset="-127"/>
      <p:regular r:id="rId34"/>
      <p:bold r:id="rId35"/>
    </p:embeddedFont>
    <p:embeddedFont>
      <p:font typeface="Arial Unicode MS" panose="020B0604020202020204" pitchFamily="34" charset="-128"/>
      <p:regular r:id="rId36"/>
    </p:embeddedFont>
    <p:embeddedFont>
      <p:font typeface="Calibri" panose="020F0502020204030204" pitchFamily="34" charset="0"/>
      <p:regular r:id="rId37"/>
      <p:bold r:id="rId38"/>
      <p:italic r:id="rId39"/>
      <p:boldItalic r:id="rId40"/>
    </p:embeddedFont>
    <p:embeddedFont>
      <p:font typeface="Cambria Math" panose="02040503050406030204" pitchFamily="18" charset="0"/>
      <p:regular r:id="rId41"/>
    </p:embeddedFont>
    <p:embeddedFont>
      <p:font typeface="NanumMyeongjo" pitchFamily="2" charset="-127"/>
      <p:regular r:id="rId42"/>
      <p:bold r:id="rId43"/>
    </p:embeddedFont>
    <p:embeddedFont>
      <p:font typeface="NANUMMYEONGJOEXTRABOLD" panose="02020603020101020101" pitchFamily="18" charset="-127"/>
      <p:bold r:id="rId4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88699"/>
    <a:srgbClr val="4990B1"/>
    <a:srgbClr val="4990B2"/>
    <a:srgbClr val="997380"/>
    <a:srgbClr val="765661"/>
    <a:srgbClr val="A4A8AC"/>
    <a:srgbClr val="7C9F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어두운 스타일 1 - 강조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31" autoAdjust="0"/>
    <p:restoredTop sz="94660"/>
  </p:normalViewPr>
  <p:slideViewPr>
    <p:cSldViewPr snapToGrid="0" showGuides="1">
      <p:cViewPr varScale="1">
        <p:scale>
          <a:sx n="128" d="100"/>
          <a:sy n="128" d="100"/>
        </p:scale>
        <p:origin x="832" y="17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4" d="100"/>
        <a:sy n="134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x-none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D39993-CE8B-4A4C-A076-9B414FE33957}" type="datetimeFigureOut">
              <a:rPr kumimoji="1" lang="x-none" altLang="en-US" smtClean="0"/>
              <a:pPr/>
              <a:t>2023. 9. 14.</a:t>
            </a:fld>
            <a:endParaRPr kumimoji="1" lang="x-none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x-none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x-none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x-none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7DBADD-1E66-7148-8CC1-D4DA4F0C35E1}" type="slidenum">
              <a:rPr kumimoji="1" lang="x-none" altLang="en-US" smtClean="0"/>
              <a:pPr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1152876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E7B7C-9D98-D74F-9C2F-C0C5AA02D195}" type="datetime1">
              <a:rPr lang="ko-KR" altLang="en-US" smtClean="0"/>
              <a:pPr/>
              <a:t>2023. 9. 14.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0615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0BF1A-C9A7-5A47-B7AC-3F133EB1145A}" type="datetime1">
              <a:rPr lang="ko-KR" altLang="en-US" smtClean="0"/>
              <a:pPr/>
              <a:t>2023. 9. 14.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0663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F0C62-A667-2842-BBFD-C3260A4FEFE9}" type="datetime1">
              <a:rPr lang="ko-KR" altLang="en-US" smtClean="0"/>
              <a:pPr/>
              <a:t>2023. 9. 14.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6193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0BBEC-1C79-7046-B6AC-4AD62D720729}" type="datetime1">
              <a:rPr lang="ko-KR" altLang="en-US" smtClean="0"/>
              <a:pPr/>
              <a:t>2023. 9. 14.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4496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EE7E47-7ED2-D341-B8AE-9D191A478C28}" type="datetime1">
              <a:rPr lang="ko-KR" altLang="en-US" smtClean="0"/>
              <a:pPr/>
              <a:t>2023. 9. 14.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5593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0BB58-B369-E846-B00F-423ADF3DB0A5}" type="datetime1">
              <a:rPr lang="ko-KR" altLang="en-US" smtClean="0"/>
              <a:pPr/>
              <a:t>2023. 9. 14.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7967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6CB955-1EC4-1449-844D-6B422C4DDBE5}" type="datetime1">
              <a:rPr lang="ko-KR" altLang="en-US" smtClean="0"/>
              <a:pPr/>
              <a:t>2023. 9. 14.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854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30643-723B-404F-8319-3BD6AD56FDEB}" type="datetime1">
              <a:rPr lang="ko-KR" altLang="en-US" smtClean="0"/>
              <a:pPr/>
              <a:t>2023. 9. 14.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304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1B1C33-44A3-114B-9CFF-B536F996A205}" type="datetime1">
              <a:rPr lang="ko-KR" altLang="en-US" smtClean="0"/>
              <a:pPr/>
              <a:t>2023. 9. 14.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0301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9EA06F-1E67-B440-B95C-E539465B0945}" type="datetime1">
              <a:rPr lang="ko-KR" altLang="en-US" smtClean="0"/>
              <a:pPr/>
              <a:t>2023. 9. 14.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5230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2AA32-856F-234E-BCDA-B63CCF1B36B2}" type="datetime1">
              <a:rPr lang="ko-KR" altLang="en-US" smtClean="0"/>
              <a:pPr/>
              <a:t>2023. 9. 14.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1527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A4A8AC"/>
            </a:gs>
            <a:gs pos="39000">
              <a:srgbClr val="7C9FB0"/>
            </a:gs>
            <a:gs pos="100000">
              <a:srgbClr val="4990B1"/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6C3CAB-C28D-B940-B29E-C7658DA6E82E}" type="datetime1">
              <a:rPr lang="ko-KR" altLang="en-US" smtClean="0"/>
              <a:pPr/>
              <a:t>2023. 9. 14.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40C3B-3960-4CA6-8EA2-8BB3DF7819A0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3322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4346968" y="2986377"/>
            <a:ext cx="34980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000" b="1" spc="-150" dirty="0" err="1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김가율</a:t>
            </a:r>
            <a:r>
              <a:rPr lang="ko-KR" altLang="en-US" sz="2000" b="1" spc="-15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 </a:t>
            </a:r>
            <a:r>
              <a:rPr lang="en-US" altLang="ko-KR" sz="2000" b="1" spc="-15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/</a:t>
            </a:r>
            <a:r>
              <a:rPr lang="ko-KR" altLang="en-US" sz="2000" b="1" spc="-15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 </a:t>
            </a:r>
            <a:r>
              <a:rPr lang="ko-KR" altLang="en-US" sz="2000" b="1" spc="-150" dirty="0" err="1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진소원</a:t>
            </a:r>
            <a:r>
              <a:rPr lang="ko-KR" altLang="en-US" sz="2000" b="1" spc="-15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 </a:t>
            </a:r>
            <a:r>
              <a:rPr lang="en-US" altLang="ko-KR" sz="2000" b="1" spc="-15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/</a:t>
            </a:r>
            <a:r>
              <a:rPr lang="ko-KR" altLang="en-US" sz="2000" b="1" spc="-15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 </a:t>
            </a:r>
            <a:r>
              <a:rPr lang="ko-KR" altLang="en-US" sz="2000" b="1" spc="-150" dirty="0" err="1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김영균</a:t>
            </a:r>
            <a:r>
              <a:rPr lang="ko-KR" altLang="en-US" sz="2000" b="1" spc="-15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 </a:t>
            </a:r>
            <a:r>
              <a:rPr lang="en-US" altLang="ko-KR" sz="2000" b="1" spc="-15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/</a:t>
            </a:r>
            <a:r>
              <a:rPr lang="ko-KR" altLang="en-US" sz="2000" b="1" spc="-15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 고동현</a:t>
            </a:r>
            <a:endParaRPr lang="en-US" altLang="ko-KR" sz="2000" b="1" spc="-15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path path="circle">
                  <a:fillToRect r="100000" b="100000"/>
                </a:path>
              </a:gradFill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70684" y="3316450"/>
            <a:ext cx="46506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b="1" spc="-150" dirty="0" err="1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질문하지말아</a:t>
            </a:r>
            <a:r>
              <a:rPr lang="ko-KR" altLang="en-US" sz="5400" b="1" spc="-150" dirty="0" err="1">
                <a:solidFill>
                  <a:schemeClr val="accent5">
                    <a:lumMod val="50000"/>
                  </a:schemeClr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조</a:t>
            </a:r>
            <a:endParaRPr lang="en-US" altLang="ko-KR" sz="5400" b="1" spc="-150" dirty="0">
              <a:solidFill>
                <a:schemeClr val="accent5">
                  <a:lumMod val="50000"/>
                </a:schemeClr>
              </a:solidFill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</p:txBody>
      </p:sp>
      <p:cxnSp>
        <p:nvCxnSpPr>
          <p:cNvPr id="21" name="직선 연결선 20"/>
          <p:cNvCxnSpPr>
            <a:cxnSpLocks/>
          </p:cNvCxnSpPr>
          <p:nvPr/>
        </p:nvCxnSpPr>
        <p:spPr>
          <a:xfrm rot="10800000">
            <a:off x="7012634" y="5359633"/>
            <a:ext cx="354114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>
            <a:cxnSpLocks/>
          </p:cNvCxnSpPr>
          <p:nvPr/>
        </p:nvCxnSpPr>
        <p:spPr>
          <a:xfrm rot="10800000">
            <a:off x="10130541" y="4170827"/>
            <a:ext cx="0" cy="15689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20">
            <a:extLst>
              <a:ext uri="{FF2B5EF4-FFF2-40B4-BE49-F238E27FC236}">
                <a16:creationId xmlns:a16="http://schemas.microsoft.com/office/drawing/2014/main" id="{8110BAAF-29A9-AEAF-FE1E-F4E3755472A8}"/>
              </a:ext>
            </a:extLst>
          </p:cNvPr>
          <p:cNvCxnSpPr>
            <a:cxnSpLocks/>
          </p:cNvCxnSpPr>
          <p:nvPr/>
        </p:nvCxnSpPr>
        <p:spPr>
          <a:xfrm rot="10800000">
            <a:off x="1857483" y="1696681"/>
            <a:ext cx="354114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직선 연결선 21">
            <a:extLst>
              <a:ext uri="{FF2B5EF4-FFF2-40B4-BE49-F238E27FC236}">
                <a16:creationId xmlns:a16="http://schemas.microsoft.com/office/drawing/2014/main" id="{141F14D8-35AE-2D9C-7701-7D6F822CFDD2}"/>
              </a:ext>
            </a:extLst>
          </p:cNvPr>
          <p:cNvCxnSpPr>
            <a:cxnSpLocks/>
          </p:cNvCxnSpPr>
          <p:nvPr/>
        </p:nvCxnSpPr>
        <p:spPr>
          <a:xfrm rot="10800000">
            <a:off x="2311092" y="1232031"/>
            <a:ext cx="0" cy="15689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04C7A0-BA7C-877F-650A-D6A0CF50E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724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7" presetClass="emph" presetSubtype="0" fill="remove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2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3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4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5" dur="250" autoRev="1" fill="remove"/>
                                        <p:tgtEl>
                                          <p:spTgt spid="11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410486" y="874161"/>
            <a:ext cx="22381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8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CONTENTS</a:t>
            </a:r>
            <a:endParaRPr lang="ko-KR" altLang="en-US" sz="11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9" name="직선 연결선 8"/>
          <p:cNvCxnSpPr>
            <a:cxnSpLocks/>
          </p:cNvCxnSpPr>
          <p:nvPr/>
        </p:nvCxnSpPr>
        <p:spPr>
          <a:xfrm>
            <a:off x="4640307" y="1259703"/>
            <a:ext cx="0" cy="4629287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848562" y="1314324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  <a:endParaRPr lang="ko-KR" altLang="en-US" sz="2400" b="1" dirty="0">
              <a:solidFill>
                <a:srgbClr val="002060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79477" y="1314324"/>
            <a:ext cx="2996333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DB </a:t>
            </a:r>
            <a:r>
              <a:rPr lang="ko-KR" altLang="en-US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주제 설명</a:t>
            </a:r>
            <a:endParaRPr lang="en-US" altLang="ko-KR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기능과 요구사항 정의</a:t>
            </a:r>
            <a:endParaRPr lang="en-US" altLang="ko-KR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ERD</a:t>
            </a: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테이블 명세서 </a:t>
            </a:r>
            <a:endParaRPr lang="en-US" altLang="ko-KR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동작 테스트</a:t>
            </a:r>
            <a:endParaRPr lang="en-US" altLang="ko-KR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기능 구현 </a:t>
            </a:r>
            <a:endParaRPr lang="en-US" altLang="ko-KR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추가 기능</a:t>
            </a:r>
            <a:endParaRPr lang="en-US" altLang="ko-KR" sz="24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24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프로젝트 후기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9B20D9-09C7-9C27-37DC-CC84A9B68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024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530416" y="0"/>
            <a:ext cx="10661583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" name="직선 연결선 3"/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  <a:endParaRPr lang="ko-KR" altLang="en-US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197100" y="1479550"/>
            <a:ext cx="3898900" cy="38989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892800" y="1492277"/>
            <a:ext cx="6299200" cy="52322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ko-KR" altLang="en-US" sz="2800" spc="-150" dirty="0">
                <a:solidFill>
                  <a:schemeClr val="tx1">
                    <a:lumMod val="50000"/>
                    <a:lumOff val="5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회원제 영화예매 데이터베이스 개요 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35" y="2929996"/>
            <a:ext cx="237566" cy="4140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 </a:t>
            </a:r>
            <a:endParaRPr lang="en-US" altLang="ko-KR" sz="1600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pic>
        <p:nvPicPr>
          <p:cNvPr id="15" name="그림 14" descr="텍스트, 폰트, 스크린샷, 포스터이(가) 표시된 사진&#10;&#10;자동 생성된 설명">
            <a:extLst>
              <a:ext uri="{FF2B5EF4-FFF2-40B4-BE49-F238E27FC236}">
                <a16:creationId xmlns:a16="http://schemas.microsoft.com/office/drawing/2014/main" id="{99EFE28E-37C1-7EB2-8A09-31C7BD0779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1045" y="878515"/>
            <a:ext cx="4931009" cy="493100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228BCE0-153A-69BC-64A7-A966A111D673}"/>
              </a:ext>
            </a:extLst>
          </p:cNvPr>
          <p:cNvSpPr txBox="1"/>
          <p:nvPr/>
        </p:nvSpPr>
        <p:spPr>
          <a:xfrm>
            <a:off x="6195385" y="2088100"/>
            <a:ext cx="5747568" cy="30931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회원제로만 운영하는 영화 예매 프로그램에 기반이 되는</a:t>
            </a:r>
            <a:br>
              <a:rPr lang="ko-KR" altLang="en-US" sz="1300" dirty="0">
                <a:solidFill>
                  <a:schemeClr val="tx2">
                    <a:lumMod val="7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</a:br>
            <a: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데이터베이스를 콘셉트로 여러 기능을 구현하였습니다</a:t>
            </a:r>
            <a:r>
              <a:rPr lang="en-US" altLang="ko-KR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  <a:br>
              <a:rPr lang="ko-KR" altLang="en-US" sz="1300" dirty="0">
                <a:solidFill>
                  <a:schemeClr val="tx2">
                    <a:lumMod val="7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</a:br>
            <a: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영화 예매라고 한다면 크게 회원관리</a:t>
            </a:r>
            <a:r>
              <a:rPr lang="en-US" altLang="ko-KR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영화예매</a:t>
            </a:r>
            <a:r>
              <a:rPr lang="en-US" altLang="ko-KR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결제 관리로 </a:t>
            </a:r>
            <a:r>
              <a:rPr lang="en-US" altLang="ko-KR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3</a:t>
            </a:r>
            <a: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가지</a:t>
            </a:r>
            <a:br>
              <a:rPr lang="ko-KR" altLang="en-US" sz="1300" dirty="0">
                <a:solidFill>
                  <a:schemeClr val="tx2">
                    <a:lumMod val="7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</a:br>
            <a: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기본 기능으로 나누어집니다</a:t>
            </a:r>
            <a:r>
              <a:rPr lang="en-US" altLang="ko-KR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  <a:br>
              <a:rPr lang="ko-KR" altLang="en-US" sz="1300" dirty="0">
                <a:solidFill>
                  <a:schemeClr val="tx2">
                    <a:lumMod val="7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</a:br>
            <a: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기본 제공 기능에서 추가 기능을 확장하는 콘셉트로 목표하였습니다</a:t>
            </a:r>
            <a:r>
              <a:rPr lang="en-US" altLang="ko-KR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  <a:br>
              <a:rPr lang="ko-KR" altLang="en-US" sz="1300" dirty="0">
                <a:solidFill>
                  <a:schemeClr val="tx2">
                    <a:lumMod val="7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</a:br>
            <a: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회원 관리에는 회원정보와 </a:t>
            </a:r>
            <a:r>
              <a:rPr lang="ko-KR" altLang="en-US" sz="1300" dirty="0" err="1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회원별</a:t>
            </a:r>
            <a: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 포인트 제도를 바탕으로 예매 시 자동 포인트 합산까지 되는 기능이 제공하게 구현했습니다</a:t>
            </a:r>
            <a:r>
              <a:rPr lang="en-US" altLang="ko-KR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  <a:br>
              <a:rPr lang="ko-KR" altLang="en-US" sz="1300" dirty="0">
                <a:solidFill>
                  <a:schemeClr val="tx2">
                    <a:lumMod val="7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</a:br>
            <a: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영화 예매는 영화 정보와 등록된 리뷰를 참고할 수 있도록 하고</a:t>
            </a:r>
            <a:b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</a:br>
            <a: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예매 진행과 결제 진행 시 자동으로 잔여 좌석에</a:t>
            </a:r>
            <a:br>
              <a:rPr lang="ko-KR" altLang="en-US" sz="1300" dirty="0">
                <a:solidFill>
                  <a:schemeClr val="tx2">
                    <a:lumMod val="7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</a:br>
            <a: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변동이 될 수 있도록 했습니다</a:t>
            </a:r>
            <a:r>
              <a:rPr lang="en-US" altLang="ko-KR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  <a:br>
              <a:rPr lang="ko-KR" altLang="en-US" sz="1300" dirty="0">
                <a:solidFill>
                  <a:schemeClr val="tx2">
                    <a:lumMod val="7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</a:br>
            <a: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결제 방식은 최신 트렌드에 맞춰 여러 가지 결제 방법을 제안하였고</a:t>
            </a:r>
            <a:br>
              <a:rPr lang="ko-KR" altLang="en-US" sz="1300" dirty="0">
                <a:solidFill>
                  <a:schemeClr val="tx2">
                    <a:lumMod val="7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</a:br>
            <a: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결제 완료 시 발급되는 고유 번호를 기준으로 </a:t>
            </a:r>
            <a:endParaRPr lang="en-US" altLang="ko-KR" sz="1300" dirty="0">
              <a:solidFill>
                <a:schemeClr val="tx2">
                  <a:lumMod val="75000"/>
                </a:schemeClr>
              </a:solidFill>
              <a:effectLst/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r"/>
            <a: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티켓 출력 확인을 할 수 있는 프로시저를 구현하였습니다</a:t>
            </a:r>
            <a:r>
              <a:rPr lang="en-US" altLang="ko-KR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  <a:br>
              <a:rPr lang="ko-KR" altLang="en-US" sz="1300" dirty="0">
                <a:solidFill>
                  <a:schemeClr val="tx2">
                    <a:lumMod val="7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</a:br>
            <a: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추가적으로 결제 취소를 고려하여 취소 시 지급된 포인트 자동반과</a:t>
            </a:r>
            <a:br>
              <a:rPr lang="ko-KR" altLang="en-US" sz="1300" dirty="0">
                <a:solidFill>
                  <a:schemeClr val="tx2">
                    <a:lumMod val="7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</a:br>
            <a:r>
              <a:rPr lang="ko-KR" altLang="en-US" sz="1300" dirty="0">
                <a:solidFill>
                  <a:schemeClr val="tx2">
                    <a:lumMod val="75000"/>
                  </a:schemeClr>
                </a:solidFill>
                <a:effectLst/>
                <a:latin typeface="NanumMyeongjo" panose="02000300000000000000" pitchFamily="2" charset="-127"/>
                <a:ea typeface="NanumMyeongjo" panose="02000300000000000000" pitchFamily="2" charset="-127"/>
              </a:rPr>
              <a:t>예약한 좌석수에 취소된 만큼 원복 될 수 있도록 하였습니다</a:t>
            </a:r>
            <a:endParaRPr kumimoji="1" lang="en-US" altLang="ko-KR" sz="1300" dirty="0">
              <a:solidFill>
                <a:schemeClr val="tx2">
                  <a:lumMod val="7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33C9B792-ED24-69EE-88F4-66A174DBA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3931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524280" y="-6137"/>
            <a:ext cx="1066158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4903" y="785526"/>
            <a:ext cx="4932084" cy="4705790"/>
          </a:xfrm>
          <a:prstGeom prst="rect">
            <a:avLst/>
          </a:prstGeom>
          <a:effectLst>
            <a:reflection blurRad="6350" stA="52000" endA="300" endPos="35000" dir="5400000" sy="-100000" algn="bl" rotWithShape="0"/>
          </a:effectLst>
        </p:spPr>
      </p:pic>
      <p:sp>
        <p:nvSpPr>
          <p:cNvPr id="9" name="TextBox 8"/>
          <p:cNvSpPr txBox="1"/>
          <p:nvPr/>
        </p:nvSpPr>
        <p:spPr>
          <a:xfrm>
            <a:off x="7916464" y="2087364"/>
            <a:ext cx="3685624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spc="-150" dirty="0">
                <a:solidFill>
                  <a:schemeClr val="tx2">
                    <a:lumMod val="7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기능과 요구 사항 정의</a:t>
            </a:r>
            <a:endParaRPr lang="en-US" altLang="ko-KR" sz="3000" b="1" spc="-150" dirty="0">
              <a:solidFill>
                <a:schemeClr val="tx2">
                  <a:lumMod val="7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BC5A91-934C-B93D-3942-8E4410D58D16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  <a:endParaRPr lang="ko-KR" altLang="en-US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4C771D-092A-D515-689B-2D9C1B9601A4}"/>
              </a:ext>
            </a:extLst>
          </p:cNvPr>
          <p:cNvSpPr txBox="1"/>
          <p:nvPr/>
        </p:nvSpPr>
        <p:spPr>
          <a:xfrm>
            <a:off x="1854218" y="644378"/>
            <a:ext cx="5455715" cy="60478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600" b="1" dirty="0">
                <a:solidFill>
                  <a:srgbClr val="76566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회원정보</a:t>
            </a:r>
            <a:endParaRPr lang="en-US" altLang="ko-KR" sz="1600" b="1" dirty="0">
              <a:solidFill>
                <a:srgbClr val="76566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회원고유번호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ID , 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비밀번호 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이름 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전화번호 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포인트</a:t>
            </a:r>
            <a:endParaRPr lang="en-US" altLang="ko-KR" sz="1000" dirty="0">
              <a:solidFill>
                <a:srgbClr val="997380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회원고유번호와 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ID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는 중복 불가이며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포인트의 기본값은 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이다</a:t>
            </a:r>
            <a:endParaRPr lang="en-US" altLang="ko-KR" sz="1000" dirty="0">
              <a:solidFill>
                <a:srgbClr val="997380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600" b="1" dirty="0">
                <a:solidFill>
                  <a:srgbClr val="76566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영화정보</a:t>
            </a:r>
            <a:endParaRPr lang="en-US" altLang="ko-KR" sz="1600" b="1" dirty="0">
              <a:solidFill>
                <a:srgbClr val="76566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영화 번호 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영화제목 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장르 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영화 감동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주인공의 정보</a:t>
            </a:r>
            <a:endParaRPr lang="en-US" altLang="ko-KR" sz="1000" dirty="0">
              <a:solidFill>
                <a:srgbClr val="997380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영화 번호는 중복 불가하며 같은 영화여도 다른 번호를 부여한다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600" b="1" dirty="0">
                <a:solidFill>
                  <a:srgbClr val="76566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리뷰</a:t>
            </a:r>
            <a:endParaRPr lang="en-US" altLang="ko-KR" sz="1600" b="1" dirty="0">
              <a:solidFill>
                <a:srgbClr val="76566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영화 번호 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이미 관람한 관람객들의 리뷰가 있다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600" b="1" dirty="0">
                <a:solidFill>
                  <a:srgbClr val="76566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상영관</a:t>
            </a:r>
            <a:endParaRPr lang="en-US" altLang="ko-KR" sz="1600" b="1" dirty="0">
              <a:solidFill>
                <a:srgbClr val="76566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상영관 번호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총 좌석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잔여 좌석</a:t>
            </a:r>
            <a:endParaRPr lang="en-US" altLang="ko-KR" sz="1000" dirty="0">
              <a:solidFill>
                <a:srgbClr val="997380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상영관은 총 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5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개이며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개별적 총 좌석은 각각 다르지만 최대 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200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석 까지만 가능하다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endParaRPr lang="en-US" altLang="ko-KR" sz="1000" dirty="0">
              <a:solidFill>
                <a:srgbClr val="997380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잔여 좌석은 결제와 취소에 따라 차감되거나 복구된다</a:t>
            </a:r>
            <a:endParaRPr lang="en-US" altLang="ko-KR" sz="1000" dirty="0">
              <a:solidFill>
                <a:srgbClr val="997380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600" b="1" dirty="0">
                <a:solidFill>
                  <a:srgbClr val="76566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상영일정</a:t>
            </a:r>
            <a:endParaRPr lang="en-US" altLang="ko-KR" sz="1600" b="1" dirty="0">
              <a:solidFill>
                <a:srgbClr val="76566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상영 일정 번호 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상영 시간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상영관 번호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영화 번호</a:t>
            </a:r>
            <a:endParaRPr lang="en-US" altLang="ko-KR" sz="1000" dirty="0">
              <a:solidFill>
                <a:srgbClr val="997380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600" b="1" dirty="0">
                <a:solidFill>
                  <a:srgbClr val="76566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예매</a:t>
            </a:r>
            <a:endParaRPr lang="en-US" altLang="ko-KR" sz="1600" b="1" dirty="0">
              <a:solidFill>
                <a:srgbClr val="76566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예매 번호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상영 일정 번호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회원 번호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인원수</a:t>
            </a:r>
            <a:endParaRPr lang="en-US" altLang="ko-KR" sz="1000" dirty="0">
              <a:solidFill>
                <a:srgbClr val="997380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인원 수 만큼 자동으로 포인트 적용</a:t>
            </a:r>
            <a:endParaRPr lang="en-US" altLang="ko-KR" sz="1000" dirty="0">
              <a:solidFill>
                <a:srgbClr val="997380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600" b="1" dirty="0">
                <a:solidFill>
                  <a:srgbClr val="76566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결제</a:t>
            </a:r>
            <a:endParaRPr lang="en-US" altLang="ko-KR" sz="1600" b="1" dirty="0">
              <a:solidFill>
                <a:srgbClr val="76566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예매 번호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결제 방법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티켓 가격</a:t>
            </a:r>
            <a:endParaRPr lang="en-US" altLang="ko-KR" sz="1000" dirty="0">
              <a:solidFill>
                <a:srgbClr val="997380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lvl="1">
              <a:lnSpc>
                <a:spcPct val="150000"/>
              </a:lnSpc>
            </a:pP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티켓 가격 기본값은 </a:t>
            </a:r>
            <a:r>
              <a:rPr lang="en-US" altLang="ko-KR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15,000</a:t>
            </a:r>
            <a:r>
              <a:rPr lang="ko-KR" altLang="en-US" sz="1000" dirty="0">
                <a:solidFill>
                  <a:srgbClr val="99738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원 이다</a:t>
            </a:r>
            <a:endParaRPr lang="en-US" altLang="ko-KR" sz="1000" dirty="0">
              <a:solidFill>
                <a:srgbClr val="997380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altLang="ko-KR" sz="1600" b="1" dirty="0">
              <a:solidFill>
                <a:srgbClr val="76566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B2D8B0B3-8FB8-B350-56D4-02B3BB790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4</a:t>
            </a:fld>
            <a:endParaRPr lang="ko-KR" altLang="en-US"/>
          </a:p>
        </p:txBody>
      </p:sp>
      <p:cxnSp>
        <p:nvCxnSpPr>
          <p:cNvPr id="3" name="직선 연결선 3">
            <a:extLst>
              <a:ext uri="{FF2B5EF4-FFF2-40B4-BE49-F238E27FC236}">
                <a16:creationId xmlns:a16="http://schemas.microsoft.com/office/drawing/2014/main" id="{83F392B2-3445-84CD-5892-57901EC618AC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5602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8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2B2EA8B-F746-236A-159B-131E68DDBF97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  <a:endParaRPr lang="ko-KR" altLang="en-US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3E030FEF-467F-6585-3786-2B91BC34F3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3543" y="0"/>
            <a:ext cx="10688455" cy="685800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DC72038-7953-674B-85AF-EE3E4987BEEB}"/>
              </a:ext>
            </a:extLst>
          </p:cNvPr>
          <p:cNvSpPr txBox="1"/>
          <p:nvPr/>
        </p:nvSpPr>
        <p:spPr>
          <a:xfrm>
            <a:off x="1833403" y="-105726"/>
            <a:ext cx="6121570" cy="908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4000" b="1" dirty="0">
                <a:solidFill>
                  <a:srgbClr val="002060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ERD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D9B638-491F-8764-1D12-31A5A5928458}"/>
              </a:ext>
            </a:extLst>
          </p:cNvPr>
          <p:cNvSpPr txBox="1"/>
          <p:nvPr/>
        </p:nvSpPr>
        <p:spPr>
          <a:xfrm>
            <a:off x="2942990" y="290419"/>
            <a:ext cx="6121570" cy="377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b="1" dirty="0">
                <a:solidFill>
                  <a:srgbClr val="765661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M</a:t>
            </a:r>
            <a:r>
              <a:rPr lang="en-US" altLang="ko-KR" sz="1400" b="1" dirty="0">
                <a:solidFill>
                  <a:srgbClr val="B88699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ovie</a:t>
            </a:r>
            <a:r>
              <a:rPr lang="en-US" altLang="ko-KR" sz="1400" b="1" dirty="0">
                <a:solidFill>
                  <a:srgbClr val="765661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 T</a:t>
            </a:r>
            <a:r>
              <a:rPr lang="en-US" altLang="ko-KR" sz="1400" b="1" dirty="0">
                <a:solidFill>
                  <a:srgbClr val="B88699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icket</a:t>
            </a:r>
            <a:r>
              <a:rPr lang="en-US" altLang="ko-KR" sz="1400" b="1" dirty="0">
                <a:solidFill>
                  <a:srgbClr val="765661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 D</a:t>
            </a:r>
            <a:r>
              <a:rPr lang="en-US" altLang="ko-KR" sz="1400" b="1" dirty="0">
                <a:solidFill>
                  <a:srgbClr val="B88699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atabase</a:t>
            </a:r>
          </a:p>
        </p:txBody>
      </p:sp>
      <p:sp>
        <p:nvSpPr>
          <p:cNvPr id="23" name="슬라이드 번호 개체 틀 22">
            <a:extLst>
              <a:ext uri="{FF2B5EF4-FFF2-40B4-BE49-F238E27FC236}">
                <a16:creationId xmlns:a16="http://schemas.microsoft.com/office/drawing/2014/main" id="{D482A017-1B3C-BC94-E707-38E3C0073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5</a:t>
            </a:fld>
            <a:endParaRPr lang="ko-KR" altLang="en-US"/>
          </a:p>
        </p:txBody>
      </p:sp>
      <p:cxnSp>
        <p:nvCxnSpPr>
          <p:cNvPr id="2" name="직선 연결선 3">
            <a:extLst>
              <a:ext uri="{FF2B5EF4-FFF2-40B4-BE49-F238E27FC236}">
                <a16:creationId xmlns:a16="http://schemas.microsoft.com/office/drawing/2014/main" id="{26A96E6F-05A4-DC5F-19B3-99D652114422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6454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2B2EA8B-F746-236A-159B-131E68DDBF97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  <a:endParaRPr lang="ko-KR" altLang="en-US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209CCBB-4948-CBAC-BDFC-07FF709C6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1192703"/>
              </p:ext>
            </p:extLst>
          </p:nvPr>
        </p:nvGraphicFramePr>
        <p:xfrm>
          <a:off x="1282621" y="1235146"/>
          <a:ext cx="10103768" cy="24079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73812">
                  <a:extLst>
                    <a:ext uri="{9D8B030D-6E8A-4147-A177-3AD203B41FA5}">
                      <a16:colId xmlns:a16="http://schemas.microsoft.com/office/drawing/2014/main" val="142963213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2226787622"/>
                    </a:ext>
                  </a:extLst>
                </a:gridCol>
                <a:gridCol w="851192">
                  <a:extLst>
                    <a:ext uri="{9D8B030D-6E8A-4147-A177-3AD203B41FA5}">
                      <a16:colId xmlns:a16="http://schemas.microsoft.com/office/drawing/2014/main" val="385443429"/>
                    </a:ext>
                  </a:extLst>
                </a:gridCol>
                <a:gridCol w="1547623">
                  <a:extLst>
                    <a:ext uri="{9D8B030D-6E8A-4147-A177-3AD203B41FA5}">
                      <a16:colId xmlns:a16="http://schemas.microsoft.com/office/drawing/2014/main" val="2050574748"/>
                    </a:ext>
                  </a:extLst>
                </a:gridCol>
                <a:gridCol w="1547623">
                  <a:extLst>
                    <a:ext uri="{9D8B030D-6E8A-4147-A177-3AD203B41FA5}">
                      <a16:colId xmlns:a16="http://schemas.microsoft.com/office/drawing/2014/main" val="724345838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2501545399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503388054"/>
                    </a:ext>
                  </a:extLst>
                </a:gridCol>
                <a:gridCol w="3062082">
                  <a:extLst>
                    <a:ext uri="{9D8B030D-6E8A-4147-A177-3AD203B41FA5}">
                      <a16:colId xmlns:a16="http://schemas.microsoft.com/office/drawing/2014/main" val="3226501516"/>
                    </a:ext>
                  </a:extLst>
                </a:gridCol>
              </a:tblGrid>
              <a:tr h="222066">
                <a:tc gridSpan="2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테이블명 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회원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데이터베이스명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800" b="1" i="0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ORCL</a:t>
                      </a:r>
                      <a:endParaRPr lang="x-none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fontAlgn="ctr"/>
                      <a:r>
                        <a:rPr lang="x-none" altLang="en-US" dirty="0">
                          <a:effectLst/>
                        </a:rPr>
                        <a:t> </a:t>
                      </a:r>
                    </a:p>
                  </a:txBody>
                  <a:tcPr marL="9525" marR="95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67832"/>
                  </a:ext>
                </a:extLst>
              </a:tr>
              <a:tr h="230607">
                <a:tc gridSpan="2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</a:t>
                      </a: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ID 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CUSTOMER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 설명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회원에 대한 정보를 기술하는 테이블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30929"/>
                  </a:ext>
                </a:extLst>
              </a:tr>
              <a:tr h="140926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순번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컬럼명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컬럼</a:t>
                      </a: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ID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타입 및 길이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NULL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PK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FK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설명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908054062"/>
                  </a:ext>
                </a:extLst>
              </a:tr>
              <a:tr h="136656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1</a:t>
                      </a:r>
                      <a:endParaRPr lang="x-none" alt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회원</a:t>
                      </a: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cos_num</a:t>
                      </a:r>
                      <a:endParaRPr 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number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yes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Primary key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057682438"/>
                  </a:ext>
                </a:extLst>
              </a:tr>
              <a:tr h="136656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2</a:t>
                      </a:r>
                      <a:endParaRPr lang="x-none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회원</a:t>
                      </a: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ID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cos_id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varchar2(15)</a:t>
                      </a:r>
                      <a:endParaRPr 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Unique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220598725"/>
                  </a:ext>
                </a:extLst>
              </a:tr>
              <a:tr h="20498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3</a:t>
                      </a:r>
                      <a:endParaRPr lang="x-none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비밀번호</a:t>
                      </a:r>
                      <a:endParaRPr lang="ko-KR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cos_pass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varchar2(15)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x-none" alt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 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493440180"/>
                  </a:ext>
                </a:extLst>
              </a:tr>
              <a:tr h="20498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4</a:t>
                      </a:r>
                      <a:endParaRPr lang="x-none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전화번호</a:t>
                      </a:r>
                      <a:endParaRPr lang="ko-KR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cos_phone</a:t>
                      </a:r>
                      <a:endParaRPr 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varchar2(13)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x-none" alt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 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878448152"/>
                  </a:ext>
                </a:extLst>
              </a:tr>
              <a:tr h="136656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5</a:t>
                      </a:r>
                      <a:endParaRPr lang="x-none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포인트</a:t>
                      </a:r>
                      <a:endParaRPr lang="ko-KR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cos_point</a:t>
                      </a:r>
                      <a:endParaRPr 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number</a:t>
                      </a:r>
                      <a:endParaRPr 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Default 0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18837946"/>
                  </a:ext>
                </a:extLst>
              </a:tr>
              <a:tr h="20498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6</a:t>
                      </a:r>
                      <a:endParaRPr lang="x-none" alt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회원이름</a:t>
                      </a:r>
                      <a:endParaRPr lang="ko-KR" alt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cos_name</a:t>
                      </a:r>
                      <a:endParaRPr 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varchar2(10)</a:t>
                      </a:r>
                      <a:endParaRPr 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x-none" alt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 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442432941"/>
                  </a:ext>
                </a:extLst>
              </a:tr>
            </a:tbl>
          </a:graphicData>
        </a:graphic>
      </p:graphicFrame>
      <p:sp>
        <p:nvSpPr>
          <p:cNvPr id="12" name="Rectangle 2">
            <a:extLst>
              <a:ext uri="{FF2B5EF4-FFF2-40B4-BE49-F238E27FC236}">
                <a16:creationId xmlns:a16="http://schemas.microsoft.com/office/drawing/2014/main" id="{695A807E-4ACF-81EE-7589-3F3434D16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075" y="26606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x-none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6417DF-81B4-728A-2B86-333DBD369CBF}"/>
              </a:ext>
            </a:extLst>
          </p:cNvPr>
          <p:cNvSpPr txBox="1"/>
          <p:nvPr/>
        </p:nvSpPr>
        <p:spPr>
          <a:xfrm>
            <a:off x="1178288" y="263889"/>
            <a:ext cx="101037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Table Statement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&amp;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Query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endParaRPr kumimoji="1" lang="x-none" altLang="en-US" sz="40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16166BE-9D0C-EA3C-8B6E-7F96011EA8A1}"/>
              </a:ext>
            </a:extLst>
          </p:cNvPr>
          <p:cNvSpPr/>
          <p:nvPr/>
        </p:nvSpPr>
        <p:spPr>
          <a:xfrm>
            <a:off x="1282622" y="3841709"/>
            <a:ext cx="10103766" cy="251613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4E92B8-B4E5-201F-4634-9F866D98A696}"/>
              </a:ext>
            </a:extLst>
          </p:cNvPr>
          <p:cNvSpPr txBox="1"/>
          <p:nvPr/>
        </p:nvSpPr>
        <p:spPr>
          <a:xfrm>
            <a:off x="1454453" y="3982747"/>
            <a:ext cx="1274021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x-none" b="1" dirty="0">
                <a:solidFill>
                  <a:schemeClr val="bg1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TABLE </a:t>
            </a:r>
            <a:r>
              <a:rPr kumimoji="1" lang="x-none" altLang="en-US" b="1" dirty="0">
                <a:solidFill>
                  <a:schemeClr val="bg1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생성</a:t>
            </a:r>
            <a:r>
              <a:rPr kumimoji="1" lang="ko-KR" altLang="en-US" b="1" dirty="0">
                <a:solidFill>
                  <a:schemeClr val="bg1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 </a:t>
            </a:r>
            <a:r>
              <a:rPr kumimoji="1" lang="ko-KR" altLang="en-US" b="1" dirty="0" err="1">
                <a:solidFill>
                  <a:schemeClr val="bg1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쿼리문</a:t>
            </a:r>
            <a:endParaRPr kumimoji="1" lang="en-US" altLang="x-none" b="1" dirty="0">
              <a:solidFill>
                <a:schemeClr val="bg1"/>
              </a:solidFill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  <a:p>
            <a:r>
              <a:rPr kumimoji="1" lang="en-US" altLang="x-none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CREATE TABLE CUSTOMER (     </a:t>
            </a:r>
            <a:endParaRPr kumimoji="1" lang="ko-KR" altLang="en-US" sz="12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</a:t>
            </a:r>
            <a:r>
              <a:rPr kumimoji="1" lang="ko-KR" altLang="en-US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 </a:t>
            </a:r>
            <a:r>
              <a:rPr kumimoji="1" lang="en-US" altLang="x-none" sz="1200" b="1" dirty="0" err="1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cos_num</a:t>
            </a:r>
            <a:r>
              <a:rPr kumimoji="1" lang="en-US" altLang="x-none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NUMBER</a:t>
            </a:r>
            <a:endParaRPr kumimoji="1" lang="ko-KR" altLang="en-US" sz="12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,</a:t>
            </a:r>
            <a:r>
              <a:rPr kumimoji="1" lang="ko-KR" altLang="en-US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x-none" sz="1200" b="1" dirty="0" err="1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cos_id</a:t>
            </a:r>
            <a:r>
              <a:rPr kumimoji="1" lang="en-US" altLang="x-none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varchar2(15)  NOT NULL</a:t>
            </a:r>
            <a:endParaRPr kumimoji="1" lang="ko-KR" altLang="en-US" sz="12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,</a:t>
            </a:r>
            <a:r>
              <a:rPr kumimoji="1" lang="ko-KR" altLang="en-US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x-none" sz="1200" b="1" dirty="0" err="1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cos_name</a:t>
            </a:r>
            <a:r>
              <a:rPr kumimoji="1" lang="en-US" altLang="x-none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varchar2(10) NOT NULL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,</a:t>
            </a:r>
            <a:r>
              <a:rPr kumimoji="1" lang="ko-KR" altLang="en-US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x-none" sz="1200" b="1" dirty="0" err="1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cos_pass</a:t>
            </a:r>
            <a:r>
              <a:rPr kumimoji="1" lang="en-US" altLang="x-none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varchar2(15) NOT NULL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,</a:t>
            </a:r>
            <a:r>
              <a:rPr kumimoji="1" lang="ko-KR" altLang="en-US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x-none" sz="1200" b="1" dirty="0" err="1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cos_phone</a:t>
            </a:r>
            <a:r>
              <a:rPr kumimoji="1" lang="en-US" altLang="x-none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varchar2(13) 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,</a:t>
            </a:r>
            <a:r>
              <a:rPr kumimoji="1" lang="ko-KR" altLang="en-US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x-none" sz="1200" b="1" dirty="0" err="1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cos_point</a:t>
            </a:r>
            <a:r>
              <a:rPr kumimoji="1" lang="en-US" altLang="x-none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NUMBER DEFAULT 0  </a:t>
            </a:r>
            <a:r>
              <a:rPr kumimoji="1" lang="ko-KR" altLang="en-US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      회원 포인트</a:t>
            </a:r>
            <a:r>
              <a:rPr kumimoji="1" lang="en-US" altLang="ko-KR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kumimoji="1" lang="ko-KR" altLang="en-US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기본값은 </a:t>
            </a:r>
            <a:r>
              <a:rPr kumimoji="1" lang="en-US" altLang="ko-KR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으로</a:t>
            </a:r>
            <a:r>
              <a:rPr kumimoji="1" lang="ko-KR" altLang="en-US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함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,</a:t>
            </a:r>
            <a:r>
              <a:rPr kumimoji="1" lang="ko-KR" altLang="en-US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x-none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PRIMARY KEY (</a:t>
            </a:r>
            <a:r>
              <a:rPr kumimoji="1" lang="en-US" altLang="x-none" sz="1200" b="1" dirty="0" err="1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cos_num</a:t>
            </a:r>
            <a:r>
              <a:rPr kumimoji="1" lang="en-US" altLang="x-none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  	</a:t>
            </a:r>
            <a:r>
              <a:rPr kumimoji="1" lang="ko-KR" altLang="en-US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회원번호를 기본키로 설정 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,</a:t>
            </a:r>
            <a:r>
              <a:rPr kumimoji="1" lang="ko-KR" altLang="en-US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x-none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UNIQUE (</a:t>
            </a:r>
            <a:r>
              <a:rPr kumimoji="1" lang="en-US" altLang="x-none" sz="1200" b="1" dirty="0" err="1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cos_id</a:t>
            </a:r>
            <a:r>
              <a:rPr kumimoji="1" lang="en-US" altLang="x-none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 		</a:t>
            </a:r>
            <a:r>
              <a:rPr kumimoji="1" lang="ko-KR" altLang="en-US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회원의 아이디가 중복되지 않도록 </a:t>
            </a:r>
            <a:r>
              <a:rPr kumimoji="1" lang="en-US" altLang="x-none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unique </a:t>
            </a:r>
            <a:r>
              <a:rPr kumimoji="1" lang="ko-KR" altLang="en-US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제약조건 설정</a:t>
            </a:r>
          </a:p>
          <a:p>
            <a:r>
              <a:rPr kumimoji="1" lang="en-US" altLang="ko-KR" sz="12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);</a:t>
            </a:r>
          </a:p>
          <a:p>
            <a:endParaRPr kumimoji="1" lang="x-none" altLang="en-US" sz="12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22" name="슬라이드 번호 개체 틀 21">
            <a:extLst>
              <a:ext uri="{FF2B5EF4-FFF2-40B4-BE49-F238E27FC236}">
                <a16:creationId xmlns:a16="http://schemas.microsoft.com/office/drawing/2014/main" id="{4D99860D-FDC6-923C-E287-526D18874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6</a:t>
            </a:fld>
            <a:endParaRPr lang="ko-KR" altLang="en-US"/>
          </a:p>
        </p:txBody>
      </p:sp>
      <p:cxnSp>
        <p:nvCxnSpPr>
          <p:cNvPr id="2" name="직선 연결선 3">
            <a:extLst>
              <a:ext uri="{FF2B5EF4-FFF2-40B4-BE49-F238E27FC236}">
                <a16:creationId xmlns:a16="http://schemas.microsoft.com/office/drawing/2014/main" id="{82017E78-0687-98DB-588E-D38E7E6EB16E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5438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209CCBB-4948-CBAC-BDFC-07FF709C6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6055575"/>
              </p:ext>
            </p:extLst>
          </p:nvPr>
        </p:nvGraphicFramePr>
        <p:xfrm>
          <a:off x="1282621" y="1234664"/>
          <a:ext cx="10103768" cy="24231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73812">
                  <a:extLst>
                    <a:ext uri="{9D8B030D-6E8A-4147-A177-3AD203B41FA5}">
                      <a16:colId xmlns:a16="http://schemas.microsoft.com/office/drawing/2014/main" val="142963213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2226787622"/>
                    </a:ext>
                  </a:extLst>
                </a:gridCol>
                <a:gridCol w="851192">
                  <a:extLst>
                    <a:ext uri="{9D8B030D-6E8A-4147-A177-3AD203B41FA5}">
                      <a16:colId xmlns:a16="http://schemas.microsoft.com/office/drawing/2014/main" val="385443429"/>
                    </a:ext>
                  </a:extLst>
                </a:gridCol>
                <a:gridCol w="1547623">
                  <a:extLst>
                    <a:ext uri="{9D8B030D-6E8A-4147-A177-3AD203B41FA5}">
                      <a16:colId xmlns:a16="http://schemas.microsoft.com/office/drawing/2014/main" val="2050574748"/>
                    </a:ext>
                  </a:extLst>
                </a:gridCol>
                <a:gridCol w="1547623">
                  <a:extLst>
                    <a:ext uri="{9D8B030D-6E8A-4147-A177-3AD203B41FA5}">
                      <a16:colId xmlns:a16="http://schemas.microsoft.com/office/drawing/2014/main" val="724345838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2501545399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503388054"/>
                    </a:ext>
                  </a:extLst>
                </a:gridCol>
                <a:gridCol w="3062082">
                  <a:extLst>
                    <a:ext uri="{9D8B030D-6E8A-4147-A177-3AD203B41FA5}">
                      <a16:colId xmlns:a16="http://schemas.microsoft.com/office/drawing/2014/main" val="3226501516"/>
                    </a:ext>
                  </a:extLst>
                </a:gridCol>
              </a:tblGrid>
              <a:tr h="222066">
                <a:tc gridSpan="2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테이블명 </a:t>
                      </a:r>
                      <a:r>
                        <a:rPr lang="en-US" altLang="ko-KR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`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영화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데이터베이스명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800" b="1" i="0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ORCL</a:t>
                      </a:r>
                      <a:endParaRPr lang="x-none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fontAlgn="ctr"/>
                      <a:r>
                        <a:rPr lang="x-none" altLang="en-US" dirty="0">
                          <a:effectLst/>
                        </a:rPr>
                        <a:t> </a:t>
                      </a:r>
                    </a:p>
                  </a:txBody>
                  <a:tcPr marL="9525" marR="95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67832"/>
                  </a:ext>
                </a:extLst>
              </a:tr>
              <a:tr h="230607">
                <a:tc gridSpan="2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</a:t>
                      </a: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ID 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MOVIE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 설명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영화에 대한 상세한 정보를 기술하는 테이블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30929"/>
                  </a:ext>
                </a:extLst>
              </a:tr>
              <a:tr h="140926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순번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컬럼명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컬럼</a:t>
                      </a: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ID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타입 및 길이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NULL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PK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FK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설명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908054062"/>
                  </a:ext>
                </a:extLst>
              </a:tr>
              <a:tr h="136656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1</a:t>
                      </a:r>
                      <a:endParaRPr lang="x-none" alt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영화번호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mo_num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number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yes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Primary</a:t>
                      </a:r>
                      <a:r>
                        <a:rPr lang="en-US" sz="1100" b="1" i="0" baseline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 key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057682438"/>
                  </a:ext>
                </a:extLst>
              </a:tr>
              <a:tr h="136656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2</a:t>
                      </a:r>
                      <a:endParaRPr lang="x-none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영화제목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mo_title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varchar2(50)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220598725"/>
                  </a:ext>
                </a:extLst>
              </a:tr>
              <a:tr h="20498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3</a:t>
                      </a:r>
                      <a:endParaRPr lang="x-none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주인공</a:t>
                      </a:r>
                      <a:endParaRPr lang="ko-KR" alt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mo_actor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varchar2(10)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x-none" altLang="en-US" sz="16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 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493440180"/>
                  </a:ext>
                </a:extLst>
              </a:tr>
              <a:tr h="20498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4</a:t>
                      </a:r>
                      <a:endParaRPr lang="x-none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영화장르</a:t>
                      </a:r>
                      <a:endParaRPr lang="ko-KR" alt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mo_gen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varchar2(15)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14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Check</a:t>
                      </a:r>
                      <a:r>
                        <a:rPr lang="x-none" altLang="en-US" sz="1400" b="1" i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 </a:t>
                      </a:r>
                      <a:endParaRPr lang="x-none" altLang="en-US" sz="14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878448152"/>
                  </a:ext>
                </a:extLst>
              </a:tr>
              <a:tr h="136656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5</a:t>
                      </a:r>
                      <a:endParaRPr lang="x-none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감독</a:t>
                      </a:r>
                      <a:endParaRPr lang="ko-KR" alt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mo_super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Varchar2(15)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018837946"/>
                  </a:ext>
                </a:extLst>
              </a:tr>
            </a:tbl>
          </a:graphicData>
        </a:graphic>
      </p:graphicFrame>
      <p:sp>
        <p:nvSpPr>
          <p:cNvPr id="12" name="Rectangle 2">
            <a:extLst>
              <a:ext uri="{FF2B5EF4-FFF2-40B4-BE49-F238E27FC236}">
                <a16:creationId xmlns:a16="http://schemas.microsoft.com/office/drawing/2014/main" id="{695A807E-4ACF-81EE-7589-3F3434D16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075" y="26606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x-none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6417DF-81B4-728A-2B86-333DBD369CBF}"/>
              </a:ext>
            </a:extLst>
          </p:cNvPr>
          <p:cNvSpPr txBox="1"/>
          <p:nvPr/>
        </p:nvSpPr>
        <p:spPr>
          <a:xfrm>
            <a:off x="1178288" y="263889"/>
            <a:ext cx="101037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Table Statement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&amp;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Query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endParaRPr kumimoji="1" lang="x-none" altLang="en-US" sz="40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16166BE-9D0C-EA3C-8B6E-7F96011EA8A1}"/>
              </a:ext>
            </a:extLst>
          </p:cNvPr>
          <p:cNvSpPr/>
          <p:nvPr/>
        </p:nvSpPr>
        <p:spPr>
          <a:xfrm>
            <a:off x="1282622" y="3841709"/>
            <a:ext cx="10103766" cy="251613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4E92B8-B4E5-201F-4634-9F866D98A696}"/>
              </a:ext>
            </a:extLst>
          </p:cNvPr>
          <p:cNvSpPr txBox="1"/>
          <p:nvPr/>
        </p:nvSpPr>
        <p:spPr>
          <a:xfrm>
            <a:off x="1454453" y="3982747"/>
            <a:ext cx="12740216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x-none" b="1" dirty="0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TABLE </a:t>
            </a:r>
            <a:r>
              <a:rPr kumimoji="1" lang="x-none" altLang="en-US" b="1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생성</a:t>
            </a:r>
            <a:r>
              <a:rPr kumimoji="1" lang="ko-KR" altLang="en-US" b="1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 쿼리문</a:t>
            </a:r>
            <a:endParaRPr kumimoji="1" lang="en-US" altLang="x-none" b="1" dirty="0">
              <a:solidFill>
                <a:schemeClr val="bg2"/>
              </a:solidFill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  <a:p>
            <a:endParaRPr kumimoji="1" lang="en-US" altLang="x-none" sz="1200" b="1" dirty="0">
              <a:solidFill>
                <a:schemeClr val="bg2"/>
              </a:solidFill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CREATE TABLE MOVIE (  	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영화정보 </a:t>
            </a:r>
          </a:p>
          <a:p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    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mo_num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NUMBER	PRIMARY KEY 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영화번호</a:t>
            </a:r>
          </a:p>
          <a:p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   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mo_title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varchar2(50) NOT NULL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영화 제목</a:t>
            </a:r>
          </a:p>
          <a:p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   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mo_actor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varchar2(20) NOT NULL 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영화 배우</a:t>
            </a:r>
          </a:p>
          <a:p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   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mo_gen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varchar2(15) CHECK   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영화 장르</a:t>
            </a:r>
          </a:p>
          <a:p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 	 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(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mo_gen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IN('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로맨스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', '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SF', '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액션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', '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스릴러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’</a:t>
            </a:r>
          </a:p>
          <a:p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	, '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드라마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', '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코미디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', '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판타지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', '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애니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'))  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장르의 입력 값 제한</a:t>
            </a:r>
          </a:p>
          <a:p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  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mo_super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varchar2(20) NOT NULL 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영화 감독</a:t>
            </a:r>
          </a:p>
          <a:p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);</a:t>
            </a: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    </a:t>
            </a:r>
            <a:endParaRPr kumimoji="1" lang="ko-KR" altLang="en-US" sz="120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</a:t>
            </a:r>
            <a:endParaRPr kumimoji="1" lang="x-none" altLang="en-US" sz="1200" b="1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7F4720-3790-23E8-9DE0-65F765941299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  <a:endParaRPr lang="ko-KR" altLang="en-US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E9AC0B-1101-9C7F-AADE-1249672E6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7</a:t>
            </a:fld>
            <a:endParaRPr lang="ko-KR" altLang="en-US"/>
          </a:p>
        </p:txBody>
      </p:sp>
      <p:cxnSp>
        <p:nvCxnSpPr>
          <p:cNvPr id="2" name="직선 연결선 3">
            <a:extLst>
              <a:ext uri="{FF2B5EF4-FFF2-40B4-BE49-F238E27FC236}">
                <a16:creationId xmlns:a16="http://schemas.microsoft.com/office/drawing/2014/main" id="{E86AFF1E-77FF-BA6A-344B-5165C98D51FB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3734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3">
            <a:extLst>
              <a:ext uri="{FF2B5EF4-FFF2-40B4-BE49-F238E27FC236}">
                <a16:creationId xmlns:a16="http://schemas.microsoft.com/office/drawing/2014/main" id="{9A1C6BFE-BA74-F81C-7674-C85DCBC10458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333559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2B2EA8B-F746-236A-159B-131E68DDBF97}"/>
              </a:ext>
            </a:extLst>
          </p:cNvPr>
          <p:cNvSpPr txBox="1"/>
          <p:nvPr/>
        </p:nvSpPr>
        <p:spPr>
          <a:xfrm>
            <a:off x="208931" y="0"/>
            <a:ext cx="514885" cy="3348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gradFill>
                  <a:gsLst>
                    <a:gs pos="0">
                      <a:srgbClr val="765661"/>
                    </a:gs>
                    <a:gs pos="100000">
                      <a:srgbClr val="76566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  <a:endParaRPr lang="en-US" altLang="ko-KR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  <a:endParaRPr lang="ko-KR" altLang="en-US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209CCBB-4948-CBAC-BDFC-07FF709C6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4983764"/>
              </p:ext>
            </p:extLst>
          </p:nvPr>
        </p:nvGraphicFramePr>
        <p:xfrm>
          <a:off x="1250032" y="1277305"/>
          <a:ext cx="10103768" cy="236737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73812">
                  <a:extLst>
                    <a:ext uri="{9D8B030D-6E8A-4147-A177-3AD203B41FA5}">
                      <a16:colId xmlns:a16="http://schemas.microsoft.com/office/drawing/2014/main" val="142963213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2226787622"/>
                    </a:ext>
                  </a:extLst>
                </a:gridCol>
                <a:gridCol w="851192">
                  <a:extLst>
                    <a:ext uri="{9D8B030D-6E8A-4147-A177-3AD203B41FA5}">
                      <a16:colId xmlns:a16="http://schemas.microsoft.com/office/drawing/2014/main" val="385443429"/>
                    </a:ext>
                  </a:extLst>
                </a:gridCol>
                <a:gridCol w="1547623">
                  <a:extLst>
                    <a:ext uri="{9D8B030D-6E8A-4147-A177-3AD203B41FA5}">
                      <a16:colId xmlns:a16="http://schemas.microsoft.com/office/drawing/2014/main" val="2050574748"/>
                    </a:ext>
                  </a:extLst>
                </a:gridCol>
                <a:gridCol w="1547623">
                  <a:extLst>
                    <a:ext uri="{9D8B030D-6E8A-4147-A177-3AD203B41FA5}">
                      <a16:colId xmlns:a16="http://schemas.microsoft.com/office/drawing/2014/main" val="724345838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2501545399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503388054"/>
                    </a:ext>
                  </a:extLst>
                </a:gridCol>
                <a:gridCol w="3062082">
                  <a:extLst>
                    <a:ext uri="{9D8B030D-6E8A-4147-A177-3AD203B41FA5}">
                      <a16:colId xmlns:a16="http://schemas.microsoft.com/office/drawing/2014/main" val="3226501516"/>
                    </a:ext>
                  </a:extLst>
                </a:gridCol>
              </a:tblGrid>
              <a:tr h="437053">
                <a:tc gridSpan="2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테이블명 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상영일정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데이터베이스명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800" b="1" i="0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ORCL</a:t>
                      </a:r>
                      <a:endParaRPr lang="x-none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fontAlgn="ctr"/>
                      <a:r>
                        <a:rPr lang="x-none" altLang="en-US" dirty="0">
                          <a:effectLst/>
                        </a:rPr>
                        <a:t> </a:t>
                      </a:r>
                    </a:p>
                  </a:txBody>
                  <a:tcPr marL="9525" marR="95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67832"/>
                  </a:ext>
                </a:extLst>
              </a:tr>
              <a:tr h="291369">
                <a:tc gridSpan="2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</a:t>
                      </a: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ID 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SHOW_DAY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 설명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각 영화에 상영 일정 및 시간</a:t>
                      </a:r>
                      <a:r>
                        <a:rPr lang="en-US" altLang="ko-KR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, </a:t>
                      </a: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상영관에 대한 정보를 기술하는 테이블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30929"/>
                  </a:ext>
                </a:extLst>
              </a:tr>
              <a:tr h="291369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순번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컬럼명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컬럼</a:t>
                      </a: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ID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타입 및 길이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NULL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PK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FK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설명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908054062"/>
                  </a:ext>
                </a:extLst>
              </a:tr>
              <a:tr h="273158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1</a:t>
                      </a:r>
                      <a:endParaRPr lang="x-none" alt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일정번호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Sh_num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Number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yes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Primary key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057682438"/>
                  </a:ext>
                </a:extLst>
              </a:tr>
              <a:tr h="273158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2</a:t>
                      </a:r>
                      <a:endParaRPr lang="x-none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상영시간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Sh_time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date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1" i="0" u="none" strike="noStrike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220598725"/>
                  </a:ext>
                </a:extLst>
              </a:tr>
              <a:tr h="400632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3</a:t>
                      </a:r>
                      <a:endParaRPr lang="x-none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상영관번호</a:t>
                      </a:r>
                      <a:endParaRPr lang="ko-KR" alt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Sh_moiven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Number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x-none" altLang="en-US" sz="1100" b="1" i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 </a:t>
                      </a:r>
                      <a:r>
                        <a:rPr lang="en-US" alt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Unique</a:t>
                      </a:r>
                      <a:endParaRPr lang="x-none" alt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493440180"/>
                  </a:ext>
                </a:extLst>
              </a:tr>
              <a:tr h="400632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4</a:t>
                      </a:r>
                      <a:endParaRPr lang="x-none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영화번호</a:t>
                      </a:r>
                      <a:endParaRPr lang="ko-KR" alt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Mo_num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number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yes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x-none" altLang="en-US" sz="1100" b="1" i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 </a:t>
                      </a:r>
                      <a:r>
                        <a:rPr lang="en-US" alt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Reference </a:t>
                      </a:r>
                      <a:r>
                        <a:rPr lang="en-US" altLang="en-US" sz="1100" b="1" i="0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moive</a:t>
                      </a:r>
                      <a:endParaRPr lang="x-none" alt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878448152"/>
                  </a:ext>
                </a:extLst>
              </a:tr>
            </a:tbl>
          </a:graphicData>
        </a:graphic>
      </p:graphicFrame>
      <p:sp>
        <p:nvSpPr>
          <p:cNvPr id="12" name="Rectangle 2">
            <a:extLst>
              <a:ext uri="{FF2B5EF4-FFF2-40B4-BE49-F238E27FC236}">
                <a16:creationId xmlns:a16="http://schemas.microsoft.com/office/drawing/2014/main" id="{695A807E-4ACF-81EE-7589-3F3434D16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075" y="26606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x-none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6417DF-81B4-728A-2B86-333DBD369CBF}"/>
              </a:ext>
            </a:extLst>
          </p:cNvPr>
          <p:cNvSpPr txBox="1"/>
          <p:nvPr/>
        </p:nvSpPr>
        <p:spPr>
          <a:xfrm>
            <a:off x="1178288" y="263889"/>
            <a:ext cx="101037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Table Statement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&amp;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Query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endParaRPr kumimoji="1" lang="x-none" altLang="en-US" sz="40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16166BE-9D0C-EA3C-8B6E-7F96011EA8A1}"/>
              </a:ext>
            </a:extLst>
          </p:cNvPr>
          <p:cNvSpPr/>
          <p:nvPr/>
        </p:nvSpPr>
        <p:spPr>
          <a:xfrm>
            <a:off x="1282622" y="3841709"/>
            <a:ext cx="10103766" cy="251613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4E92B8-B4E5-201F-4634-9F866D98A696}"/>
              </a:ext>
            </a:extLst>
          </p:cNvPr>
          <p:cNvSpPr txBox="1"/>
          <p:nvPr/>
        </p:nvSpPr>
        <p:spPr>
          <a:xfrm>
            <a:off x="1454453" y="3982747"/>
            <a:ext cx="12740216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x-none" b="1" dirty="0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TABLE </a:t>
            </a:r>
            <a:r>
              <a:rPr kumimoji="1" lang="x-none" altLang="en-US" b="1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생성</a:t>
            </a:r>
            <a:r>
              <a:rPr kumimoji="1" lang="ko-KR" altLang="en-US" b="1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 쿼리문</a:t>
            </a:r>
            <a:endParaRPr kumimoji="1" lang="en-US" altLang="x-none" sz="1200" b="1" dirty="0">
              <a:solidFill>
                <a:schemeClr val="bg2"/>
              </a:solidFill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CREATE TABLE SHOW_DAY (  	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상영정보 </a:t>
            </a:r>
          </a:p>
          <a:p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sh_num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NUMBER  	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일정 번호</a:t>
            </a:r>
          </a:p>
          <a:p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sh_time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DATE   	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상영 시간</a:t>
            </a:r>
          </a:p>
          <a:p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sh_movien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NUMBER NOT NULL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상영관 번호</a:t>
            </a:r>
          </a:p>
          <a:p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mo_num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NUMBER  	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영화 번호 </a:t>
            </a:r>
          </a:p>
          <a:p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CONSTRAINT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show_pk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</a:p>
          <a:p>
            <a:endParaRPr kumimoji="1" lang="en-US" altLang="x-none" sz="120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PRIMARY KEY (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sh_num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 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일정 번호를 기본키로 지정</a:t>
            </a:r>
          </a:p>
          <a:p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FOREIGN KEY (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mo_num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 REFERENCES MOVIE(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mo_num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 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영화 번호를 영화테이블의 영화 번호를 참조하는 외래키로 지정</a:t>
            </a:r>
          </a:p>
          <a:p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UNIQUE (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sh_movien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 	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상영관 번호는 중복되어선 안됨 됨</a:t>
            </a:r>
          </a:p>
          <a:p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);</a:t>
            </a:r>
            <a:endParaRPr kumimoji="1" lang="x-none" altLang="en-US" sz="1200" b="1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AE0A0D-3EEF-14F1-55D7-297E71FBE5FB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  <a:endParaRPr lang="ko-KR" altLang="en-US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52C4EED-E810-B9DB-3A1B-725BA6531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8</a:t>
            </a:fld>
            <a:endParaRPr lang="ko-KR" altLang="en-US"/>
          </a:p>
        </p:txBody>
      </p:sp>
      <p:cxnSp>
        <p:nvCxnSpPr>
          <p:cNvPr id="6" name="직선 연결선 3">
            <a:extLst>
              <a:ext uri="{FF2B5EF4-FFF2-40B4-BE49-F238E27FC236}">
                <a16:creationId xmlns:a16="http://schemas.microsoft.com/office/drawing/2014/main" id="{024F5E4D-4D9A-0DA6-71FA-57ACC0703CF1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470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3">
            <a:extLst>
              <a:ext uri="{FF2B5EF4-FFF2-40B4-BE49-F238E27FC236}">
                <a16:creationId xmlns:a16="http://schemas.microsoft.com/office/drawing/2014/main" id="{9A1C6BFE-BA74-F81C-7674-C85DCBC10458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333559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2B2EA8B-F746-236A-159B-131E68DDBF97}"/>
              </a:ext>
            </a:extLst>
          </p:cNvPr>
          <p:cNvSpPr txBox="1"/>
          <p:nvPr/>
        </p:nvSpPr>
        <p:spPr>
          <a:xfrm>
            <a:off x="208931" y="0"/>
            <a:ext cx="514885" cy="3348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gradFill>
                  <a:gsLst>
                    <a:gs pos="0">
                      <a:srgbClr val="765661"/>
                    </a:gs>
                    <a:gs pos="100000">
                      <a:srgbClr val="76566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  <a:endParaRPr lang="en-US" altLang="ko-KR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  <a:endParaRPr lang="ko-KR" altLang="en-US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209CCBB-4948-CBAC-BDFC-07FF709C6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1094388"/>
              </p:ext>
            </p:extLst>
          </p:nvPr>
        </p:nvGraphicFramePr>
        <p:xfrm>
          <a:off x="1282621" y="1235146"/>
          <a:ext cx="10103768" cy="248039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73812">
                  <a:extLst>
                    <a:ext uri="{9D8B030D-6E8A-4147-A177-3AD203B41FA5}">
                      <a16:colId xmlns:a16="http://schemas.microsoft.com/office/drawing/2014/main" val="142963213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2226787622"/>
                    </a:ext>
                  </a:extLst>
                </a:gridCol>
                <a:gridCol w="1385705">
                  <a:extLst>
                    <a:ext uri="{9D8B030D-6E8A-4147-A177-3AD203B41FA5}">
                      <a16:colId xmlns:a16="http://schemas.microsoft.com/office/drawing/2014/main" val="385443429"/>
                    </a:ext>
                  </a:extLst>
                </a:gridCol>
                <a:gridCol w="1013110">
                  <a:extLst>
                    <a:ext uri="{9D8B030D-6E8A-4147-A177-3AD203B41FA5}">
                      <a16:colId xmlns:a16="http://schemas.microsoft.com/office/drawing/2014/main" val="2050574748"/>
                    </a:ext>
                  </a:extLst>
                </a:gridCol>
                <a:gridCol w="1547623">
                  <a:extLst>
                    <a:ext uri="{9D8B030D-6E8A-4147-A177-3AD203B41FA5}">
                      <a16:colId xmlns:a16="http://schemas.microsoft.com/office/drawing/2014/main" val="724345838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2501545399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503388054"/>
                    </a:ext>
                  </a:extLst>
                </a:gridCol>
                <a:gridCol w="3062082">
                  <a:extLst>
                    <a:ext uri="{9D8B030D-6E8A-4147-A177-3AD203B41FA5}">
                      <a16:colId xmlns:a16="http://schemas.microsoft.com/office/drawing/2014/main" val="3226501516"/>
                    </a:ext>
                  </a:extLst>
                </a:gridCol>
              </a:tblGrid>
              <a:tr h="520826">
                <a:tc gridSpan="2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테이블명</a:t>
                      </a: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 </a:t>
                      </a:r>
                      <a:endParaRPr lang="ko-KR" alt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영화관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데이터베이스명</a:t>
                      </a:r>
                      <a:endParaRPr lang="ko-KR" alt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000" b="1" i="0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ORCL</a:t>
                      </a:r>
                      <a:endParaRPr lang="x-none" alt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fontAlgn="ctr"/>
                      <a:r>
                        <a:rPr lang="x-none" altLang="en-US" dirty="0">
                          <a:effectLst/>
                        </a:rPr>
                        <a:t> </a:t>
                      </a:r>
                    </a:p>
                  </a:txBody>
                  <a:tcPr marL="9525" marR="95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67832"/>
                  </a:ext>
                </a:extLst>
              </a:tr>
              <a:tr h="605573">
                <a:tc gridSpan="2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</a:t>
                      </a: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ID </a:t>
                      </a:r>
                      <a:endParaRPr 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1" i="0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MOVIE_ROUNGE</a:t>
                      </a:r>
                      <a:endParaRPr lang="en-US" sz="11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 설명</a:t>
                      </a:r>
                      <a:endParaRPr lang="ko-KR" alt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회원에 대한 정보를 기술하는 테이블</a:t>
                      </a:r>
                      <a:endParaRPr lang="ko-KR" alt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30929"/>
                  </a:ext>
                </a:extLst>
              </a:tr>
              <a:tr h="318587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765661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순번</a:t>
                      </a:r>
                      <a:endParaRPr lang="ko-KR" altLang="en-US" sz="1000" b="1" i="0" dirty="0">
                        <a:solidFill>
                          <a:srgbClr val="765661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컬럼명</a:t>
                      </a:r>
                      <a:endParaRPr lang="ko-KR" alt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컬럼</a:t>
                      </a: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ID</a:t>
                      </a:r>
                      <a:endParaRPr 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타입 및 길이</a:t>
                      </a:r>
                      <a:endParaRPr lang="ko-KR" alt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NULL</a:t>
                      </a:r>
                      <a:endParaRPr 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PK</a:t>
                      </a:r>
                      <a:endParaRPr 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FK</a:t>
                      </a:r>
                      <a:endParaRPr 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설명</a:t>
                      </a:r>
                      <a:endParaRPr lang="ko-KR" alt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908054062"/>
                  </a:ext>
                </a:extLst>
              </a:tr>
              <a:tr h="298675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1</a:t>
                      </a:r>
                      <a:endParaRPr lang="x-none" alt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상영관번호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ro_num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number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yes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Reference </a:t>
                      </a:r>
                      <a:r>
                        <a:rPr lang="en-US" sz="11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show_day</a:t>
                      </a: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(</a:t>
                      </a:r>
                      <a:r>
                        <a:rPr lang="en-US" sz="11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sh_movien</a:t>
                      </a: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)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057682438"/>
                  </a:ext>
                </a:extLst>
              </a:tr>
              <a:tr h="298675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2</a:t>
                      </a:r>
                      <a:endParaRPr lang="x-none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총좌석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ro_seet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number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Check</a:t>
                      </a:r>
                      <a:r>
                        <a:rPr lang="en-US" sz="1100" b="1" i="0" baseline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 (</a:t>
                      </a:r>
                      <a:r>
                        <a:rPr lang="en-US" sz="1100" b="1" i="0" baseline="0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ro_seet</a:t>
                      </a:r>
                      <a:r>
                        <a:rPr lang="en-US" sz="1100" b="1" i="0" baseline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&lt;=200)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220598725"/>
                  </a:ext>
                </a:extLst>
              </a:tr>
              <a:tr h="438057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3</a:t>
                      </a:r>
                      <a:endParaRPr lang="x-none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잔여좌석</a:t>
                      </a:r>
                      <a:endParaRPr lang="ko-KR" alt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re_seet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number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fontAlgn="ctr"/>
                      <a:r>
                        <a:rPr lang="x-none" alt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 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493440180"/>
                  </a:ext>
                </a:extLst>
              </a:tr>
            </a:tbl>
          </a:graphicData>
        </a:graphic>
      </p:graphicFrame>
      <p:sp>
        <p:nvSpPr>
          <p:cNvPr id="12" name="Rectangle 2">
            <a:extLst>
              <a:ext uri="{FF2B5EF4-FFF2-40B4-BE49-F238E27FC236}">
                <a16:creationId xmlns:a16="http://schemas.microsoft.com/office/drawing/2014/main" id="{695A807E-4ACF-81EE-7589-3F3434D16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075" y="26606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x-none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6417DF-81B4-728A-2B86-333DBD369CBF}"/>
              </a:ext>
            </a:extLst>
          </p:cNvPr>
          <p:cNvSpPr txBox="1"/>
          <p:nvPr/>
        </p:nvSpPr>
        <p:spPr>
          <a:xfrm>
            <a:off x="1178288" y="263889"/>
            <a:ext cx="101037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Table Statement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&amp;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Query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endParaRPr kumimoji="1" lang="x-none" altLang="en-US" sz="40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16166BE-9D0C-EA3C-8B6E-7F96011EA8A1}"/>
              </a:ext>
            </a:extLst>
          </p:cNvPr>
          <p:cNvSpPr/>
          <p:nvPr/>
        </p:nvSpPr>
        <p:spPr>
          <a:xfrm>
            <a:off x="1282622" y="3841709"/>
            <a:ext cx="10103766" cy="251613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4E92B8-B4E5-201F-4634-9F866D98A696}"/>
              </a:ext>
            </a:extLst>
          </p:cNvPr>
          <p:cNvSpPr txBox="1"/>
          <p:nvPr/>
        </p:nvSpPr>
        <p:spPr>
          <a:xfrm>
            <a:off x="1405901" y="3974592"/>
            <a:ext cx="1274021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x-none" b="1" dirty="0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TABLE </a:t>
            </a:r>
            <a:r>
              <a:rPr kumimoji="1" lang="x-none" altLang="en-US" b="1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생성</a:t>
            </a:r>
            <a:r>
              <a:rPr kumimoji="1" lang="ko-KR" altLang="en-US" b="1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 쿼리문</a:t>
            </a:r>
            <a:endParaRPr kumimoji="1" lang="en-US" altLang="x-none" b="1" dirty="0">
              <a:solidFill>
                <a:schemeClr val="bg2"/>
              </a:solidFill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  <a:p>
            <a:endParaRPr kumimoji="1" lang="en-US" altLang="x-none" sz="120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CREATE TABLE MOVIE_ROUNGE (  		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영화관 </a:t>
            </a:r>
          </a:p>
          <a:p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ro_num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NUMBER   		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상영관 번호</a:t>
            </a:r>
          </a:p>
          <a:p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ro_seet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NUMBER CHECK (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ro_seet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&lt;= 200) 			</a:t>
            </a:r>
            <a:r>
              <a:rPr kumimoji="1" lang="ko-KR" altLang="en-US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총좌석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좌석은 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200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개가 넘지 않도록 제한 </a:t>
            </a:r>
          </a:p>
          <a:p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     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,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re_seet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 	NUMBER NOT NULL 	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잔여 좌석</a:t>
            </a:r>
            <a:endParaRPr kumimoji="1" lang="en-US" altLang="x-none" sz="120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endParaRPr kumimoji="1" lang="en-US" altLang="x-none" sz="120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, CONSTRAINT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rounge_fk</a:t>
            </a:r>
            <a:endParaRPr kumimoji="1" lang="en-US" altLang="x-none" sz="120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 FOREIGN KEY (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ro_num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 REFERENCES SHOW_DAY(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sh_movien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	</a:t>
            </a:r>
            <a:r>
              <a:rPr kumimoji="1" lang="ko-KR" altLang="en-US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부모테이블인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SHOW_DAY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의 </a:t>
            </a:r>
            <a:r>
              <a:rPr kumimoji="1" lang="en-US" altLang="ko-KR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sh_movien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과</a:t>
            </a:r>
            <a:endParaRPr kumimoji="1" lang="en-US" altLang="x-none" sz="120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);				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자식 테이블인 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MOVIE_ROUNGE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ko-KR" altLang="en-US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외래키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지정</a:t>
            </a:r>
            <a:endParaRPr kumimoji="1" lang="en-US" altLang="x-none" sz="120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endParaRPr kumimoji="1" lang="x-none" altLang="en-US" sz="1200" b="1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AE0A0D-3EEF-14F1-55D7-297E71FBE5FB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  <a:endParaRPr lang="ko-KR" altLang="en-US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31BAA3D-54D7-E722-4B88-0B1370B1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9</a:t>
            </a:fld>
            <a:endParaRPr lang="ko-KR" altLang="en-US"/>
          </a:p>
        </p:txBody>
      </p:sp>
      <p:cxnSp>
        <p:nvCxnSpPr>
          <p:cNvPr id="6" name="직선 연결선 3">
            <a:extLst>
              <a:ext uri="{FF2B5EF4-FFF2-40B4-BE49-F238E27FC236}">
                <a16:creationId xmlns:a16="http://schemas.microsoft.com/office/drawing/2014/main" id="{D7FF676B-5193-7EF0-F692-4CEFCDF14D2D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93918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3">
            <a:extLst>
              <a:ext uri="{FF2B5EF4-FFF2-40B4-BE49-F238E27FC236}">
                <a16:creationId xmlns:a16="http://schemas.microsoft.com/office/drawing/2014/main" id="{9A1C6BFE-BA74-F81C-7674-C85DCBC10458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333559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2B2EA8B-F746-236A-159B-131E68DDBF97}"/>
              </a:ext>
            </a:extLst>
          </p:cNvPr>
          <p:cNvSpPr txBox="1"/>
          <p:nvPr/>
        </p:nvSpPr>
        <p:spPr>
          <a:xfrm>
            <a:off x="208931" y="0"/>
            <a:ext cx="514885" cy="3348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gradFill>
                  <a:gsLst>
                    <a:gs pos="0">
                      <a:srgbClr val="765661"/>
                    </a:gs>
                    <a:gs pos="100000">
                      <a:srgbClr val="76566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  <a:endParaRPr lang="en-US" altLang="ko-KR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  <a:endParaRPr lang="ko-KR" altLang="en-US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209CCBB-4948-CBAC-BDFC-07FF709C6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3830072"/>
              </p:ext>
            </p:extLst>
          </p:nvPr>
        </p:nvGraphicFramePr>
        <p:xfrm>
          <a:off x="1282620" y="1259421"/>
          <a:ext cx="10103768" cy="248073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73812">
                  <a:extLst>
                    <a:ext uri="{9D8B030D-6E8A-4147-A177-3AD203B41FA5}">
                      <a16:colId xmlns:a16="http://schemas.microsoft.com/office/drawing/2014/main" val="142963213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2226787622"/>
                    </a:ext>
                  </a:extLst>
                </a:gridCol>
                <a:gridCol w="851192">
                  <a:extLst>
                    <a:ext uri="{9D8B030D-6E8A-4147-A177-3AD203B41FA5}">
                      <a16:colId xmlns:a16="http://schemas.microsoft.com/office/drawing/2014/main" val="385443429"/>
                    </a:ext>
                  </a:extLst>
                </a:gridCol>
                <a:gridCol w="1547623">
                  <a:extLst>
                    <a:ext uri="{9D8B030D-6E8A-4147-A177-3AD203B41FA5}">
                      <a16:colId xmlns:a16="http://schemas.microsoft.com/office/drawing/2014/main" val="2050574748"/>
                    </a:ext>
                  </a:extLst>
                </a:gridCol>
                <a:gridCol w="1547623">
                  <a:extLst>
                    <a:ext uri="{9D8B030D-6E8A-4147-A177-3AD203B41FA5}">
                      <a16:colId xmlns:a16="http://schemas.microsoft.com/office/drawing/2014/main" val="724345838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2501545399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503388054"/>
                    </a:ext>
                  </a:extLst>
                </a:gridCol>
                <a:gridCol w="3062082">
                  <a:extLst>
                    <a:ext uri="{9D8B030D-6E8A-4147-A177-3AD203B41FA5}">
                      <a16:colId xmlns:a16="http://schemas.microsoft.com/office/drawing/2014/main" val="3226501516"/>
                    </a:ext>
                  </a:extLst>
                </a:gridCol>
              </a:tblGrid>
              <a:tr h="496146">
                <a:tc gridSpan="2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테이블명 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예매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데이터베이스명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800" b="1" i="0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ORCL</a:t>
                      </a:r>
                      <a:endParaRPr lang="x-none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fontAlgn="ctr"/>
                      <a:r>
                        <a:rPr lang="x-none" altLang="en-US" dirty="0">
                          <a:effectLst/>
                        </a:rPr>
                        <a:t> </a:t>
                      </a:r>
                    </a:p>
                  </a:txBody>
                  <a:tcPr marL="9525" marR="95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67832"/>
                  </a:ext>
                </a:extLst>
              </a:tr>
              <a:tr h="330764">
                <a:tc gridSpan="2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</a:t>
                      </a: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ID 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dirty="0" err="1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ticketting</a:t>
                      </a:r>
                      <a:endParaRPr 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 설명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예매할 때 </a:t>
                      </a:r>
                      <a:r>
                        <a:rPr lang="ko-KR" altLang="en-US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필때</a:t>
                      </a: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 필요한  정보를 기술하는 테이블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30929"/>
                  </a:ext>
                </a:extLst>
              </a:tr>
              <a:tr h="33076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순번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컬럼명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컬럼</a:t>
                      </a: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ID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타입 및 길이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NULL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PK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FK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설명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908054062"/>
                  </a:ext>
                </a:extLst>
              </a:tr>
              <a:tr h="33076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1</a:t>
                      </a:r>
                      <a:endParaRPr lang="x-none" alt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예매번호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Ti_num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number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yes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Primary key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057682438"/>
                  </a:ext>
                </a:extLst>
              </a:tr>
              <a:tr h="33076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0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2</a:t>
                      </a:r>
                      <a:endParaRPr lang="x-none" altLang="en-US" sz="10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일정번호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Sh_num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varchar2(15)</a:t>
                      </a:r>
                      <a:endParaRPr lang="en-US" sz="10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0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yes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Reference</a:t>
                      </a:r>
                      <a:r>
                        <a:rPr lang="en-US" sz="1000" b="1" i="0" baseline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 </a:t>
                      </a:r>
                      <a:r>
                        <a:rPr lang="en-US" sz="1000" b="1" i="0" baseline="0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show_day</a:t>
                      </a:r>
                      <a:r>
                        <a:rPr lang="en-US" sz="1000" b="1" i="0" baseline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 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220598725"/>
                  </a:ext>
                </a:extLst>
              </a:tr>
              <a:tr h="33076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0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3</a:t>
                      </a:r>
                      <a:endParaRPr lang="x-none" altLang="en-US" sz="10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회원번호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Cos_num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varchar2(15)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yes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en-US" sz="10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Reference</a:t>
                      </a:r>
                      <a:r>
                        <a:rPr lang="en-US" altLang="en-US" sz="1000" b="1" i="0" baseline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 customer </a:t>
                      </a:r>
                      <a:endParaRPr lang="x-none" alt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493440180"/>
                  </a:ext>
                </a:extLst>
              </a:tr>
              <a:tr h="33076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0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4</a:t>
                      </a:r>
                      <a:endParaRPr lang="x-none" altLang="en-US" sz="10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총인원</a:t>
                      </a:r>
                      <a:endParaRPr lang="ko-KR" alt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Ti_nop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varchar2(13)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x-none" altLang="en-US" sz="10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 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1878448152"/>
                  </a:ext>
                </a:extLst>
              </a:tr>
            </a:tbl>
          </a:graphicData>
        </a:graphic>
      </p:graphicFrame>
      <p:sp>
        <p:nvSpPr>
          <p:cNvPr id="12" name="Rectangle 2">
            <a:extLst>
              <a:ext uri="{FF2B5EF4-FFF2-40B4-BE49-F238E27FC236}">
                <a16:creationId xmlns:a16="http://schemas.microsoft.com/office/drawing/2014/main" id="{695A807E-4ACF-81EE-7589-3F3434D16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075" y="26606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x-none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6417DF-81B4-728A-2B86-333DBD369CBF}"/>
              </a:ext>
            </a:extLst>
          </p:cNvPr>
          <p:cNvSpPr txBox="1"/>
          <p:nvPr/>
        </p:nvSpPr>
        <p:spPr>
          <a:xfrm>
            <a:off x="1178288" y="263889"/>
            <a:ext cx="101037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Table Statement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&amp;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Query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endParaRPr kumimoji="1" lang="x-none" altLang="en-US" sz="40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16166BE-9D0C-EA3C-8B6E-7F96011EA8A1}"/>
              </a:ext>
            </a:extLst>
          </p:cNvPr>
          <p:cNvSpPr/>
          <p:nvPr/>
        </p:nvSpPr>
        <p:spPr>
          <a:xfrm>
            <a:off x="1282622" y="3841709"/>
            <a:ext cx="10103766" cy="251613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4E92B8-B4E5-201F-4634-9F866D98A696}"/>
              </a:ext>
            </a:extLst>
          </p:cNvPr>
          <p:cNvSpPr txBox="1"/>
          <p:nvPr/>
        </p:nvSpPr>
        <p:spPr>
          <a:xfrm>
            <a:off x="1282620" y="3902479"/>
            <a:ext cx="12740216" cy="24699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x-none" b="1" dirty="0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TABLE </a:t>
            </a:r>
            <a:r>
              <a:rPr kumimoji="1" lang="x-none" altLang="en-US" b="1" dirty="0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생성</a:t>
            </a:r>
            <a:r>
              <a:rPr kumimoji="1" lang="ko-KR" altLang="en-US" b="1" dirty="0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 </a:t>
            </a:r>
            <a:r>
              <a:rPr kumimoji="1" lang="ko-KR" altLang="en-US" b="1" dirty="0" err="1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쿼리문</a:t>
            </a:r>
            <a:endParaRPr kumimoji="1" lang="en-US" altLang="x-none" b="1" dirty="0">
              <a:solidFill>
                <a:schemeClr val="bg2"/>
              </a:solidFill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  <a:p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CREATE TABLE TICKETTING (  					</a:t>
            </a:r>
            <a:r>
              <a:rPr kumimoji="1" lang="ko-KR" altLang="en-US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예매정보 </a:t>
            </a:r>
          </a:p>
          <a:p>
            <a:r>
              <a:rPr kumimoji="1" lang="ko-KR" altLang="en-US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 </a:t>
            </a:r>
            <a:r>
              <a:rPr kumimoji="1" lang="en-US" altLang="x-none" sz="105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ti_num</a:t>
            </a:r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number	 				</a:t>
            </a:r>
            <a:r>
              <a:rPr kumimoji="1" lang="ko-KR" altLang="en-US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예매번호</a:t>
            </a:r>
            <a:endParaRPr kumimoji="1" lang="en-US" altLang="x-none" sz="105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, </a:t>
            </a:r>
            <a:r>
              <a:rPr kumimoji="1" lang="en-US" altLang="x-none" sz="105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sh_num</a:t>
            </a:r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number					</a:t>
            </a:r>
            <a:r>
              <a:rPr kumimoji="1" lang="ko-KR" altLang="en-US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일정번호</a:t>
            </a:r>
            <a:endParaRPr kumimoji="1" lang="en-US" altLang="x-none" sz="105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, </a:t>
            </a:r>
            <a:r>
              <a:rPr kumimoji="1" lang="en-US" altLang="x-none" sz="105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cos_num</a:t>
            </a:r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number					</a:t>
            </a:r>
            <a:r>
              <a:rPr kumimoji="1" lang="ko-KR" altLang="en-US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회원번호</a:t>
            </a:r>
            <a:endParaRPr kumimoji="1" lang="en-US" altLang="x-none" sz="105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, </a:t>
            </a:r>
            <a:r>
              <a:rPr kumimoji="1" lang="en-US" altLang="x-none" sz="105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ti_nop</a:t>
            </a:r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NUMBER	NOT NULL				</a:t>
            </a:r>
            <a:r>
              <a:rPr kumimoji="1" lang="ko-KR" altLang="en-US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인원수</a:t>
            </a:r>
            <a:endParaRPr kumimoji="1" lang="en-US" altLang="x-none" sz="105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, CONSTRAINT </a:t>
            </a:r>
            <a:r>
              <a:rPr kumimoji="1" lang="en-US" altLang="x-none" sz="105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ticket_pk</a:t>
            </a:r>
            <a:endParaRPr kumimoji="1" lang="en-US" altLang="x-none" sz="105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   PRIMARY KEY (</a:t>
            </a:r>
            <a:r>
              <a:rPr kumimoji="1" lang="en-US" altLang="x-none" sz="105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ti_num</a:t>
            </a:r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  					</a:t>
            </a:r>
            <a:r>
              <a:rPr kumimoji="1" lang="ko-KR" altLang="en-US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예매번호를 기본키로 지정</a:t>
            </a:r>
            <a:endParaRPr kumimoji="1" lang="en-US" altLang="x-none" sz="105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 , FOREIGN KEY (</a:t>
            </a:r>
            <a:r>
              <a:rPr kumimoji="1" lang="en-US" altLang="x-none" sz="105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sh_num</a:t>
            </a:r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 REFERENCES SHOW_DAY (</a:t>
            </a:r>
            <a:r>
              <a:rPr kumimoji="1" lang="en-US" altLang="x-none" sz="105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sh_num</a:t>
            </a:r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 </a:t>
            </a:r>
          </a:p>
          <a:p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  ON DELETE SET NULL  					</a:t>
            </a:r>
            <a:r>
              <a:rPr kumimoji="1" lang="ko-KR" altLang="en-US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일정번호 </a:t>
            </a:r>
            <a:r>
              <a:rPr kumimoji="1" lang="ko-KR" altLang="en-US" sz="105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외래외래키로</a:t>
            </a:r>
            <a:r>
              <a:rPr kumimoji="1" lang="ko-KR" altLang="en-US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지정하며 부모 테이블인 </a:t>
            </a:r>
            <a:endParaRPr kumimoji="1" lang="en-US" altLang="x-none" sz="105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 , FOREIGN KEY (</a:t>
            </a:r>
            <a:r>
              <a:rPr kumimoji="1" lang="en-US" altLang="x-none" sz="105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cos_num</a:t>
            </a:r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 REFERENCES CUSTOMER (</a:t>
            </a:r>
            <a:r>
              <a:rPr kumimoji="1" lang="en-US" altLang="x-none" sz="105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cos_num</a:t>
            </a:r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		SHOW_DAY	</a:t>
            </a:r>
            <a:r>
              <a:rPr kumimoji="1" lang="ko-KR" altLang="en-US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테이블에 정보 삭제 시 </a:t>
            </a:r>
            <a:r>
              <a:rPr kumimoji="1" lang="en-US" altLang="ko-KR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NULL</a:t>
            </a:r>
            <a:r>
              <a:rPr kumimoji="1" lang="ko-KR" altLang="en-US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로 보존</a:t>
            </a:r>
            <a:endParaRPr kumimoji="1" lang="en-US" altLang="x-none" sz="105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  ON DELETE SET NULL  					</a:t>
            </a:r>
            <a:r>
              <a:rPr kumimoji="1" lang="ko-KR" altLang="en-US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회원번호 </a:t>
            </a:r>
            <a:r>
              <a:rPr kumimoji="1" lang="ko-KR" altLang="en-US" sz="105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외래키</a:t>
            </a:r>
            <a:r>
              <a:rPr kumimoji="1" lang="ko-KR" altLang="en-US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지정</a:t>
            </a:r>
            <a:endParaRPr kumimoji="1" lang="en-US" altLang="x-none" sz="105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);							</a:t>
            </a:r>
            <a:r>
              <a:rPr kumimoji="1" lang="ko-KR" altLang="en-US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부모 테이블인 </a:t>
            </a:r>
            <a:r>
              <a:rPr kumimoji="1" lang="en-US" altLang="ko-KR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CUSTOMER</a:t>
            </a:r>
            <a:r>
              <a:rPr kumimoji="1" lang="ko-KR" altLang="en-US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에 정보 삭제되더라도 </a:t>
            </a:r>
            <a:endParaRPr kumimoji="1" lang="en-US" altLang="ko-KR" sz="105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en-US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						NULL</a:t>
            </a:r>
            <a:r>
              <a:rPr kumimoji="1" lang="ko-KR" altLang="en-US" sz="105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값으로 처리되며 정보유지 옵션지정 </a:t>
            </a:r>
            <a:endParaRPr kumimoji="1" lang="x-none" altLang="en-US" sz="1050" b="1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AE0A0D-3EEF-14F1-55D7-297E71FBE5FB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  <a:endParaRPr lang="ko-KR" altLang="en-US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0BF8737-21D2-D150-5778-E3C02956A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10</a:t>
            </a:fld>
            <a:endParaRPr lang="ko-KR" altLang="en-US"/>
          </a:p>
        </p:txBody>
      </p:sp>
      <p:cxnSp>
        <p:nvCxnSpPr>
          <p:cNvPr id="6" name="직선 연결선 3">
            <a:extLst>
              <a:ext uri="{FF2B5EF4-FFF2-40B4-BE49-F238E27FC236}">
                <a16:creationId xmlns:a16="http://schemas.microsoft.com/office/drawing/2014/main" id="{5CFC0FF4-08EE-18EB-2FA1-BA2976B1541B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8251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3">
            <a:extLst>
              <a:ext uri="{FF2B5EF4-FFF2-40B4-BE49-F238E27FC236}">
                <a16:creationId xmlns:a16="http://schemas.microsoft.com/office/drawing/2014/main" id="{9A1C6BFE-BA74-F81C-7674-C85DCBC10458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333559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2B2EA8B-F746-236A-159B-131E68DDBF97}"/>
              </a:ext>
            </a:extLst>
          </p:cNvPr>
          <p:cNvSpPr txBox="1"/>
          <p:nvPr/>
        </p:nvSpPr>
        <p:spPr>
          <a:xfrm>
            <a:off x="208931" y="0"/>
            <a:ext cx="514885" cy="3348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gradFill>
                  <a:gsLst>
                    <a:gs pos="0">
                      <a:srgbClr val="765661"/>
                    </a:gs>
                    <a:gs pos="100000">
                      <a:srgbClr val="76566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  <a:endParaRPr lang="en-US" altLang="ko-KR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  <a:endParaRPr lang="ko-KR" altLang="en-US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209CCBB-4948-CBAC-BDFC-07FF709C6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2293261"/>
              </p:ext>
            </p:extLst>
          </p:nvPr>
        </p:nvGraphicFramePr>
        <p:xfrm>
          <a:off x="1282621" y="1235146"/>
          <a:ext cx="10103768" cy="236736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73812">
                  <a:extLst>
                    <a:ext uri="{9D8B030D-6E8A-4147-A177-3AD203B41FA5}">
                      <a16:colId xmlns:a16="http://schemas.microsoft.com/office/drawing/2014/main" val="142963213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2226787622"/>
                    </a:ext>
                  </a:extLst>
                </a:gridCol>
                <a:gridCol w="851192">
                  <a:extLst>
                    <a:ext uri="{9D8B030D-6E8A-4147-A177-3AD203B41FA5}">
                      <a16:colId xmlns:a16="http://schemas.microsoft.com/office/drawing/2014/main" val="385443429"/>
                    </a:ext>
                  </a:extLst>
                </a:gridCol>
                <a:gridCol w="1547623">
                  <a:extLst>
                    <a:ext uri="{9D8B030D-6E8A-4147-A177-3AD203B41FA5}">
                      <a16:colId xmlns:a16="http://schemas.microsoft.com/office/drawing/2014/main" val="2050574748"/>
                    </a:ext>
                  </a:extLst>
                </a:gridCol>
                <a:gridCol w="1547623">
                  <a:extLst>
                    <a:ext uri="{9D8B030D-6E8A-4147-A177-3AD203B41FA5}">
                      <a16:colId xmlns:a16="http://schemas.microsoft.com/office/drawing/2014/main" val="724345838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2501545399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503388054"/>
                    </a:ext>
                  </a:extLst>
                </a:gridCol>
                <a:gridCol w="3062082">
                  <a:extLst>
                    <a:ext uri="{9D8B030D-6E8A-4147-A177-3AD203B41FA5}">
                      <a16:colId xmlns:a16="http://schemas.microsoft.com/office/drawing/2014/main" val="3226501516"/>
                    </a:ext>
                  </a:extLst>
                </a:gridCol>
              </a:tblGrid>
              <a:tr h="526082">
                <a:tc gridSpan="2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테이블명 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결제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데이터베이스명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800" b="1" i="0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ORCL</a:t>
                      </a:r>
                      <a:endParaRPr lang="x-none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fontAlgn="ctr"/>
                      <a:r>
                        <a:rPr lang="x-none" altLang="en-US" dirty="0">
                          <a:effectLst/>
                        </a:rPr>
                        <a:t> </a:t>
                      </a:r>
                    </a:p>
                  </a:txBody>
                  <a:tcPr marL="9525" marR="95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67832"/>
                  </a:ext>
                </a:extLst>
              </a:tr>
              <a:tr h="350721">
                <a:tc gridSpan="2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</a:t>
                      </a: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ID 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PAY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 설명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결제에 대한 정보를 기술하는 테이블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30929"/>
                  </a:ext>
                </a:extLst>
              </a:tr>
              <a:tr h="35072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순번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컬럼명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컬럼</a:t>
                      </a: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ID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타입 및 길이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NULL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PK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FK</a:t>
                      </a:r>
                      <a:endParaRPr 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설명</a:t>
                      </a:r>
                      <a:endParaRPr lang="ko-KR" altLang="en-US" sz="18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908054062"/>
                  </a:ext>
                </a:extLst>
              </a:tr>
              <a:tr h="32880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1</a:t>
                      </a:r>
                      <a:endParaRPr lang="x-none" alt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예매번호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ti_num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number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yes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Reference </a:t>
                      </a:r>
                      <a:r>
                        <a:rPr lang="en-US" altLang="ko-KR" sz="1100" b="1" i="0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ticketting</a:t>
                      </a:r>
                      <a:r>
                        <a:rPr lang="en-US" altLang="ko-KR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, unique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057682438"/>
                  </a:ext>
                </a:extLst>
              </a:tr>
              <a:tr h="32880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2</a:t>
                      </a:r>
                      <a:endParaRPr lang="x-none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결제방법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Py_type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varchar2(7)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Check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220598725"/>
                  </a:ext>
                </a:extLst>
              </a:tr>
              <a:tr h="482242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3</a:t>
                      </a:r>
                      <a:endParaRPr lang="x-none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기본금액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Py_tot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number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x-none" altLang="en-US" sz="1100" b="1" i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 </a:t>
                      </a:r>
                      <a:r>
                        <a:rPr lang="en-US" alt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Default 15000</a:t>
                      </a:r>
                      <a:endParaRPr lang="x-none" alt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2493440180"/>
                  </a:ext>
                </a:extLst>
              </a:tr>
            </a:tbl>
          </a:graphicData>
        </a:graphic>
      </p:graphicFrame>
      <p:sp>
        <p:nvSpPr>
          <p:cNvPr id="12" name="Rectangle 2">
            <a:extLst>
              <a:ext uri="{FF2B5EF4-FFF2-40B4-BE49-F238E27FC236}">
                <a16:creationId xmlns:a16="http://schemas.microsoft.com/office/drawing/2014/main" id="{695A807E-4ACF-81EE-7589-3F3434D16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075" y="26606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x-none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6417DF-81B4-728A-2B86-333DBD369CBF}"/>
              </a:ext>
            </a:extLst>
          </p:cNvPr>
          <p:cNvSpPr txBox="1"/>
          <p:nvPr/>
        </p:nvSpPr>
        <p:spPr>
          <a:xfrm>
            <a:off x="1178288" y="263889"/>
            <a:ext cx="101037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Table Statement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&amp;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Query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endParaRPr kumimoji="1" lang="x-none" altLang="en-US" sz="40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16166BE-9D0C-EA3C-8B6E-7F96011EA8A1}"/>
              </a:ext>
            </a:extLst>
          </p:cNvPr>
          <p:cNvSpPr/>
          <p:nvPr/>
        </p:nvSpPr>
        <p:spPr>
          <a:xfrm>
            <a:off x="1282622" y="3841709"/>
            <a:ext cx="10103766" cy="251613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4E92B8-B4E5-201F-4634-9F866D98A696}"/>
              </a:ext>
            </a:extLst>
          </p:cNvPr>
          <p:cNvSpPr txBox="1"/>
          <p:nvPr/>
        </p:nvSpPr>
        <p:spPr>
          <a:xfrm>
            <a:off x="1405901" y="3928429"/>
            <a:ext cx="127402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x-none" b="1" dirty="0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TABLE </a:t>
            </a:r>
            <a:r>
              <a:rPr kumimoji="1" lang="x-none" altLang="en-US" b="1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생성</a:t>
            </a:r>
            <a:r>
              <a:rPr kumimoji="1" lang="ko-KR" altLang="en-US" b="1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 쿼리문</a:t>
            </a:r>
            <a:endParaRPr kumimoji="1" lang="en-US" altLang="ko-KR" b="1" dirty="0">
              <a:solidFill>
                <a:schemeClr val="bg2"/>
              </a:solidFill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  <a:p>
            <a:endParaRPr kumimoji="1" lang="en-US" altLang="x-none" b="1" dirty="0">
              <a:solidFill>
                <a:schemeClr val="bg2"/>
              </a:solidFill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CREATE TABLE PAY (  			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결제정보		</a:t>
            </a:r>
          </a:p>
          <a:p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     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ti_num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number			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예약번호</a:t>
            </a:r>
            <a:endParaRPr kumimoji="1" lang="en-US" altLang="x-none" sz="120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  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 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py_type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varchar2(20)	CHECK		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결제방법</a:t>
            </a:r>
            <a:endParaRPr kumimoji="1" lang="en-US" altLang="x-none" sz="120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       (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py_type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IN('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카드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', '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삼성페이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', '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카카오페이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', '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애플페이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', '</a:t>
            </a:r>
            <a:r>
              <a:rPr kumimoji="1" lang="ko-KR" altLang="en-US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네이버페이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', '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상품권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'))  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결제방법 입력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값 제한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</a:t>
            </a:r>
          </a:p>
          <a:p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  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 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py_tot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number	DEFAULT 15000				1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인당 기본금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, 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기본값 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15000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으로 </a:t>
            </a:r>
            <a:endParaRPr kumimoji="1" lang="en-US" altLang="x-none" sz="120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   	CONSTRAINT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pay_fk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FOREIGN KEY (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ti_num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 	</a:t>
            </a: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		REFERENCES TICKETTING (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ti_num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 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부모 테이블인 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TICKETTING 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테이블에 예매번호</a:t>
            </a:r>
            <a:endParaRPr kumimoji="1" lang="en-US" altLang="x-none" sz="120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		ON DELETE CASCADE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삭제 시 자식 테이블인 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PAY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테이블에도 정보가 삭제</a:t>
            </a:r>
            <a:endParaRPr kumimoji="1" lang="en-US" altLang="x-none" sz="120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);				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될 수 있도록 옵션 추가</a:t>
            </a:r>
            <a:endParaRPr kumimoji="1" lang="x-none" altLang="en-US" sz="1200" b="1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AE0A0D-3EEF-14F1-55D7-297E71FBE5FB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  <a:endParaRPr lang="ko-KR" altLang="en-US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BD1EAC4-CAD3-160B-8182-7A6A117E6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11</a:t>
            </a:fld>
            <a:endParaRPr lang="ko-KR" altLang="en-US"/>
          </a:p>
        </p:txBody>
      </p:sp>
      <p:cxnSp>
        <p:nvCxnSpPr>
          <p:cNvPr id="6" name="직선 연결선 3">
            <a:extLst>
              <a:ext uri="{FF2B5EF4-FFF2-40B4-BE49-F238E27FC236}">
                <a16:creationId xmlns:a16="http://schemas.microsoft.com/office/drawing/2014/main" id="{FF914BB5-8D3D-31D2-CD3C-B7BD52AB0F85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9922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3">
            <a:extLst>
              <a:ext uri="{FF2B5EF4-FFF2-40B4-BE49-F238E27FC236}">
                <a16:creationId xmlns:a16="http://schemas.microsoft.com/office/drawing/2014/main" id="{9A1C6BFE-BA74-F81C-7674-C85DCBC10458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333559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2B2EA8B-F746-236A-159B-131E68DDBF97}"/>
              </a:ext>
            </a:extLst>
          </p:cNvPr>
          <p:cNvSpPr txBox="1"/>
          <p:nvPr/>
        </p:nvSpPr>
        <p:spPr>
          <a:xfrm>
            <a:off x="208931" y="0"/>
            <a:ext cx="514885" cy="33484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gradFill>
                  <a:gsLst>
                    <a:gs pos="0">
                      <a:srgbClr val="765661"/>
                    </a:gs>
                    <a:gs pos="100000">
                      <a:srgbClr val="76566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  <a:endParaRPr lang="en-US" altLang="ko-KR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  <a:endParaRPr lang="ko-KR" altLang="en-US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E209CCBB-4948-CBAC-BDFC-07FF709C62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044707"/>
              </p:ext>
            </p:extLst>
          </p:nvPr>
        </p:nvGraphicFramePr>
        <p:xfrm>
          <a:off x="1282621" y="1302000"/>
          <a:ext cx="10103768" cy="227623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73812">
                  <a:extLst>
                    <a:ext uri="{9D8B030D-6E8A-4147-A177-3AD203B41FA5}">
                      <a16:colId xmlns:a16="http://schemas.microsoft.com/office/drawing/2014/main" val="142963213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2226787622"/>
                    </a:ext>
                  </a:extLst>
                </a:gridCol>
                <a:gridCol w="851192">
                  <a:extLst>
                    <a:ext uri="{9D8B030D-6E8A-4147-A177-3AD203B41FA5}">
                      <a16:colId xmlns:a16="http://schemas.microsoft.com/office/drawing/2014/main" val="385443429"/>
                    </a:ext>
                  </a:extLst>
                </a:gridCol>
                <a:gridCol w="1547623">
                  <a:extLst>
                    <a:ext uri="{9D8B030D-6E8A-4147-A177-3AD203B41FA5}">
                      <a16:colId xmlns:a16="http://schemas.microsoft.com/office/drawing/2014/main" val="2050574748"/>
                    </a:ext>
                  </a:extLst>
                </a:gridCol>
                <a:gridCol w="1547623">
                  <a:extLst>
                    <a:ext uri="{9D8B030D-6E8A-4147-A177-3AD203B41FA5}">
                      <a16:colId xmlns:a16="http://schemas.microsoft.com/office/drawing/2014/main" val="724345838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2501545399"/>
                    </a:ext>
                  </a:extLst>
                </a:gridCol>
                <a:gridCol w="773812">
                  <a:extLst>
                    <a:ext uri="{9D8B030D-6E8A-4147-A177-3AD203B41FA5}">
                      <a16:colId xmlns:a16="http://schemas.microsoft.com/office/drawing/2014/main" val="503388054"/>
                    </a:ext>
                  </a:extLst>
                </a:gridCol>
                <a:gridCol w="3062082">
                  <a:extLst>
                    <a:ext uri="{9D8B030D-6E8A-4147-A177-3AD203B41FA5}">
                      <a16:colId xmlns:a16="http://schemas.microsoft.com/office/drawing/2014/main" val="3226501516"/>
                    </a:ext>
                  </a:extLst>
                </a:gridCol>
              </a:tblGrid>
              <a:tr h="577471">
                <a:tc gridSpan="2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테이블명 </a:t>
                      </a:r>
                      <a:endParaRPr lang="ko-KR" alt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리뷰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데이터베이스명</a:t>
                      </a:r>
                      <a:endParaRPr lang="ko-KR" alt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000" b="1" i="0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ORCL</a:t>
                      </a:r>
                      <a:endParaRPr lang="x-none" alt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fontAlgn="ctr"/>
                      <a:r>
                        <a:rPr lang="x-none" altLang="en-US" dirty="0">
                          <a:effectLst/>
                        </a:rPr>
                        <a:t> </a:t>
                      </a:r>
                    </a:p>
                  </a:txBody>
                  <a:tcPr marL="9525" marR="952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F7F7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67832"/>
                  </a:ext>
                </a:extLst>
              </a:tr>
              <a:tr h="438391">
                <a:tc gridSpan="2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</a:t>
                      </a: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ID </a:t>
                      </a:r>
                      <a:endParaRPr 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Review</a:t>
                      </a: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테이블 설명</a:t>
                      </a:r>
                      <a:endParaRPr lang="ko-KR" alt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gridSpan="4"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이미 영화를 본 사람들이 볼 예정인 사람들에게 후기를 보여주기 위한 재료 테이블</a:t>
                      </a:r>
                      <a:endParaRPr lang="ko-KR" alt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730929"/>
                  </a:ext>
                </a:extLst>
              </a:tr>
              <a:tr h="438391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순번</a:t>
                      </a:r>
                      <a:endParaRPr lang="ko-KR" alt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 err="1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컬럼명</a:t>
                      </a:r>
                      <a:endParaRPr lang="ko-KR" alt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컬럼</a:t>
                      </a: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ID</a:t>
                      </a:r>
                      <a:endParaRPr 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타입 및 길이</a:t>
                      </a:r>
                      <a:endParaRPr lang="ko-KR" alt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NULL</a:t>
                      </a:r>
                      <a:endParaRPr 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PK</a:t>
                      </a:r>
                      <a:endParaRPr 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FK</a:t>
                      </a:r>
                      <a:endParaRPr 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i="0" u="none" strike="noStrike" dirty="0">
                          <a:solidFill>
                            <a:srgbClr val="002060"/>
                          </a:solidFill>
                          <a:effectLst/>
                          <a:latin typeface="NANUMMYEONGJOEXTRABOLD" panose="02020603020101020101" pitchFamily="18" charset="-127"/>
                          <a:ea typeface="NANUMMYEONGJOEXTRABOLD" panose="02020603020101020101" pitchFamily="18" charset="-127"/>
                        </a:rPr>
                        <a:t>설명</a:t>
                      </a:r>
                      <a:endParaRPr lang="ko-KR" altLang="en-US" sz="1000" b="1" i="0" dirty="0">
                        <a:solidFill>
                          <a:srgbClr val="002060"/>
                        </a:solidFill>
                        <a:effectLst/>
                        <a:latin typeface="NANUMMYEONGJOEXTRABOLD" panose="02020603020101020101" pitchFamily="18" charset="-127"/>
                        <a:ea typeface="NANUMMYEONGJOEXTRABOLD" panose="02020603020101020101" pitchFamily="18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908054062"/>
                  </a:ext>
                </a:extLst>
              </a:tr>
              <a:tr h="410992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1</a:t>
                      </a:r>
                      <a:endParaRPr lang="x-none" alt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영화번호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mo_num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number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NOT NULL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Yes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Reference</a:t>
                      </a:r>
                      <a:r>
                        <a:rPr lang="en-US" sz="1100" b="1" i="0" baseline="0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 movie  / On Delete Cascade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057682438"/>
                  </a:ext>
                </a:extLst>
              </a:tr>
              <a:tr h="410992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x-none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2</a:t>
                      </a:r>
                      <a:endParaRPr lang="x-none" alt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1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리뷰내용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dirty="0" err="1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re_text</a:t>
                      </a: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varchar2(15)</a:t>
                      </a:r>
                      <a:endParaRPr lang="en-US" sz="1100" b="1" i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i="0" u="none" strike="noStrike" dirty="0">
                          <a:solidFill>
                            <a:schemeClr val="bg2"/>
                          </a:solidFill>
                          <a:effectLst/>
                          <a:latin typeface="NanumMyeongjo" panose="02000300000000000000" pitchFamily="2" charset="-127"/>
                          <a:ea typeface="NanumMyeongjo" panose="02000300000000000000" pitchFamily="2" charset="-127"/>
                        </a:rPr>
                        <a:t>No</a:t>
                      </a:r>
                      <a:endParaRPr lang="en-US" sz="10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100" b="1" i="0" dirty="0">
                        <a:solidFill>
                          <a:schemeClr val="bg2"/>
                        </a:solidFill>
                        <a:effectLst/>
                        <a:latin typeface="NanumMyeongjo" panose="02000300000000000000" pitchFamily="2" charset="-127"/>
                        <a:ea typeface="NanumMyeongjo" panose="02000300000000000000" pitchFamily="2" charset="-127"/>
                      </a:endParaRPr>
                    </a:p>
                  </a:txBody>
                  <a:tcPr marL="9525" marR="9525" anchor="ctr">
                    <a:cell3D prstMaterial="dkEdge">
                      <a:bevel w="77470" h="12700" prst="softRound"/>
                      <a:lightRig rig="flood" dir="t"/>
                    </a:cell3D>
                  </a:tcPr>
                </a:tc>
                <a:extLst>
                  <a:ext uri="{0D108BD9-81ED-4DB2-BD59-A6C34878D82A}">
                    <a16:rowId xmlns:a16="http://schemas.microsoft.com/office/drawing/2014/main" val="3220598725"/>
                  </a:ext>
                </a:extLst>
              </a:tr>
            </a:tbl>
          </a:graphicData>
        </a:graphic>
      </p:graphicFrame>
      <p:sp>
        <p:nvSpPr>
          <p:cNvPr id="12" name="Rectangle 2">
            <a:extLst>
              <a:ext uri="{FF2B5EF4-FFF2-40B4-BE49-F238E27FC236}">
                <a16:creationId xmlns:a16="http://schemas.microsoft.com/office/drawing/2014/main" id="{695A807E-4ACF-81EE-7589-3F3434D16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3075" y="266065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x-none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66417DF-81B4-728A-2B86-333DBD369CBF}"/>
              </a:ext>
            </a:extLst>
          </p:cNvPr>
          <p:cNvSpPr txBox="1"/>
          <p:nvPr/>
        </p:nvSpPr>
        <p:spPr>
          <a:xfrm>
            <a:off x="1178288" y="263889"/>
            <a:ext cx="1010376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Table Statement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&amp;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ko-KR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Query</a:t>
            </a:r>
            <a:r>
              <a:rPr kumimoji="1" lang="ko-KR" altLang="en-US" sz="40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endParaRPr kumimoji="1" lang="x-none" altLang="en-US" sz="40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B16166BE-9D0C-EA3C-8B6E-7F96011EA8A1}"/>
              </a:ext>
            </a:extLst>
          </p:cNvPr>
          <p:cNvSpPr/>
          <p:nvPr/>
        </p:nvSpPr>
        <p:spPr>
          <a:xfrm>
            <a:off x="1282622" y="3841709"/>
            <a:ext cx="10103766" cy="2516134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x-none" alt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C4E92B8-B4E5-201F-4634-9F866D98A696}"/>
              </a:ext>
            </a:extLst>
          </p:cNvPr>
          <p:cNvSpPr txBox="1"/>
          <p:nvPr/>
        </p:nvSpPr>
        <p:spPr>
          <a:xfrm>
            <a:off x="1454453" y="3982747"/>
            <a:ext cx="1274021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x-none" b="1" dirty="0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TABLE </a:t>
            </a:r>
            <a:r>
              <a:rPr kumimoji="1" lang="x-none" altLang="en-US" b="1" dirty="0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생성</a:t>
            </a:r>
            <a:r>
              <a:rPr kumimoji="1" lang="ko-KR" altLang="en-US" b="1" dirty="0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 </a:t>
            </a:r>
            <a:r>
              <a:rPr kumimoji="1" lang="ko-KR" altLang="en-US" b="1" dirty="0" err="1">
                <a:solidFill>
                  <a:schemeClr val="bg2"/>
                </a:soli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쿼리문</a:t>
            </a:r>
            <a:endParaRPr kumimoji="1" lang="en-US" altLang="x-none" b="1" dirty="0">
              <a:solidFill>
                <a:schemeClr val="bg2"/>
              </a:solidFill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  <a:p>
            <a:endParaRPr kumimoji="1" lang="en-US" altLang="x-none" sz="120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CREATE TABLE REVIEW ( 	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리뷰정보 </a:t>
            </a:r>
          </a:p>
          <a:p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 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mo_num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number				</a:t>
            </a: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,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re_text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varchar2(100)			</a:t>
            </a: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, CONSTRAINT 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re_fk</a:t>
            </a:r>
            <a:endParaRPr kumimoji="1" lang="en-US" altLang="x-none" sz="120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FOREIGN KEY (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mo_num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 REFERENCES MOVIE (</a:t>
            </a:r>
            <a:r>
              <a:rPr kumimoji="1" lang="en-US" altLang="x-none" sz="1200" b="1" dirty="0" err="1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mo_num</a:t>
            </a:r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 	</a:t>
            </a: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	ON DELETE CASCADE 	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부모 테이블인 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MOVIE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테이블에 영화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넘버가 삭제 시 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=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영화 삭제</a:t>
            </a:r>
            <a:endParaRPr kumimoji="1" lang="en-US" altLang="x-none" sz="120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r>
              <a:rPr kumimoji="1" lang="en-US" altLang="x-none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);						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자녀 테이블인 </a:t>
            </a:r>
            <a:r>
              <a:rPr kumimoji="1" lang="en-US" altLang="ko-KR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Review</a:t>
            </a:r>
            <a:r>
              <a:rPr kumimoji="1" lang="ko-KR" altLang="en-US" sz="1200" b="1" dirty="0">
                <a:solidFill>
                  <a:schemeClr val="bg2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테이블에 자료도 삭제될 수 있도록 옵션지정</a:t>
            </a:r>
            <a:endParaRPr kumimoji="1" lang="en-US" altLang="x-none" sz="1200" b="1" dirty="0">
              <a:solidFill>
                <a:schemeClr val="bg2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endParaRPr kumimoji="1" lang="x-none" altLang="en-US" sz="1200" b="1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AE0A0D-3EEF-14F1-55D7-297E71FBE5FB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  <a:endParaRPr lang="ko-KR" altLang="en-US" sz="2400" b="1" dirty="0">
              <a:solidFill>
                <a:schemeClr val="bg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0B4D8CE-F620-FCFD-4F64-FFB0F58A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12</a:t>
            </a:fld>
            <a:endParaRPr lang="ko-KR" altLang="en-US"/>
          </a:p>
        </p:txBody>
      </p:sp>
      <p:cxnSp>
        <p:nvCxnSpPr>
          <p:cNvPr id="6" name="직선 연결선 3">
            <a:extLst>
              <a:ext uri="{FF2B5EF4-FFF2-40B4-BE49-F238E27FC236}">
                <a16:creationId xmlns:a16="http://schemas.microsoft.com/office/drawing/2014/main" id="{ED0EE6AA-9BC1-58D1-4B36-7469F38EEC0D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05300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이등변 삼각형 2"/>
          <p:cNvSpPr/>
          <p:nvPr/>
        </p:nvSpPr>
        <p:spPr>
          <a:xfrm rot="5400000">
            <a:off x="5825508" y="3685974"/>
            <a:ext cx="259884" cy="281100"/>
          </a:xfrm>
          <a:prstGeom prst="triangl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-1" y="1583614"/>
            <a:ext cx="12192000" cy="12879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itchFamily="2" charset="-127"/>
                <a:ea typeface="NanumMyeongjo" pitchFamily="2" charset="-127"/>
              </a:rPr>
              <a:t>Q. </a:t>
            </a:r>
            <a:r>
              <a:rPr lang="ko-KR" altLang="en-US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itchFamily="2" charset="-127"/>
                <a:ea typeface="NanumMyeongjo" pitchFamily="2" charset="-127"/>
              </a:rPr>
              <a:t>포인트가 높은 순서대로 </a:t>
            </a:r>
            <a:r>
              <a:rPr lang="en-US" altLang="ko-KR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itchFamily="2" charset="-127"/>
                <a:ea typeface="NanumMyeongjo" pitchFamily="2" charset="-127"/>
              </a:rPr>
              <a:t>4~6</a:t>
            </a:r>
            <a:r>
              <a:rPr lang="ko-KR" altLang="en-US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itchFamily="2" charset="-127"/>
                <a:ea typeface="NanumMyeongjo" pitchFamily="2" charset="-127"/>
              </a:rPr>
              <a:t>위까지 회원의 정보를 </a:t>
            </a:r>
            <a:r>
              <a:rPr lang="ko-KR" altLang="en-US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itchFamily="2" charset="-127"/>
                <a:ea typeface="NanumMyeongjo" pitchFamily="2" charset="-127"/>
              </a:rPr>
              <a:t>출력하시오</a:t>
            </a:r>
            <a:endParaRPr lang="en-US" altLang="ko-KR" b="1" dirty="0">
              <a:solidFill>
                <a:schemeClr val="accent3">
                  <a:lumMod val="20000"/>
                  <a:lumOff val="80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>
              <a:lnSpc>
                <a:spcPct val="150000"/>
              </a:lnSpc>
            </a:pPr>
            <a:endParaRPr lang="en-US" altLang="ko-KR" b="1" dirty="0">
              <a:solidFill>
                <a:schemeClr val="accent3">
                  <a:lumMod val="20000"/>
                  <a:lumOff val="80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>
              <a:lnSpc>
                <a:spcPct val="150000"/>
              </a:lnSpc>
            </a:pPr>
            <a:endParaRPr lang="en-US" altLang="ko-KR" b="1" dirty="0">
              <a:solidFill>
                <a:schemeClr val="accent3">
                  <a:lumMod val="20000"/>
                  <a:lumOff val="80000"/>
                </a:schemeClr>
              </a:solidFill>
              <a:latin typeface="NanumMyeongjo" pitchFamily="2" charset="-127"/>
              <a:ea typeface="NanumMyeongjo" pitchFamily="2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2AAFE7E-697A-B9BF-9821-9D6CA208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13</a:t>
            </a:fld>
            <a:endParaRPr lang="ko-KR" altLang="en-US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A6E4BD8-07F3-3DCD-76AC-AC4FA925F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024862"/>
              </p:ext>
            </p:extLst>
          </p:nvPr>
        </p:nvGraphicFramePr>
        <p:xfrm>
          <a:off x="1118132" y="2363484"/>
          <a:ext cx="4358108" cy="2926080"/>
        </p:xfrm>
        <a:graphic>
          <a:graphicData uri="http://schemas.openxmlformats.org/drawingml/2006/table">
            <a:tbl>
              <a:tblPr/>
              <a:tblGrid>
                <a:gridCol w="4358108">
                  <a:extLst>
                    <a:ext uri="{9D8B030D-6E8A-4147-A177-3AD203B41FA5}">
                      <a16:colId xmlns:a16="http://schemas.microsoft.com/office/drawing/2014/main" val="2579709397"/>
                    </a:ext>
                  </a:extLst>
                </a:gridCol>
              </a:tblGrid>
              <a:tr h="2926020">
                <a:tc>
                  <a:txBody>
                    <a:bodyPr/>
                    <a:lstStyle/>
                    <a:p>
                      <a:pPr rtl="0" fontAlgn="ctr"/>
                      <a:r>
                        <a:rPr lang="en-US" sz="2400" b="0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SELECT *</a:t>
                      </a:r>
                    </a:p>
                    <a:p>
                      <a:pPr rtl="0" fontAlgn="ctr"/>
                      <a:r>
                        <a:rPr lang="en-US" sz="2400" b="0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FROM(</a:t>
                      </a:r>
                    </a:p>
                    <a:p>
                      <a:pPr rtl="0" fontAlgn="ctr"/>
                      <a:r>
                        <a:rPr lang="en-US" sz="2400" b="0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       select </a:t>
                      </a:r>
                      <a:r>
                        <a:rPr lang="en-US" sz="2400" b="0" i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rownum</a:t>
                      </a:r>
                      <a:r>
                        <a:rPr lang="en-US" sz="2400" b="0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 </a:t>
                      </a:r>
                      <a:r>
                        <a:rPr lang="en-US" sz="2400" b="0" i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rn,c</a:t>
                      </a:r>
                      <a:r>
                        <a:rPr lang="en-US" sz="2400" b="0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.*</a:t>
                      </a:r>
                    </a:p>
                    <a:p>
                      <a:pPr rtl="0" fontAlgn="ctr"/>
                      <a:r>
                        <a:rPr lang="en-US" sz="2400" b="0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       from(</a:t>
                      </a:r>
                    </a:p>
                    <a:p>
                      <a:pPr rtl="0" fontAlgn="ctr"/>
                      <a:r>
                        <a:rPr lang="en-US" sz="2400" b="0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       select * from customer c </a:t>
                      </a:r>
                    </a:p>
                    <a:p>
                      <a:pPr rtl="0" fontAlgn="ctr"/>
                      <a:r>
                        <a:rPr lang="en-US" sz="2400" b="0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       order by </a:t>
                      </a:r>
                      <a:r>
                        <a:rPr lang="en-US" sz="2400" b="0" i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cos_point</a:t>
                      </a:r>
                      <a:r>
                        <a:rPr lang="en-US" sz="2400" b="0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 desc)c</a:t>
                      </a:r>
                    </a:p>
                    <a:p>
                      <a:pPr rtl="0" fontAlgn="ctr"/>
                      <a:r>
                        <a:rPr lang="en-US" sz="2400" b="0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       )c1</a:t>
                      </a:r>
                    </a:p>
                    <a:p>
                      <a:pPr rtl="0" fontAlgn="ctr"/>
                      <a:r>
                        <a:rPr lang="en-US" sz="2400" b="0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WHERE </a:t>
                      </a:r>
                      <a:r>
                        <a:rPr lang="en-US" sz="2400" b="0" i="0" dirty="0" err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rn</a:t>
                      </a:r>
                      <a:r>
                        <a:rPr lang="en-US" sz="2400" b="0" i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 between 4 and 6;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371965"/>
                  </a:ext>
                </a:extLst>
              </a:tr>
            </a:tbl>
          </a:graphicData>
        </a:graphic>
      </p:graphicFrame>
      <p:pic>
        <p:nvPicPr>
          <p:cNvPr id="14" name="그림 13">
            <a:extLst>
              <a:ext uri="{FF2B5EF4-FFF2-40B4-BE49-F238E27FC236}">
                <a16:creationId xmlns:a16="http://schemas.microsoft.com/office/drawing/2014/main" id="{A3C4CB9C-3939-FB7B-5C93-1C5B094715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405" r="660"/>
          <a:stretch/>
        </p:blipFill>
        <p:spPr>
          <a:xfrm>
            <a:off x="6376497" y="2363484"/>
            <a:ext cx="5053462" cy="29260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E144949-1D60-100E-9550-19ABFEC75003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  <a:endParaRPr lang="en-US" altLang="ko-KR" sz="2400" b="1" dirty="0">
              <a:gradFill>
                <a:gsLst>
                  <a:gs pos="0">
                    <a:srgbClr val="765661"/>
                  </a:gs>
                  <a:gs pos="100000">
                    <a:srgbClr val="76566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E3D82E37-7DC6-252D-49D2-23339D153FC5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1A47B63-FAD3-72E9-F1B8-971961B125DD}"/>
              </a:ext>
            </a:extLst>
          </p:cNvPr>
          <p:cNvSpPr txBox="1"/>
          <p:nvPr/>
        </p:nvSpPr>
        <p:spPr>
          <a:xfrm>
            <a:off x="0" y="476972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48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동작 테스트</a:t>
            </a:r>
            <a:endParaRPr kumimoji="1" lang="x-none" altLang="en-US" sz="48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98734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이등변 삼각형 2"/>
          <p:cNvSpPr/>
          <p:nvPr/>
        </p:nvSpPr>
        <p:spPr>
          <a:xfrm rot="5400000">
            <a:off x="5825508" y="3685974"/>
            <a:ext cx="259884" cy="281100"/>
          </a:xfrm>
          <a:prstGeom prst="triangl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-1" y="1583614"/>
            <a:ext cx="1219200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itchFamily="2" charset="-127"/>
                <a:ea typeface="NanumMyeongjo" pitchFamily="2" charset="-127"/>
              </a:rPr>
              <a:t>Q. </a:t>
            </a:r>
            <a:r>
              <a:rPr lang="ko-KR" altLang="en-US" sz="18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회원의 정보를 </a:t>
            </a:r>
            <a:r>
              <a:rPr lang="ko-KR" altLang="en-US" sz="1800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출력하시오</a:t>
            </a:r>
            <a:r>
              <a:rPr lang="ko-KR" altLang="en-US" sz="18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단 비밀번호는 </a:t>
            </a:r>
            <a:r>
              <a:rPr lang="en-US" altLang="ko-KR" sz="18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*</a:t>
            </a:r>
            <a:r>
              <a:rPr lang="ko-KR" altLang="en-US" sz="18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표로 </a:t>
            </a:r>
            <a:r>
              <a:rPr lang="ko-KR" altLang="en-US" sz="1800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출력하시오</a:t>
            </a:r>
            <a:endParaRPr lang="en-US" altLang="ko-KR" b="1" dirty="0">
              <a:solidFill>
                <a:schemeClr val="accent3">
                  <a:lumMod val="20000"/>
                  <a:lumOff val="80000"/>
                </a:schemeClr>
              </a:solidFill>
              <a:latin typeface="NanumMyeongjo" pitchFamily="2" charset="-127"/>
              <a:ea typeface="NanumMyeongjo" pitchFamily="2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2AAFE7E-697A-B9BF-9821-9D6CA208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14</a:t>
            </a:fld>
            <a:endParaRPr lang="ko-KR" altLang="en-US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A6E4BD8-07F3-3DCD-76AC-AC4FA925F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360048"/>
              </p:ext>
            </p:extLst>
          </p:nvPr>
        </p:nvGraphicFramePr>
        <p:xfrm>
          <a:off x="1118132" y="2363484"/>
          <a:ext cx="4358108" cy="2926020"/>
        </p:xfrm>
        <a:graphic>
          <a:graphicData uri="http://schemas.openxmlformats.org/drawingml/2006/table">
            <a:tbl>
              <a:tblPr/>
              <a:tblGrid>
                <a:gridCol w="4358108">
                  <a:extLst>
                    <a:ext uri="{9D8B030D-6E8A-4147-A177-3AD203B41FA5}">
                      <a16:colId xmlns:a16="http://schemas.microsoft.com/office/drawing/2014/main" val="2579709397"/>
                    </a:ext>
                  </a:extLst>
                </a:gridCol>
              </a:tblGrid>
              <a:tr h="2926020">
                <a:tc>
                  <a:txBody>
                    <a:bodyPr/>
                    <a:lstStyle/>
                    <a:p>
                      <a:pPr rtl="0" fontAlgn="ctr"/>
                      <a:r>
                        <a:rPr lang="en-US" altLang="ko-Kore-KR" sz="2400" b="0" i="0" dirty="0"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SELECT </a:t>
                      </a:r>
                    </a:p>
                    <a:p>
                      <a:pPr rtl="0" fontAlgn="ctr"/>
                      <a:endParaRPr lang="en-US" altLang="ko-Kore-KR" sz="2400" b="0" i="0" dirty="0">
                        <a:effectLst/>
                        <a:latin typeface="NanumMyeongjo" pitchFamily="2" charset="-127"/>
                        <a:ea typeface="NanumMyeongjo" pitchFamily="2" charset="-127"/>
                      </a:endParaRPr>
                    </a:p>
                    <a:p>
                      <a:pPr rtl="0" fontAlgn="ctr"/>
                      <a:r>
                        <a:rPr lang="en-US" altLang="ko-Kore-KR" sz="2400" b="0" i="0" dirty="0"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       </a:t>
                      </a:r>
                      <a:r>
                        <a:rPr lang="en-US" altLang="ko-Kore-KR" sz="2400" b="0" i="0" dirty="0" err="1"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cos_name,cos_id</a:t>
                      </a:r>
                      <a:r>
                        <a:rPr lang="en-US" altLang="ko-Kore-KR" sz="2400" b="0" i="0" dirty="0"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,</a:t>
                      </a:r>
                    </a:p>
                    <a:p>
                      <a:pPr rtl="0" fontAlgn="ctr"/>
                      <a:r>
                        <a:rPr lang="en-US" altLang="ko-Kore-KR" sz="2400" b="0" i="0" dirty="0"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       </a:t>
                      </a:r>
                      <a:r>
                        <a:rPr lang="en-US" altLang="ko-Kore-KR" sz="2400" b="0" i="0" dirty="0" err="1"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rpad</a:t>
                      </a:r>
                      <a:r>
                        <a:rPr lang="en-US" altLang="ko-Kore-KR" sz="2400" b="0" i="0" dirty="0"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(</a:t>
                      </a:r>
                      <a:r>
                        <a:rPr lang="en-US" altLang="ko-Kore-KR" sz="2400" b="0" i="0" dirty="0" err="1"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substr</a:t>
                      </a:r>
                      <a:r>
                        <a:rPr lang="en-US" altLang="ko-Kore-KR" sz="2400" b="0" i="0" dirty="0"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(cos_pass,0,1),</a:t>
                      </a:r>
                    </a:p>
                    <a:p>
                      <a:pPr rtl="0" fontAlgn="ctr"/>
                      <a:r>
                        <a:rPr lang="en-US" altLang="ko-Kore-KR" sz="2400" b="0" i="0" dirty="0"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       length(</a:t>
                      </a:r>
                      <a:r>
                        <a:rPr lang="en-US" altLang="ko-Kore-KR" sz="2400" b="0" i="0" dirty="0" err="1"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cos_pass</a:t>
                      </a:r>
                      <a:r>
                        <a:rPr lang="en-US" altLang="ko-Kore-KR" sz="2400" b="0" i="0" dirty="0"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),'*’)</a:t>
                      </a:r>
                    </a:p>
                    <a:p>
                      <a:pPr rtl="0" fontAlgn="ctr"/>
                      <a:endParaRPr lang="en-US" altLang="ko-Kore-KR" sz="2400" b="0" i="0" dirty="0">
                        <a:effectLst/>
                        <a:latin typeface="NanumMyeongjo" pitchFamily="2" charset="-127"/>
                        <a:ea typeface="NanumMyeongjo" pitchFamily="2" charset="-127"/>
                      </a:endParaRPr>
                    </a:p>
                    <a:p>
                      <a:pPr rtl="0" fontAlgn="ctr"/>
                      <a:r>
                        <a:rPr lang="en-US" altLang="ko-Kore-KR" sz="2400" b="0" i="0" dirty="0">
                          <a:effectLst/>
                          <a:latin typeface="NanumMyeongjo" pitchFamily="2" charset="-127"/>
                          <a:ea typeface="NanumMyeongjo" pitchFamily="2" charset="-127"/>
                        </a:rPr>
                        <a:t>FROM customer;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37196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E144949-1D60-100E-9550-19ABFEC75003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  <a:endParaRPr lang="en-US" altLang="ko-KR" sz="2400" b="1" dirty="0">
              <a:gradFill>
                <a:gsLst>
                  <a:gs pos="0">
                    <a:srgbClr val="765661"/>
                  </a:gs>
                  <a:gs pos="100000">
                    <a:srgbClr val="76566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E3D82E37-7DC6-252D-49D2-23339D153FC5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1A47B63-FAD3-72E9-F1B8-971961B125DD}"/>
              </a:ext>
            </a:extLst>
          </p:cNvPr>
          <p:cNvSpPr txBox="1"/>
          <p:nvPr/>
        </p:nvSpPr>
        <p:spPr>
          <a:xfrm>
            <a:off x="0" y="476972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48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동작 테스트</a:t>
            </a:r>
            <a:endParaRPr kumimoji="1" lang="x-none" altLang="en-US" sz="48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8497383-EA9D-19B4-9D80-B6CCD630A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60" y="2363484"/>
            <a:ext cx="4639208" cy="2934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4859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이등변 삼각형 2"/>
          <p:cNvSpPr/>
          <p:nvPr/>
        </p:nvSpPr>
        <p:spPr>
          <a:xfrm rot="5400000">
            <a:off x="5825508" y="3685974"/>
            <a:ext cx="259884" cy="281100"/>
          </a:xfrm>
          <a:prstGeom prst="triangl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-1" y="1583614"/>
            <a:ext cx="12192000" cy="8724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itchFamily="2" charset="-127"/>
                <a:ea typeface="NanumMyeongjo" pitchFamily="2" charset="-127"/>
              </a:rPr>
              <a:t>Q. </a:t>
            </a:r>
            <a:r>
              <a:rPr lang="ko-KR" altLang="en-US" sz="1800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회원중</a:t>
            </a:r>
            <a:r>
              <a:rPr lang="ko-KR" altLang="en-US" sz="18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포인트를 가장 많이 소유하고 있는 회원의 정보를 </a:t>
            </a:r>
            <a:r>
              <a:rPr lang="ko-KR" altLang="en-US" sz="1800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출력하시오</a:t>
            </a:r>
            <a:endParaRPr lang="en-US" altLang="ko-KR" sz="1800" b="1" dirty="0">
              <a:solidFill>
                <a:schemeClr val="accent3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>
              <a:lnSpc>
                <a:spcPct val="150000"/>
              </a:lnSpc>
            </a:pPr>
            <a:endParaRPr lang="en-US" altLang="ko-KR" b="1" dirty="0">
              <a:solidFill>
                <a:schemeClr val="accent3">
                  <a:lumMod val="20000"/>
                  <a:lumOff val="80000"/>
                </a:schemeClr>
              </a:solidFill>
              <a:latin typeface="NanumMyeongjo" pitchFamily="2" charset="-127"/>
              <a:ea typeface="NanumMyeongjo" pitchFamily="2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2AAFE7E-697A-B9BF-9821-9D6CA208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15</a:t>
            </a:fld>
            <a:endParaRPr lang="ko-KR" altLang="en-US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A6E4BD8-07F3-3DCD-76AC-AC4FA925F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813867"/>
              </p:ext>
            </p:extLst>
          </p:nvPr>
        </p:nvGraphicFramePr>
        <p:xfrm>
          <a:off x="1118132" y="2363484"/>
          <a:ext cx="4358108" cy="2926020"/>
        </p:xfrm>
        <a:graphic>
          <a:graphicData uri="http://schemas.openxmlformats.org/drawingml/2006/table">
            <a:tbl>
              <a:tblPr/>
              <a:tblGrid>
                <a:gridCol w="4358108">
                  <a:extLst>
                    <a:ext uri="{9D8B030D-6E8A-4147-A177-3AD203B41FA5}">
                      <a16:colId xmlns:a16="http://schemas.microsoft.com/office/drawing/2014/main" val="2579709397"/>
                    </a:ext>
                  </a:extLst>
                </a:gridCol>
              </a:tblGrid>
              <a:tr h="2926020">
                <a:tc>
                  <a:txBody>
                    <a:bodyPr/>
                    <a:lstStyle/>
                    <a:p>
                      <a:r>
                        <a:rPr lang="en-US" altLang="ko-KR" sz="2400" dirty="0">
                          <a:latin typeface="NanumMyeongjo" pitchFamily="2" charset="-127"/>
                          <a:ea typeface="NanumMyeongjo" pitchFamily="2" charset="-127"/>
                        </a:rPr>
                        <a:t> SELECT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 c.*</a:t>
                      </a:r>
                    </a:p>
                    <a:p>
                      <a:r>
                        <a:rPr lang="en-US" altLang="ko-KR" sz="2400" dirty="0">
                          <a:latin typeface="NanumMyeongjo" pitchFamily="2" charset="-127"/>
                          <a:ea typeface="NanumMyeongjo" pitchFamily="2" charset="-127"/>
                        </a:rPr>
                        <a:t> FROM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  </a:t>
                      </a:r>
                      <a:r>
                        <a:rPr lang="ko-KR" altLang="en-US" sz="2400" dirty="0" err="1">
                          <a:latin typeface="NanumMyeongjo" pitchFamily="2" charset="-127"/>
                          <a:ea typeface="NanumMyeongjo" pitchFamily="2" charset="-127"/>
                        </a:rPr>
                        <a:t>customer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 c</a:t>
                      </a:r>
                      <a:endParaRPr lang="en-US" altLang="ko-KR" sz="2400" dirty="0">
                        <a:latin typeface="NanumMyeongjo" pitchFamily="2" charset="-127"/>
                        <a:ea typeface="NanumMyeongjo" pitchFamily="2" charset="-127"/>
                      </a:endParaRPr>
                    </a:p>
                    <a:p>
                      <a:endParaRPr lang="ko-KR" altLang="en-US" sz="2400" dirty="0">
                        <a:latin typeface="NanumMyeongjo" pitchFamily="2" charset="-127"/>
                        <a:ea typeface="NanumMyeongjo" pitchFamily="2" charset="-127"/>
                      </a:endParaRPr>
                    </a:p>
                    <a:p>
                      <a:r>
                        <a:rPr lang="en-US" altLang="ko-KR" sz="2400" dirty="0">
                          <a:latin typeface="NanumMyeongjo" pitchFamily="2" charset="-127"/>
                          <a:ea typeface="NanumMyeongjo" pitchFamily="2" charset="-127"/>
                        </a:rPr>
                        <a:t> WHERE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 </a:t>
                      </a:r>
                      <a:r>
                        <a:rPr lang="ko-KR" altLang="en-US" sz="2400" dirty="0" err="1">
                          <a:latin typeface="NanumMyeongjo" pitchFamily="2" charset="-127"/>
                          <a:ea typeface="NanumMyeongjo" pitchFamily="2" charset="-127"/>
                        </a:rPr>
                        <a:t>cos_point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 = </a:t>
                      </a:r>
                      <a:endParaRPr lang="en-US" altLang="ko-KR" sz="2400" dirty="0">
                        <a:latin typeface="NanumMyeongjo" pitchFamily="2" charset="-127"/>
                        <a:ea typeface="NanumMyeongjo" pitchFamily="2" charset="-127"/>
                      </a:endParaRPr>
                    </a:p>
                    <a:p>
                      <a:r>
                        <a:rPr lang="en-US" altLang="ko-KR" sz="2400" dirty="0">
                          <a:latin typeface="NanumMyeongjo" pitchFamily="2" charset="-127"/>
                          <a:ea typeface="NanumMyeongjo" pitchFamily="2" charset="-127"/>
                        </a:rPr>
                        <a:t>       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(</a:t>
                      </a:r>
                      <a:r>
                        <a:rPr lang="en-US" altLang="ko-KR" sz="2400" dirty="0">
                          <a:latin typeface="NanumMyeongjo" pitchFamily="2" charset="-127"/>
                          <a:ea typeface="NanumMyeongjo" pitchFamily="2" charset="-127"/>
                        </a:rPr>
                        <a:t>SELECT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 </a:t>
                      </a:r>
                      <a:r>
                        <a:rPr lang="ko-KR" altLang="en-US" sz="2400" dirty="0" err="1">
                          <a:latin typeface="NanumMyeongjo" pitchFamily="2" charset="-127"/>
                          <a:ea typeface="NanumMyeongjo" pitchFamily="2" charset="-127"/>
                        </a:rPr>
                        <a:t>max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(</a:t>
                      </a:r>
                      <a:r>
                        <a:rPr lang="ko-KR" altLang="en-US" sz="2400" dirty="0" err="1">
                          <a:latin typeface="NanumMyeongjo" pitchFamily="2" charset="-127"/>
                          <a:ea typeface="NanumMyeongjo" pitchFamily="2" charset="-127"/>
                        </a:rPr>
                        <a:t>cos_point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) </a:t>
                      </a:r>
                      <a:r>
                        <a:rPr lang="en-US" altLang="ko-KR" sz="2400" dirty="0">
                          <a:latin typeface="NanumMyeongjo" pitchFamily="2" charset="-127"/>
                          <a:ea typeface="NanumMyeongjo" pitchFamily="2" charset="-127"/>
                        </a:rPr>
                        <a:t>       </a:t>
                      </a:r>
                    </a:p>
                    <a:p>
                      <a:r>
                        <a:rPr lang="en-US" altLang="ko-KR" sz="2400" dirty="0">
                          <a:latin typeface="NanumMyeongjo" pitchFamily="2" charset="-127"/>
                          <a:ea typeface="NanumMyeongjo" pitchFamily="2" charset="-127"/>
                        </a:rPr>
                        <a:t>         FROM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   </a:t>
                      </a:r>
                      <a:r>
                        <a:rPr lang="en-US" altLang="ko-KR" sz="2400" dirty="0">
                          <a:latin typeface="NanumMyeongjo" pitchFamily="2" charset="-127"/>
                          <a:ea typeface="NanumMyeongjo" pitchFamily="2" charset="-127"/>
                        </a:rPr>
                        <a:t> </a:t>
                      </a:r>
                      <a:r>
                        <a:rPr lang="ko-KR" altLang="en-US" sz="2400" dirty="0" err="1">
                          <a:latin typeface="NanumMyeongjo" pitchFamily="2" charset="-127"/>
                          <a:ea typeface="NanumMyeongjo" pitchFamily="2" charset="-127"/>
                        </a:rPr>
                        <a:t>customer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);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37196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E144949-1D60-100E-9550-19ABFEC75003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  <a:endParaRPr lang="en-US" altLang="ko-KR" sz="2400" b="1" dirty="0">
              <a:gradFill>
                <a:gsLst>
                  <a:gs pos="0">
                    <a:srgbClr val="765661"/>
                  </a:gs>
                  <a:gs pos="100000">
                    <a:srgbClr val="76566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E3D82E37-7DC6-252D-49D2-23339D153FC5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1A47B63-FAD3-72E9-F1B8-971961B125DD}"/>
              </a:ext>
            </a:extLst>
          </p:cNvPr>
          <p:cNvSpPr txBox="1"/>
          <p:nvPr/>
        </p:nvSpPr>
        <p:spPr>
          <a:xfrm>
            <a:off x="0" y="476972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48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동작 테스트</a:t>
            </a:r>
            <a:endParaRPr kumimoji="1" lang="x-none" altLang="en-US" sz="48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372F6F4-35F9-FE7A-2927-0C772746A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60" y="3285137"/>
            <a:ext cx="5242332" cy="113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8590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이등변 삼각형 2"/>
          <p:cNvSpPr/>
          <p:nvPr/>
        </p:nvSpPr>
        <p:spPr>
          <a:xfrm rot="5400000">
            <a:off x="5825508" y="3685974"/>
            <a:ext cx="259884" cy="281100"/>
          </a:xfrm>
          <a:prstGeom prst="triangl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-1" y="1583614"/>
            <a:ext cx="1219200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itchFamily="2" charset="-127"/>
                <a:ea typeface="NanumMyeongjo" pitchFamily="2" charset="-127"/>
              </a:rPr>
              <a:t>Q. </a:t>
            </a:r>
            <a:r>
              <a:rPr lang="ko-KR" altLang="en-US" sz="18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잔여 좌석이 제일 적은 상영관의 정보를 </a:t>
            </a:r>
            <a:r>
              <a:rPr lang="ko-KR" altLang="en-US" sz="1800" b="1" dirty="0" err="1">
                <a:solidFill>
                  <a:schemeClr val="accent3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출력하시오</a:t>
            </a:r>
            <a:endParaRPr lang="en-US" altLang="ko-KR" b="1" dirty="0">
              <a:solidFill>
                <a:schemeClr val="accent3">
                  <a:lumMod val="20000"/>
                  <a:lumOff val="80000"/>
                </a:schemeClr>
              </a:solidFill>
              <a:latin typeface="NanumMyeongjo" pitchFamily="2" charset="-127"/>
              <a:ea typeface="NanumMyeongjo" pitchFamily="2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2AAFE7E-697A-B9BF-9821-9D6CA208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16</a:t>
            </a:fld>
            <a:endParaRPr lang="ko-KR" altLang="en-US"/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A6E4BD8-07F3-3DCD-76AC-AC4FA925F2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995878"/>
              </p:ext>
            </p:extLst>
          </p:nvPr>
        </p:nvGraphicFramePr>
        <p:xfrm>
          <a:off x="1062476" y="2363484"/>
          <a:ext cx="4413764" cy="2926020"/>
        </p:xfrm>
        <a:graphic>
          <a:graphicData uri="http://schemas.openxmlformats.org/drawingml/2006/table">
            <a:tbl>
              <a:tblPr/>
              <a:tblGrid>
                <a:gridCol w="4413764">
                  <a:extLst>
                    <a:ext uri="{9D8B030D-6E8A-4147-A177-3AD203B41FA5}">
                      <a16:colId xmlns:a16="http://schemas.microsoft.com/office/drawing/2014/main" val="2579709397"/>
                    </a:ext>
                  </a:extLst>
                </a:gridCol>
              </a:tblGrid>
              <a:tr h="2926020">
                <a:tc>
                  <a:txBody>
                    <a:bodyPr/>
                    <a:lstStyle/>
                    <a:p>
                      <a:r>
                        <a:rPr lang="en-US" altLang="ko-KR" sz="2400" dirty="0">
                          <a:latin typeface="NanumMyeongjo" pitchFamily="2" charset="-127"/>
                          <a:ea typeface="NanumMyeongjo" pitchFamily="2" charset="-127"/>
                        </a:rPr>
                        <a:t> SELECT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 *</a:t>
                      </a:r>
                    </a:p>
                    <a:p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 </a:t>
                      </a:r>
                      <a:r>
                        <a:rPr lang="en-US" altLang="ko-KR" sz="2400" dirty="0">
                          <a:latin typeface="NanumMyeongjo" pitchFamily="2" charset="-127"/>
                          <a:ea typeface="NanumMyeongjo" pitchFamily="2" charset="-127"/>
                        </a:rPr>
                        <a:t>FROM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 (</a:t>
                      </a:r>
                      <a:r>
                        <a:rPr lang="en-US" altLang="ko-KR" sz="2400" dirty="0">
                          <a:latin typeface="NanumMyeongjo" pitchFamily="2" charset="-127"/>
                          <a:ea typeface="NanumMyeongjo" pitchFamily="2" charset="-127"/>
                        </a:rPr>
                        <a:t> SELECT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 * </a:t>
                      </a:r>
                      <a:endParaRPr lang="en-US" altLang="ko-KR" sz="2400" dirty="0">
                        <a:latin typeface="NanumMyeongjo" pitchFamily="2" charset="-127"/>
                        <a:ea typeface="NanumMyeongjo" pitchFamily="2" charset="-127"/>
                      </a:endParaRPr>
                    </a:p>
                    <a:p>
                      <a:r>
                        <a:rPr lang="en-US" altLang="ko-KR" sz="2400" dirty="0">
                          <a:latin typeface="NanumMyeongjo" pitchFamily="2" charset="-127"/>
                          <a:ea typeface="NanumMyeongjo" pitchFamily="2" charset="-127"/>
                        </a:rPr>
                        <a:t>               FROM</a:t>
                      </a:r>
                      <a:r>
                        <a:rPr lang="ko-KR" altLang="en-US" sz="2400" dirty="0" err="1">
                          <a:latin typeface="NanumMyeongjo" pitchFamily="2" charset="-127"/>
                          <a:ea typeface="NanumMyeongjo" pitchFamily="2" charset="-127"/>
                        </a:rPr>
                        <a:t>movie_rounge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 </a:t>
                      </a:r>
                      <a:endParaRPr lang="en-US" altLang="ko-KR" sz="2400" dirty="0">
                        <a:latin typeface="NanumMyeongjo" pitchFamily="2" charset="-127"/>
                        <a:ea typeface="NanumMyeongjo" pitchFamily="2" charset="-127"/>
                      </a:endParaRPr>
                    </a:p>
                    <a:p>
                      <a:r>
                        <a:rPr lang="en-US" altLang="ko-KR" sz="2400" dirty="0">
                          <a:latin typeface="NanumMyeongjo" pitchFamily="2" charset="-127"/>
                          <a:ea typeface="NanumMyeongjo" pitchFamily="2" charset="-127"/>
                        </a:rPr>
                        <a:t>               ORDER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 </a:t>
                      </a:r>
                      <a:r>
                        <a:rPr lang="en-US" altLang="ko-KR" sz="2400" dirty="0">
                          <a:latin typeface="NanumMyeongjo" pitchFamily="2" charset="-127"/>
                          <a:ea typeface="NanumMyeongjo" pitchFamily="2" charset="-127"/>
                        </a:rPr>
                        <a:t>BY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 </a:t>
                      </a:r>
                      <a:r>
                        <a:rPr lang="ko-KR" altLang="en-US" sz="2400" dirty="0" err="1">
                          <a:latin typeface="NanumMyeongjo" pitchFamily="2" charset="-127"/>
                          <a:ea typeface="NanumMyeongjo" pitchFamily="2" charset="-127"/>
                        </a:rPr>
                        <a:t>re_seet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) </a:t>
                      </a:r>
                    </a:p>
                    <a:p>
                      <a:r>
                        <a:rPr lang="en-US" altLang="ko-KR" sz="2400" dirty="0">
                          <a:latin typeface="NanumMyeongjo" pitchFamily="2" charset="-127"/>
                          <a:ea typeface="NanumMyeongjo" pitchFamily="2" charset="-127"/>
                        </a:rPr>
                        <a:t> WHERE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 </a:t>
                      </a:r>
                      <a:r>
                        <a:rPr lang="ko-KR" altLang="en-US" sz="2400" dirty="0" err="1">
                          <a:latin typeface="NanumMyeongjo" pitchFamily="2" charset="-127"/>
                          <a:ea typeface="NanumMyeongjo" pitchFamily="2" charset="-127"/>
                        </a:rPr>
                        <a:t>rownum</a:t>
                      </a:r>
                      <a:r>
                        <a:rPr lang="ko-KR" altLang="en-US" sz="2400" dirty="0">
                          <a:latin typeface="NanumMyeongjo" pitchFamily="2" charset="-127"/>
                          <a:ea typeface="NanumMyeongjo" pitchFamily="2" charset="-127"/>
                        </a:rPr>
                        <a:t> =1;</a:t>
                      </a:r>
                    </a:p>
                  </a:txBody>
                  <a:tcPr marL="28575" marR="28575" marT="0" marB="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371965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3E144949-1D60-100E-9550-19ABFEC75003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  <a:endParaRPr lang="en-US" altLang="ko-KR" sz="2400" b="1" dirty="0">
              <a:gradFill>
                <a:gsLst>
                  <a:gs pos="0">
                    <a:srgbClr val="765661"/>
                  </a:gs>
                  <a:gs pos="100000">
                    <a:srgbClr val="76566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</a:p>
        </p:txBody>
      </p:sp>
      <p:cxnSp>
        <p:nvCxnSpPr>
          <p:cNvPr id="10" name="직선 연결선 3">
            <a:extLst>
              <a:ext uri="{FF2B5EF4-FFF2-40B4-BE49-F238E27FC236}">
                <a16:creationId xmlns:a16="http://schemas.microsoft.com/office/drawing/2014/main" id="{E3D82E37-7DC6-252D-49D2-23339D153FC5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1A47B63-FAD3-72E9-F1B8-971961B125DD}"/>
              </a:ext>
            </a:extLst>
          </p:cNvPr>
          <p:cNvSpPr txBox="1"/>
          <p:nvPr/>
        </p:nvSpPr>
        <p:spPr>
          <a:xfrm>
            <a:off x="0" y="476972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48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동작 테스트</a:t>
            </a:r>
            <a:endParaRPr kumimoji="1" lang="x-none" altLang="en-US" sz="48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1808A92-683C-EB73-07A9-9693DEB62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4619" y="3344699"/>
            <a:ext cx="5344926" cy="96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29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530417" y="-10160"/>
            <a:ext cx="1066158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화살표: 갈매기형 수장 6"/>
          <p:cNvSpPr/>
          <p:nvPr/>
        </p:nvSpPr>
        <p:spPr>
          <a:xfrm>
            <a:off x="3173090" y="2974884"/>
            <a:ext cx="2320636" cy="699576"/>
          </a:xfrm>
          <a:prstGeom prst="chevron">
            <a:avLst/>
          </a:prstGeom>
          <a:solidFill>
            <a:srgbClr val="4990B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화살표: 갈매기형 수장 7"/>
          <p:cNvSpPr/>
          <p:nvPr/>
        </p:nvSpPr>
        <p:spPr>
          <a:xfrm>
            <a:off x="5679769" y="2974884"/>
            <a:ext cx="2320636" cy="699576"/>
          </a:xfrm>
          <a:prstGeom prst="chevron">
            <a:avLst/>
          </a:prstGeom>
          <a:solidFill>
            <a:srgbClr val="4990B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화살표: 갈매기형 수장 8"/>
          <p:cNvSpPr/>
          <p:nvPr/>
        </p:nvSpPr>
        <p:spPr>
          <a:xfrm>
            <a:off x="8186447" y="2974884"/>
            <a:ext cx="2320636" cy="699576"/>
          </a:xfrm>
          <a:prstGeom prst="chevron">
            <a:avLst/>
          </a:prstGeom>
          <a:solidFill>
            <a:srgbClr val="4990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80790" y="3086845"/>
            <a:ext cx="1866271" cy="475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spc="-15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예매 이벤트 </a:t>
            </a:r>
            <a:endParaRPr lang="ko-KR" altLang="en-US" sz="2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85183" y="3120869"/>
            <a:ext cx="1473598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spc="-15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포인트 적립</a:t>
            </a:r>
            <a:endParaRPr lang="ko-KR" altLang="en-US" sz="2800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97228" y="3086845"/>
            <a:ext cx="1099077" cy="475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트리거</a:t>
            </a:r>
            <a:endParaRPr lang="en-US" altLang="ko-KR" sz="24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39086C-D132-C62B-A5B7-81A2EEBF54BF}"/>
              </a:ext>
            </a:extLst>
          </p:cNvPr>
          <p:cNvSpPr txBox="1"/>
          <p:nvPr/>
        </p:nvSpPr>
        <p:spPr>
          <a:xfrm>
            <a:off x="1530417" y="319120"/>
            <a:ext cx="106615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54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기능 구현</a:t>
            </a:r>
            <a:r>
              <a:rPr kumimoji="1" lang="en-US" altLang="ko-KR" sz="54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1</a:t>
            </a:r>
            <a:endParaRPr kumimoji="1" lang="x-none" altLang="en-US" sz="54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D43220-2EBE-890F-469E-13B124666178}"/>
              </a:ext>
            </a:extLst>
          </p:cNvPr>
          <p:cNvSpPr txBox="1"/>
          <p:nvPr/>
        </p:nvSpPr>
        <p:spPr>
          <a:xfrm>
            <a:off x="1530417" y="1353902"/>
            <a:ext cx="106615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en-US" sz="16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1. </a:t>
            </a:r>
            <a:r>
              <a:rPr kumimoji="1" lang="x-none" altLang="en-US" sz="1600">
                <a:latin typeface="NanumMyeongjo" panose="02000300000000000000" pitchFamily="2" charset="-127"/>
                <a:ea typeface="NanumMyeongjo" panose="02000300000000000000" pitchFamily="2" charset="-127"/>
              </a:rPr>
              <a:t>예매</a:t>
            </a:r>
            <a:r>
              <a:rPr kumimoji="1" lang="ko-KR" altLang="en-US" sz="1600"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ko-KR" altLang="en-US" sz="16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이벤트 발생 시 구매 회원의 포인트 증가 및 상영관 잔여 좌석 차감 자동 진행 및 기존 데이터 반영</a:t>
            </a:r>
            <a:endParaRPr kumimoji="1" lang="x-none" altLang="en-US" sz="16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34" name="슬라이드 번호 개체 틀 33">
            <a:extLst>
              <a:ext uri="{FF2B5EF4-FFF2-40B4-BE49-F238E27FC236}">
                <a16:creationId xmlns:a16="http://schemas.microsoft.com/office/drawing/2014/main" id="{4520657D-00FE-F788-79D5-15117DD2C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17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4E92B8-B4E5-201F-4634-9F866D98A696}"/>
              </a:ext>
            </a:extLst>
          </p:cNvPr>
          <p:cNvSpPr txBox="1"/>
          <p:nvPr/>
        </p:nvSpPr>
        <p:spPr>
          <a:xfrm>
            <a:off x="3102996" y="3828957"/>
            <a:ext cx="7371844" cy="2739211"/>
          </a:xfrm>
          <a:prstGeom prst="rect">
            <a:avLst/>
          </a:prstGeom>
          <a:ln>
            <a:solidFill>
              <a:srgbClr val="4990B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ko-KR" altLang="en-US" sz="2400" dirty="0">
                <a:ln w="0"/>
                <a:solidFill>
                  <a:srgbClr val="4990B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  <a:reflection stA="45000" endPos="51000" dist="50800" dir="5400000" sy="-100000" algn="bl" rotWithShape="0"/>
                </a:effectLst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트리거의 필요 이유</a:t>
            </a:r>
            <a:endParaRPr kumimoji="1" lang="en-US" altLang="ko-KR" sz="2400" dirty="0">
              <a:ln w="0"/>
              <a:solidFill>
                <a:srgbClr val="4990B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  <a:reflection stA="45000" endPos="51000" dist="50800" dir="5400000" sy="-100000" algn="bl" rotWithShape="0"/>
              </a:effectLst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  <a:p>
            <a:pPr algn="ctr"/>
            <a:endParaRPr kumimoji="1"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회원이 예매를 하면 </a:t>
            </a:r>
            <a:endParaRPr kumimoji="1"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회원의 포인트 컬럼의 값이 </a:t>
            </a:r>
            <a:r>
              <a:rPr kumimoji="1"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update</a:t>
            </a:r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되야 하고 </a:t>
            </a:r>
            <a:endParaRPr kumimoji="1"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상영관의 잔여 좌석 </a:t>
            </a:r>
            <a:r>
              <a:rPr kumimoji="1" lang="ko-KR" altLang="en-US" sz="1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컬럼값이</a:t>
            </a:r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update</a:t>
            </a:r>
            <a:r>
              <a:rPr kumimoji="1" lang="ko-KR" altLang="en-US" sz="1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를</a:t>
            </a:r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개별 처리 </a:t>
            </a:r>
            <a:r>
              <a:rPr kumimoji="1" lang="ko-KR" altLang="en-US" sz="1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해야한다</a:t>
            </a:r>
            <a:r>
              <a:rPr kumimoji="1"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</a:p>
          <a:p>
            <a:pPr algn="ctr"/>
            <a:endParaRPr kumimoji="1"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예매 테이블에 </a:t>
            </a:r>
            <a:r>
              <a:rPr kumimoji="1"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insert </a:t>
            </a:r>
            <a:r>
              <a:rPr kumimoji="1" lang="ko-KR" altLang="en-US" sz="1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될때마때</a:t>
            </a:r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마다 </a:t>
            </a:r>
            <a:endParaRPr kumimoji="1"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kumimoji="1"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update</a:t>
            </a:r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를 수동적으로 해주어야 하므로</a:t>
            </a:r>
            <a:endParaRPr kumimoji="1"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트리거가 없다면</a:t>
            </a:r>
            <a:r>
              <a:rPr kumimoji="1"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수작업을 해야 하는 </a:t>
            </a:r>
            <a:endParaRPr kumimoji="1"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매우 불편한 부분이 발생 된다</a:t>
            </a:r>
            <a:r>
              <a:rPr kumimoji="1"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</a:p>
          <a:p>
            <a:pPr algn="ctr"/>
            <a:endParaRPr kumimoji="1"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kumimoji="1" lang="ko-KR" altLang="en-US" sz="1600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이를 개선 하기 위해 자동으로 처리 되는 </a:t>
            </a:r>
            <a:r>
              <a:rPr kumimoji="1" lang="ko-KR" altLang="en-US" sz="1600" u="sng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트리거를 사용 한다</a:t>
            </a:r>
            <a:endParaRPr kumimoji="1" lang="en-US" altLang="ko-KR" sz="1600" u="sng" dirty="0">
              <a:solidFill>
                <a:schemeClr val="tx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endParaRPr kumimoji="1"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21" name="화살표: 갈매기형 수장 6"/>
          <p:cNvSpPr/>
          <p:nvPr/>
        </p:nvSpPr>
        <p:spPr>
          <a:xfrm>
            <a:off x="3140039" y="1972349"/>
            <a:ext cx="2320636" cy="699576"/>
          </a:xfrm>
          <a:prstGeom prst="chevron">
            <a:avLst/>
          </a:prstGeom>
          <a:solidFill>
            <a:srgbClr val="4990B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화살표: 갈매기형 수장 7"/>
          <p:cNvSpPr/>
          <p:nvPr/>
        </p:nvSpPr>
        <p:spPr>
          <a:xfrm>
            <a:off x="5636558" y="1937370"/>
            <a:ext cx="2320636" cy="769534"/>
          </a:xfrm>
          <a:prstGeom prst="chevron">
            <a:avLst/>
          </a:prstGeom>
          <a:solidFill>
            <a:srgbClr val="4990B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3" name="화살표: 갈매기형 수장 8"/>
          <p:cNvSpPr/>
          <p:nvPr/>
        </p:nvSpPr>
        <p:spPr>
          <a:xfrm>
            <a:off x="8153396" y="1962189"/>
            <a:ext cx="2320636" cy="699576"/>
          </a:xfrm>
          <a:prstGeom prst="chevron">
            <a:avLst/>
          </a:prstGeom>
          <a:solidFill>
            <a:srgbClr val="4990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485871" y="2084310"/>
            <a:ext cx="17363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예매 이벤트</a:t>
            </a:r>
            <a:endParaRPr lang="ko-KR" altLang="en-US" sz="2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194108" y="2118334"/>
            <a:ext cx="1225860" cy="4196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spc="-15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좌석 차감</a:t>
            </a:r>
            <a:endParaRPr lang="ko-KR" altLang="en-US" sz="2800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764177" y="2084310"/>
            <a:ext cx="1099077" cy="475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트리거</a:t>
            </a:r>
            <a:endParaRPr lang="en-US" altLang="ko-KR" sz="28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90580E-E2BB-D42A-3337-6ED401B5F2A0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F05EF278-BB55-CBC9-08BA-246E40A2A249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0134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/>
      <p:bldP spid="11" grpId="0"/>
      <p:bldP spid="12" grpId="0"/>
      <p:bldP spid="21" grpId="0" animBg="1"/>
      <p:bldP spid="22" grpId="0" animBg="1"/>
      <p:bldP spid="23" grpId="0" animBg="1"/>
      <p:bldP spid="24" grpId="0"/>
      <p:bldP spid="25" grpId="0"/>
      <p:bldP spid="2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520256" y="-2991"/>
            <a:ext cx="1066158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화살표: 갈매기형 수장 8"/>
          <p:cNvSpPr/>
          <p:nvPr/>
        </p:nvSpPr>
        <p:spPr>
          <a:xfrm>
            <a:off x="2994856" y="1745676"/>
            <a:ext cx="2562384" cy="547226"/>
          </a:xfrm>
          <a:prstGeom prst="chevron">
            <a:avLst/>
          </a:prstGeom>
          <a:solidFill>
            <a:srgbClr val="4990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21144" y="1769682"/>
            <a:ext cx="1235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ln/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트리거</a:t>
            </a:r>
            <a:endParaRPr lang="en-US" altLang="ko-KR" sz="2800" b="1" dirty="0">
              <a:ln w="13462">
                <a:solidFill>
                  <a:schemeClr val="bg1"/>
                </a:solidFill>
                <a:prstDash val="solid"/>
              </a:ln>
              <a:effectLst>
                <a:outerShdw dist="38100" dir="2700000" algn="bl" rotWithShape="0">
                  <a:schemeClr val="accent5"/>
                </a:outerShdw>
              </a:effectLst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39086C-D132-C62B-A5B7-81A2EEBF54BF}"/>
              </a:ext>
            </a:extLst>
          </p:cNvPr>
          <p:cNvSpPr txBox="1"/>
          <p:nvPr/>
        </p:nvSpPr>
        <p:spPr>
          <a:xfrm>
            <a:off x="1530417" y="319120"/>
            <a:ext cx="106615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54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기능 구현</a:t>
            </a:r>
            <a:r>
              <a:rPr kumimoji="1" lang="en-US" altLang="ko-KR" sz="54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1</a:t>
            </a:r>
            <a:endParaRPr kumimoji="1" lang="x-none" altLang="en-US" sz="54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D43220-2EBE-890F-469E-13B124666178}"/>
              </a:ext>
            </a:extLst>
          </p:cNvPr>
          <p:cNvSpPr txBox="1"/>
          <p:nvPr/>
        </p:nvSpPr>
        <p:spPr>
          <a:xfrm>
            <a:off x="1530417" y="1228746"/>
            <a:ext cx="106615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en-US" sz="16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1. </a:t>
            </a:r>
            <a:r>
              <a:rPr kumimoji="1" lang="x-none" altLang="en-US" sz="1600">
                <a:latin typeface="NanumMyeongjo" panose="02000300000000000000" pitchFamily="2" charset="-127"/>
                <a:ea typeface="NanumMyeongjo" panose="02000300000000000000" pitchFamily="2" charset="-127"/>
              </a:rPr>
              <a:t>예매</a:t>
            </a:r>
            <a:r>
              <a:rPr kumimoji="1" lang="ko-KR" altLang="en-US" sz="1600"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ko-KR" altLang="en-US" sz="16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이벤트 발생 시 구매 회원의 포인트 증가 및 상영관 잔여 좌석 차감 자동 진행 및 기존 데이터 반영</a:t>
            </a:r>
            <a:endParaRPr kumimoji="1" lang="x-none" altLang="en-US" sz="16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34" name="슬라이드 번호 개체 틀 33">
            <a:extLst>
              <a:ext uri="{FF2B5EF4-FFF2-40B4-BE49-F238E27FC236}">
                <a16:creationId xmlns:a16="http://schemas.microsoft.com/office/drawing/2014/main" id="{4520657D-00FE-F788-79D5-15117DD2C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18</a:t>
            </a:fld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2276696" y="2402347"/>
            <a:ext cx="9489195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CREATE OR REPLACE TRIGGER 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upd_cos_point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 </a:t>
            </a:r>
          </a:p>
          <a:p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AFTER </a:t>
            </a:r>
          </a:p>
          <a:p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INSERT ON TICKETTING</a:t>
            </a:r>
          </a:p>
          <a:p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FOR EACH ROW</a:t>
            </a:r>
          </a:p>
          <a:p>
            <a:endParaRPr lang="en-US" sz="1100" b="1" dirty="0">
              <a:latin typeface="NanumMyeongjo" pitchFamily="2" charset="-127"/>
              <a:ea typeface="NanumMyeongjo" pitchFamily="2" charset="-127"/>
            </a:endParaRPr>
          </a:p>
          <a:p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DECLARE</a:t>
            </a:r>
          </a:p>
          <a:p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    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cnt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   number;</a:t>
            </a:r>
          </a:p>
          <a:p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    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s_num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 number;</a:t>
            </a:r>
          </a:p>
          <a:p>
            <a:endParaRPr lang="en-US" sz="1100" b="1" dirty="0">
              <a:latin typeface="NanumMyeongjo" pitchFamily="2" charset="-127"/>
              <a:ea typeface="NanumMyeongjo" pitchFamily="2" charset="-127"/>
            </a:endParaRPr>
          </a:p>
          <a:p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BEGIN</a:t>
            </a:r>
          </a:p>
          <a:p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    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cnt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 := :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NEW.ti_nop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;</a:t>
            </a:r>
          </a:p>
          <a:p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    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s_num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 := :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NEW.sh_num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;</a:t>
            </a:r>
          </a:p>
          <a:p>
            <a:endParaRPr lang="en-US" sz="1100" b="1" dirty="0">
              <a:latin typeface="NanumMyeongjo" pitchFamily="2" charset="-127"/>
              <a:ea typeface="NanumMyeongjo" pitchFamily="2" charset="-127"/>
            </a:endParaRPr>
          </a:p>
          <a:p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    UPDATE CUSTOMER</a:t>
            </a:r>
          </a:p>
          <a:p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    SET 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cos_point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 = 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cos_point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 + 100 * 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cnt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   </a:t>
            </a:r>
          </a:p>
          <a:p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    WHERE 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cos_num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 = :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NEW.cos_num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 ;</a:t>
            </a:r>
          </a:p>
          <a:p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    </a:t>
            </a:r>
            <a:br>
              <a:rPr lang="en-US" sz="1100" b="1" dirty="0">
                <a:latin typeface="NanumMyeongjo" pitchFamily="2" charset="-127"/>
                <a:ea typeface="NanumMyeongjo" pitchFamily="2" charset="-127"/>
              </a:rPr>
            </a:b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    UPDATE MOVIE_ROUNGE</a:t>
            </a:r>
          </a:p>
          <a:p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    SET 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re_seet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 = 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re_seet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 - 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cnt</a:t>
            </a:r>
            <a:endParaRPr lang="en-US" sz="1100" b="1" dirty="0">
              <a:latin typeface="NanumMyeongjo" pitchFamily="2" charset="-127"/>
              <a:ea typeface="NanumMyeongjo" pitchFamily="2" charset="-127"/>
            </a:endParaRPr>
          </a:p>
          <a:p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    WHERE 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ro_num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=</a:t>
            </a:r>
          </a:p>
          <a:p>
            <a:r>
              <a:rPr lang="ko-KR" altLang="en-US" sz="1100" b="1" dirty="0">
                <a:latin typeface="NanumMyeongjo" pitchFamily="2" charset="-127"/>
                <a:ea typeface="NanumMyeongjo" pitchFamily="2" charset="-127"/>
              </a:rPr>
              <a:t>       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(select 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sh_movien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 from 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show_day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 where 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sh_num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=</a:t>
            </a:r>
            <a:r>
              <a:rPr lang="en-US" sz="1100" b="1" dirty="0" err="1">
                <a:latin typeface="NanumMyeongjo" pitchFamily="2" charset="-127"/>
                <a:ea typeface="NanumMyeongjo" pitchFamily="2" charset="-127"/>
              </a:rPr>
              <a:t>s_num</a:t>
            </a:r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) ;</a:t>
            </a:r>
            <a:br>
              <a:rPr lang="en-US" sz="1100" b="1" dirty="0">
                <a:latin typeface="NanumMyeongjo" pitchFamily="2" charset="-127"/>
                <a:ea typeface="NanumMyeongjo" pitchFamily="2" charset="-127"/>
              </a:rPr>
            </a:br>
            <a:endParaRPr lang="en-US" sz="1100" b="1" dirty="0">
              <a:latin typeface="NanumMyeongjo" pitchFamily="2" charset="-127"/>
              <a:ea typeface="NanumMyeongjo" pitchFamily="2" charset="-127"/>
            </a:endParaRPr>
          </a:p>
          <a:p>
            <a:r>
              <a:rPr lang="en-US" sz="1100" b="1" dirty="0">
                <a:latin typeface="NanumMyeongjo" pitchFamily="2" charset="-127"/>
                <a:ea typeface="NanumMyeongjo" pitchFamily="2" charset="-127"/>
              </a:rPr>
              <a:t>END;</a:t>
            </a:r>
          </a:p>
          <a:p>
            <a:br>
              <a:rPr lang="en-US" sz="1100" b="1" dirty="0">
                <a:latin typeface="NanumMyeongjo" pitchFamily="2" charset="-127"/>
                <a:ea typeface="NanumMyeongjo" pitchFamily="2" charset="-127"/>
              </a:rPr>
            </a:br>
            <a:endParaRPr lang="en-US" sz="1100" b="1" dirty="0">
              <a:latin typeface="NanumMyeongjo" pitchFamily="2" charset="-127"/>
              <a:ea typeface="NanumMyeongjo" pitchFamily="2" charset="-127"/>
            </a:endParaRPr>
          </a:p>
          <a:p>
            <a:br>
              <a:rPr lang="en-US" sz="1100" b="1" dirty="0">
                <a:latin typeface="NanumMyeongjo" pitchFamily="2" charset="-127"/>
                <a:ea typeface="NanumMyeongjo" pitchFamily="2" charset="-127"/>
              </a:rPr>
            </a:br>
            <a:endParaRPr lang="ko-KR" altLang="en-US" sz="1100" b="1" dirty="0">
              <a:latin typeface="NanumMyeongjo" pitchFamily="2" charset="-127"/>
              <a:ea typeface="NanumMyeongjo" pitchFamily="2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6766560" y="1560498"/>
            <a:ext cx="4149197" cy="63863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b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</a:b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en-US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reflection blurRad="137438" endPos="45680" dist="50800" dir="5400000" sy="-100000" algn="bl" rotWithShape="0"/>
                </a:effectLst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upd_cos_point</a:t>
            </a:r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effectLst>
                <a:reflection blurRad="137438" endPos="45680" dist="50800" dir="5400000" sy="-100000" algn="bl" rotWithShape="0"/>
              </a:effectLst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  <a:p>
            <a:endParaRPr 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예매 테이블에 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insert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가 실행 된 후</a:t>
            </a:r>
            <a:b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</a:b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변수 </a:t>
            </a:r>
            <a:r>
              <a:rPr lang="ko-KR" altLang="en-US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선언부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선언을 한다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데이터 타입이 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number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인 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en-US" altLang="ko-Kore-KR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cnt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와 </a:t>
            </a:r>
            <a:r>
              <a:rPr lang="en-US" altLang="ko-KR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s_num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이라는 변수를 선언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en-US" altLang="ko-Kore-KR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cnt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에 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insert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된 </a:t>
            </a:r>
            <a:r>
              <a:rPr lang="ko-KR" altLang="en-US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튜플의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인원수 값을 할당한다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en-US" altLang="ko-KR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cnt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는 인원수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이다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.</a:t>
            </a:r>
            <a:endParaRPr lang="en-US" altLang="ko-Kore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endParaRPr lang="en-US" altLang="ko-Kore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en-US" altLang="ko-Kore-KR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s_num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에 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insert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된 </a:t>
            </a:r>
            <a:r>
              <a:rPr lang="ko-KR" altLang="en-US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튜플의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일정번호를 할당한다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s_num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은 일정번호이다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.</a:t>
            </a:r>
            <a:b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</a:b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회원의 포인트 컬럼 값은 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update =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포인트 적립 기능이다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.</a:t>
            </a:r>
          </a:p>
          <a:p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회원의 포인트에 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100 *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인원수만큼 더해서 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변경하고 저장 한다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. </a:t>
            </a:r>
          </a:p>
          <a:p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회원 번호가 새로 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insert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된 </a:t>
            </a:r>
            <a:r>
              <a:rPr lang="ko-KR" altLang="en-US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튜플의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회원번호와 같은 </a:t>
            </a:r>
            <a:r>
              <a:rPr lang="ko-KR" altLang="en-US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튜플을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선정 한다</a:t>
            </a:r>
            <a:b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</a:b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상영관의 잔여좌석 값을 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update =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잔여좌석 차감 기능을 한다 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잔여좌석을 인원수만큼 빼서 변경하고 저장 하고</a:t>
            </a:r>
            <a:endParaRPr lang="en-US" altLang="ko-Kore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새로 들어온 상영관 번호와 같은 </a:t>
            </a:r>
            <a:r>
              <a:rPr lang="ko-KR" altLang="en-US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튜플을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선정 한다</a:t>
            </a:r>
            <a:endParaRPr lang="en-US" altLang="ko-Kore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br>
              <a:rPr lang="en-US" altLang="ko-Kore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</a:br>
            <a:endParaRPr lang="ko-KR" alt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pPr marL="285750" indent="-285750">
              <a:buFont typeface="Wingdings" pitchFamily="2" charset="2"/>
              <a:buChar char="n"/>
            </a:pPr>
            <a:endParaRPr lang="en-US" altLang="ko-Kore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br>
              <a:rPr lang="en-US" altLang="ko-Kore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</a:br>
            <a:endParaRPr lang="ko-KR" alt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br>
              <a:rPr lang="en-US" altLang="ko-Kore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</a:b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endParaRPr 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endParaRPr 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b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</a:br>
            <a:endParaRPr lang="ko-KR" alt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D4154181-982D-F3A9-9B28-928A5B7A7059}"/>
              </a:ext>
            </a:extLst>
          </p:cNvPr>
          <p:cNvSpPr/>
          <p:nvPr/>
        </p:nvSpPr>
        <p:spPr>
          <a:xfrm>
            <a:off x="6573520" y="1683302"/>
            <a:ext cx="4499168" cy="4607654"/>
          </a:xfrm>
          <a:prstGeom prst="roundRect">
            <a:avLst/>
          </a:prstGeom>
          <a:noFill/>
          <a:ln w="25400" cap="flat" cmpd="sng" algn="ctr">
            <a:solidFill>
              <a:srgbClr val="4990B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DC02B5-A9A8-BD21-DDBE-646758A9784B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</a:p>
        </p:txBody>
      </p:sp>
      <p:cxnSp>
        <p:nvCxnSpPr>
          <p:cNvPr id="5" name="직선 연결선 3">
            <a:extLst>
              <a:ext uri="{FF2B5EF4-FFF2-40B4-BE49-F238E27FC236}">
                <a16:creationId xmlns:a16="http://schemas.microsoft.com/office/drawing/2014/main" id="{2B1FDF64-2497-8E73-36BE-708D98560B2A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1623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530416" y="16256"/>
            <a:ext cx="1066158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화살표: 갈매기형 수장 6"/>
          <p:cNvSpPr/>
          <p:nvPr/>
        </p:nvSpPr>
        <p:spPr>
          <a:xfrm>
            <a:off x="2794000" y="2372391"/>
            <a:ext cx="2685515" cy="1081276"/>
          </a:xfrm>
          <a:prstGeom prst="chevron">
            <a:avLst/>
          </a:prstGeom>
          <a:solidFill>
            <a:srgbClr val="4990B1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화살표: 갈매기형 수장 7"/>
          <p:cNvSpPr/>
          <p:nvPr/>
        </p:nvSpPr>
        <p:spPr>
          <a:xfrm>
            <a:off x="5300679" y="2372391"/>
            <a:ext cx="2685515" cy="1081276"/>
          </a:xfrm>
          <a:prstGeom prst="chevron">
            <a:avLst/>
          </a:prstGeom>
          <a:solidFill>
            <a:srgbClr val="4990B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화살표: 갈매기형 수장 8"/>
          <p:cNvSpPr/>
          <p:nvPr/>
        </p:nvSpPr>
        <p:spPr>
          <a:xfrm>
            <a:off x="7807357" y="2372391"/>
            <a:ext cx="2685515" cy="1081276"/>
          </a:xfrm>
          <a:prstGeom prst="chevron">
            <a:avLst/>
          </a:prstGeom>
          <a:solidFill>
            <a:srgbClr val="4990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14894" y="2630379"/>
            <a:ext cx="1674176" cy="575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예매 취소</a:t>
            </a:r>
            <a:r>
              <a:rPr lang="en-US" altLang="ko-KR" sz="28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	</a:t>
            </a:r>
            <a:endParaRPr lang="ko-KR" altLang="en-US" sz="28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93088" y="2692312"/>
            <a:ext cx="1620958" cy="507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b="1" spc="-150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포인트 복구</a:t>
            </a:r>
            <a:endParaRPr lang="ko-KR" altLang="en-US" sz="2800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481951" y="2630379"/>
            <a:ext cx="1208984" cy="575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800" b="1" dirty="0" err="1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트리거</a:t>
            </a:r>
            <a:endParaRPr lang="en-US" altLang="ko-KR" sz="2800" b="1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39086C-D132-C62B-A5B7-81A2EEBF54BF}"/>
              </a:ext>
            </a:extLst>
          </p:cNvPr>
          <p:cNvSpPr txBox="1"/>
          <p:nvPr/>
        </p:nvSpPr>
        <p:spPr>
          <a:xfrm>
            <a:off x="1530418" y="319120"/>
            <a:ext cx="10661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54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기능 구현</a:t>
            </a:r>
            <a:r>
              <a:rPr kumimoji="1" lang="en-US" altLang="ko-KR" sz="54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2</a:t>
            </a:r>
            <a:endParaRPr kumimoji="1" lang="x-none" altLang="en-US" sz="54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9D43220-2EBE-890F-469E-13B124666178}"/>
              </a:ext>
            </a:extLst>
          </p:cNvPr>
          <p:cNvSpPr txBox="1"/>
          <p:nvPr/>
        </p:nvSpPr>
        <p:spPr>
          <a:xfrm>
            <a:off x="1530417" y="1410145"/>
            <a:ext cx="10661583" cy="1049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6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2. </a:t>
            </a:r>
            <a:r>
              <a:rPr kumimoji="1" lang="ko-KR" altLang="en-US" sz="16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예매 취소 시 회원의 포인트와 상영관의 잔여좌석 복구</a:t>
            </a:r>
            <a:endParaRPr kumimoji="1" lang="en-US" altLang="ko-KR" sz="16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endParaRPr kumimoji="1" lang="en-US" altLang="ko-KR" sz="16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kumimoji="1" lang="en-US" altLang="ko-KR" sz="24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KEY</a:t>
            </a:r>
            <a:r>
              <a:rPr kumimoji="1" lang="ko-KR" altLang="en-US" sz="24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ko-KR" sz="24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POINT</a:t>
            </a:r>
            <a:r>
              <a:rPr kumimoji="1" lang="ko-KR" altLang="en-US" sz="24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endParaRPr kumimoji="1" lang="x-none" altLang="en-US" sz="24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C51226-C76D-E042-423B-1411DFE66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19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668610-2628-9F58-9A0C-5E7174BE183B}"/>
              </a:ext>
            </a:extLst>
          </p:cNvPr>
          <p:cNvSpPr txBox="1"/>
          <p:nvPr/>
        </p:nvSpPr>
        <p:spPr>
          <a:xfrm>
            <a:off x="2981076" y="3717197"/>
            <a:ext cx="7371844" cy="2739211"/>
          </a:xfrm>
          <a:prstGeom prst="rect">
            <a:avLst/>
          </a:prstGeom>
          <a:ln>
            <a:solidFill>
              <a:srgbClr val="4990B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ko-KR" altLang="en-US" sz="2400" dirty="0">
                <a:ln w="0"/>
                <a:solidFill>
                  <a:srgbClr val="4990B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  <a:reflection stA="45000" endPos="51000" dist="50800" dir="5400000" sy="-100000" algn="bl" rotWithShape="0"/>
                </a:effectLst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트리거의 필요 이유</a:t>
            </a:r>
            <a:endParaRPr kumimoji="1" lang="en-US" altLang="ko-KR" sz="2400" dirty="0">
              <a:ln w="0"/>
              <a:solidFill>
                <a:srgbClr val="4990B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  <a:reflection stA="45000" endPos="51000" dist="50800" dir="5400000" sy="-100000" algn="bl" rotWithShape="0"/>
              </a:effectLst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  <a:p>
            <a:pPr algn="ctr"/>
            <a:endParaRPr kumimoji="1"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회원이 예매를 하면 </a:t>
            </a:r>
            <a:endParaRPr kumimoji="1"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회원의 포인트 컬럼의 값이 </a:t>
            </a:r>
            <a:r>
              <a:rPr kumimoji="1"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update</a:t>
            </a:r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되야 하고 </a:t>
            </a:r>
            <a:endParaRPr kumimoji="1"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상영관의 잔여 좌석 </a:t>
            </a:r>
            <a:r>
              <a:rPr kumimoji="1" lang="ko-KR" altLang="en-US" sz="1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컬럼값이</a:t>
            </a:r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kumimoji="1"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update</a:t>
            </a:r>
            <a:r>
              <a:rPr kumimoji="1" lang="ko-KR" altLang="en-US" sz="1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를</a:t>
            </a:r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개별 처리 </a:t>
            </a:r>
            <a:r>
              <a:rPr kumimoji="1" lang="ko-KR" altLang="en-US" sz="1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해야한다</a:t>
            </a:r>
            <a:r>
              <a:rPr kumimoji="1"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</a:p>
          <a:p>
            <a:pPr algn="ctr"/>
            <a:endParaRPr kumimoji="1"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예매 테이블에 </a:t>
            </a:r>
            <a:r>
              <a:rPr kumimoji="1"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DELETE </a:t>
            </a:r>
            <a:r>
              <a:rPr kumimoji="1" lang="ko-KR" altLang="en-US" sz="12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될때마때</a:t>
            </a:r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마다 </a:t>
            </a:r>
            <a:endParaRPr kumimoji="1"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kumimoji="1"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update</a:t>
            </a:r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를 수동적으로 해주어야 하므로</a:t>
            </a:r>
            <a:endParaRPr kumimoji="1"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트리거가 없다면</a:t>
            </a:r>
            <a:r>
              <a:rPr kumimoji="1"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수작업을 해야 하는 </a:t>
            </a:r>
            <a:endParaRPr kumimoji="1"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kumimoji="1" lang="ko-KR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매우 불편한 부분이 발생 된다</a:t>
            </a:r>
            <a:r>
              <a:rPr kumimoji="1" lang="en-US" altLang="ko-KR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</a:p>
          <a:p>
            <a:pPr algn="ctr"/>
            <a:endParaRPr kumimoji="1"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kumimoji="1" lang="ko-KR" altLang="en-US" sz="1600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이를 개선 하기 위해 자동으로 처리 되는 </a:t>
            </a:r>
            <a:r>
              <a:rPr kumimoji="1" lang="ko-KR" altLang="en-US" sz="1600" u="sng" dirty="0">
                <a:solidFill>
                  <a:schemeClr val="tx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트리거를 사용 한다</a:t>
            </a:r>
            <a:endParaRPr kumimoji="1" lang="en-US" altLang="ko-KR" sz="1600" u="sng" dirty="0">
              <a:solidFill>
                <a:schemeClr val="tx1"/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endParaRPr kumimoji="1" lang="en-US" altLang="ko-KR" sz="1200" b="1" dirty="0">
              <a:solidFill>
                <a:schemeClr val="tx1">
                  <a:lumMod val="65000"/>
                  <a:lumOff val="35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9DF0533-0098-0644-C4A6-3726D044C2B0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</a:p>
        </p:txBody>
      </p:sp>
      <p:cxnSp>
        <p:nvCxnSpPr>
          <p:cNvPr id="13" name="직선 연결선 3">
            <a:extLst>
              <a:ext uri="{FF2B5EF4-FFF2-40B4-BE49-F238E27FC236}">
                <a16:creationId xmlns:a16="http://schemas.microsoft.com/office/drawing/2014/main" id="{5B5819D2-49DC-636B-6545-6417E566D5C7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516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/>
      <p:bldP spid="11" grpId="0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530417" y="0"/>
            <a:ext cx="10661583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639086C-D132-C62B-A5B7-81A2EEBF54BF}"/>
              </a:ext>
            </a:extLst>
          </p:cNvPr>
          <p:cNvSpPr txBox="1"/>
          <p:nvPr/>
        </p:nvSpPr>
        <p:spPr>
          <a:xfrm>
            <a:off x="1530417" y="319120"/>
            <a:ext cx="106615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54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기능 구현</a:t>
            </a:r>
            <a:r>
              <a:rPr kumimoji="1" lang="en-US" altLang="ko-KR" sz="5400" b="1" dirty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2</a:t>
            </a:r>
            <a:endParaRPr kumimoji="1" lang="x-none" altLang="en-US" sz="5400" b="1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</p:txBody>
      </p:sp>
      <p:sp>
        <p:nvSpPr>
          <p:cNvPr id="34" name="슬라이드 번호 개체 틀 33">
            <a:extLst>
              <a:ext uri="{FF2B5EF4-FFF2-40B4-BE49-F238E27FC236}">
                <a16:creationId xmlns:a16="http://schemas.microsoft.com/office/drawing/2014/main" id="{4520657D-00FE-F788-79D5-15117DD2C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20</a:t>
            </a:fld>
            <a:endParaRPr lang="ko-KR" altLang="en-US"/>
          </a:p>
        </p:txBody>
      </p:sp>
      <p:sp>
        <p:nvSpPr>
          <p:cNvPr id="14" name="직사각형 13"/>
          <p:cNvSpPr/>
          <p:nvPr/>
        </p:nvSpPr>
        <p:spPr>
          <a:xfrm>
            <a:off x="2100136" y="2156518"/>
            <a:ext cx="9533675" cy="51398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>
                <a:latin typeface="NanumMyeongjo" pitchFamily="2" charset="-127"/>
                <a:ea typeface="NanumMyeongjo" pitchFamily="2" charset="-127"/>
              </a:rPr>
              <a:t>CREATE OR REPLACE TRIGGER </a:t>
            </a:r>
            <a:r>
              <a:rPr lang="en-US" sz="1600" b="1" dirty="0" err="1">
                <a:latin typeface="NanumMyeongjo" pitchFamily="2" charset="-127"/>
                <a:ea typeface="NanumMyeongjo" pitchFamily="2" charset="-127"/>
              </a:rPr>
              <a:t>upt_reset</a:t>
            </a:r>
            <a:endParaRPr lang="en-US" sz="1600" b="1" dirty="0">
              <a:latin typeface="NanumMyeongjo" pitchFamily="2" charset="-127"/>
              <a:ea typeface="NanumMyeongjo" pitchFamily="2" charset="-127"/>
            </a:endParaRPr>
          </a:p>
          <a:p>
            <a:endParaRPr lang="en-US" sz="1200" b="1" dirty="0">
              <a:latin typeface="NanumMyeongjo" pitchFamily="2" charset="-127"/>
              <a:ea typeface="NanumMyeongjo" pitchFamily="2" charset="-127"/>
            </a:endParaRPr>
          </a:p>
          <a:p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AFTER DELETE ON TICKETTING</a:t>
            </a:r>
          </a:p>
          <a:p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FOR EACH ROW</a:t>
            </a:r>
          </a:p>
          <a:p>
            <a:endParaRPr lang="en-US" sz="1200" b="1" dirty="0">
              <a:latin typeface="NanumMyeongjo" pitchFamily="2" charset="-127"/>
              <a:ea typeface="NanumMyeongjo" pitchFamily="2" charset="-127"/>
            </a:endParaRPr>
          </a:p>
          <a:p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DECLARE</a:t>
            </a:r>
          </a:p>
          <a:p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    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cnt</a:t>
            </a: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   number;</a:t>
            </a:r>
          </a:p>
          <a:p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    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s_num</a:t>
            </a: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 number;</a:t>
            </a:r>
          </a:p>
          <a:p>
            <a:endParaRPr lang="en-US" sz="1200" b="1" dirty="0">
              <a:latin typeface="NanumMyeongjo" pitchFamily="2" charset="-127"/>
              <a:ea typeface="NanumMyeongjo" pitchFamily="2" charset="-127"/>
            </a:endParaRPr>
          </a:p>
          <a:p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BEGIN</a:t>
            </a:r>
          </a:p>
          <a:p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    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cnt</a:t>
            </a: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 := :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NEW.ti_nop</a:t>
            </a: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;</a:t>
            </a:r>
          </a:p>
          <a:p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    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s_num</a:t>
            </a: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 := :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NEW.sh_num</a:t>
            </a: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;</a:t>
            </a:r>
          </a:p>
          <a:p>
            <a:endParaRPr lang="en-US" sz="1200" b="1" dirty="0">
              <a:latin typeface="NanumMyeongjo" pitchFamily="2" charset="-127"/>
              <a:ea typeface="NanumMyeongjo" pitchFamily="2" charset="-127"/>
            </a:endParaRPr>
          </a:p>
          <a:p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    UPDATE CUSTOMER</a:t>
            </a:r>
          </a:p>
          <a:p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    SET 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cos_point</a:t>
            </a: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 = 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cos_point</a:t>
            </a: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 - 100 * 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cnt</a:t>
            </a: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   </a:t>
            </a:r>
          </a:p>
          <a:p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    WHERE 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cos_num</a:t>
            </a: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 = :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OLD.cos_num</a:t>
            </a: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 ;</a:t>
            </a:r>
          </a:p>
          <a:p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    </a:t>
            </a:r>
            <a:br>
              <a:rPr lang="en-US" sz="1200" b="1" dirty="0">
                <a:latin typeface="NanumMyeongjo" pitchFamily="2" charset="-127"/>
                <a:ea typeface="NanumMyeongjo" pitchFamily="2" charset="-127"/>
              </a:rPr>
            </a:b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    UPDATE MOVIE_ROUNGE</a:t>
            </a:r>
          </a:p>
          <a:p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    SET 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re_seet</a:t>
            </a: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 = 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re_seet</a:t>
            </a: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 + 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cnt</a:t>
            </a:r>
            <a:endParaRPr lang="en-US" sz="1200" b="1" dirty="0">
              <a:latin typeface="NanumMyeongjo" pitchFamily="2" charset="-127"/>
              <a:ea typeface="NanumMyeongjo" pitchFamily="2" charset="-127"/>
            </a:endParaRPr>
          </a:p>
          <a:p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    WHERE 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ro_num</a:t>
            </a: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=</a:t>
            </a:r>
          </a:p>
          <a:p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    (select 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sh_movien</a:t>
            </a: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 from 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show_day</a:t>
            </a: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 where 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sh_num</a:t>
            </a: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=</a:t>
            </a:r>
            <a:r>
              <a:rPr lang="en-US" sz="1200" b="1" dirty="0" err="1">
                <a:latin typeface="NanumMyeongjo" pitchFamily="2" charset="-127"/>
                <a:ea typeface="NanumMyeongjo" pitchFamily="2" charset="-127"/>
              </a:rPr>
              <a:t>s_num</a:t>
            </a: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) ;</a:t>
            </a:r>
          </a:p>
          <a:p>
            <a:br>
              <a:rPr lang="en-US" sz="1200" b="1" dirty="0">
                <a:latin typeface="NanumMyeongjo" pitchFamily="2" charset="-127"/>
                <a:ea typeface="NanumMyeongjo" pitchFamily="2" charset="-127"/>
              </a:rPr>
            </a:br>
            <a:r>
              <a:rPr lang="en-US" sz="1200" b="1" dirty="0">
                <a:latin typeface="NanumMyeongjo" pitchFamily="2" charset="-127"/>
                <a:ea typeface="NanumMyeongjo" pitchFamily="2" charset="-127"/>
              </a:rPr>
              <a:t>END;</a:t>
            </a:r>
          </a:p>
          <a:p>
            <a:br>
              <a:rPr lang="en-US" sz="1200" b="1" dirty="0">
                <a:latin typeface="NanumMyeongjo" pitchFamily="2" charset="-127"/>
                <a:ea typeface="NanumMyeongjo" pitchFamily="2" charset="-127"/>
              </a:rPr>
            </a:br>
            <a:endParaRPr lang="en-US" sz="1200" b="1" dirty="0">
              <a:latin typeface="NanumMyeongjo" pitchFamily="2" charset="-127"/>
              <a:ea typeface="NanumMyeongjo" pitchFamily="2" charset="-127"/>
            </a:endParaRPr>
          </a:p>
          <a:p>
            <a:br>
              <a:rPr lang="en-US" sz="1200" b="1" dirty="0">
                <a:latin typeface="NanumMyeongjo" pitchFamily="2" charset="-127"/>
                <a:ea typeface="NanumMyeongjo" pitchFamily="2" charset="-127"/>
              </a:rPr>
            </a:br>
            <a:endParaRPr lang="ko-KR" altLang="en-US" sz="1200" b="1" dirty="0">
              <a:latin typeface="NanumMyeongjo" pitchFamily="2" charset="-127"/>
              <a:ea typeface="NanumMyeongjo" pitchFamily="2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6908801" y="1330960"/>
            <a:ext cx="4267200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b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</a:br>
            <a:r>
              <a:rPr lang="en-US" altLang="ko-Kore-KR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reflection blurRad="137438" endPos="45680" dist="50800" dir="5400000" sy="-100000" algn="bl" rotWithShape="0"/>
                </a:effectLst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upd_</a:t>
            </a:r>
            <a:r>
              <a:rPr lang="en-US" altLang="ko-KR" sz="2400" b="1" dirty="0" err="1">
                <a:solidFill>
                  <a:schemeClr val="tx1">
                    <a:lumMod val="75000"/>
                    <a:lumOff val="25000"/>
                  </a:schemeClr>
                </a:solidFill>
                <a:effectLst>
                  <a:reflection blurRad="137438" endPos="45680" dist="50800" dir="5400000" sy="-100000" algn="bl" rotWithShape="0"/>
                </a:effectLst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reset</a:t>
            </a:r>
            <a:endParaRPr lang="en-US" altLang="ko-Kore-KR" b="1" dirty="0">
              <a:solidFill>
                <a:schemeClr val="tx1">
                  <a:lumMod val="75000"/>
                  <a:lumOff val="25000"/>
                </a:schemeClr>
              </a:solidFill>
              <a:effectLst>
                <a:reflection blurRad="137438" endPos="45680" dist="50800" dir="5400000" sy="-100000" algn="bl" rotWithShape="0"/>
              </a:effectLst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  <a:p>
            <a:pPr algn="ctr"/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예매 테이블에 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insert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이벤트가 발생 되었을 때 실행된다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.</a:t>
            </a:r>
          </a:p>
          <a:p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변수 선언부에 기재된 데이터 타입이 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number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인 </a:t>
            </a:r>
            <a:r>
              <a:rPr lang="en-US" altLang="ko-Kore-KR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cnt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와 </a:t>
            </a:r>
            <a:r>
              <a:rPr lang="en-US" altLang="ko-KR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s_num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이라는 변수를 선언 해 놓는다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.</a:t>
            </a:r>
          </a:p>
          <a:p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en-US" altLang="ko-Kore-KR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cnt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에 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DELETE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된 </a:t>
            </a:r>
            <a:r>
              <a:rPr lang="ko-KR" altLang="en-US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튜플의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인원수 값을 할당한다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en-US" altLang="ko-KR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cnt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는 인원수이다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.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endParaRPr lang="en-US" altLang="ko-Kore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en-US" altLang="ko-Kore-KR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s_num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에 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DELETE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된 </a:t>
            </a:r>
            <a:r>
              <a:rPr lang="ko-KR" altLang="en-US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튜플의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일정번호를 할당 한다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en-US" altLang="ko-KR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s_num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는 일정번호이다</a:t>
            </a:r>
          </a:p>
          <a:p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회원의 포인트 컬럼 값 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update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하여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포인트 복구를 한다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회원의 포인트에 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100 *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인원수만큼 뺄셈 연산 하여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변경하고 변경된 값을 회원 정보 포인트에 저장한다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endParaRPr lang="en-US" altLang="ko-Kore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회원 번호가 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DELETE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된 </a:t>
            </a:r>
            <a:r>
              <a:rPr lang="ko-KR" altLang="en-US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튜플의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회원번호와 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같은 </a:t>
            </a:r>
            <a:r>
              <a:rPr lang="ko-KR" altLang="en-US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튜플을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선정 하여 </a:t>
            </a:r>
            <a:b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</a:b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상영관의 잔여좌석 값을 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update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실행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,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잔여좌석 복구 한다</a:t>
            </a:r>
            <a:endParaRPr lang="en-US" altLang="ko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잔여좌석을 예매한 인원수만큼 더해서 변경하고 저장 한다</a:t>
            </a:r>
            <a:endParaRPr lang="en-US" altLang="ko-Kore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상영관 번호와 같은 </a:t>
            </a:r>
            <a:r>
              <a:rPr lang="ko-KR" altLang="en-US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튜플을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선정한다</a:t>
            </a:r>
            <a:r>
              <a:rPr lang="en-US" altLang="ko-KR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.</a:t>
            </a:r>
            <a:r>
              <a:rPr lang="ko-KR" alt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endParaRPr lang="en-US" altLang="ko-Kore-KR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  <a:p>
            <a:br>
              <a:rPr lang="en-US" sz="11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NanumMyeongjo" pitchFamily="2" charset="-127"/>
                <a:ea typeface="NanumMyeongjo" pitchFamily="2" charset="-127"/>
              </a:rPr>
            </a:br>
            <a:endParaRPr lang="ko-KR" altLang="en-US" sz="1100" b="1" dirty="0">
              <a:solidFill>
                <a:schemeClr val="tx1">
                  <a:lumMod val="75000"/>
                  <a:lumOff val="25000"/>
                </a:schemeClr>
              </a:solidFill>
              <a:latin typeface="NanumMyeongjo" pitchFamily="2" charset="-127"/>
              <a:ea typeface="NanumMyeongjo" pitchFamily="2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D43220-2EBE-890F-469E-13B124666178}"/>
              </a:ext>
            </a:extLst>
          </p:cNvPr>
          <p:cNvSpPr txBox="1"/>
          <p:nvPr/>
        </p:nvSpPr>
        <p:spPr>
          <a:xfrm>
            <a:off x="1530417" y="1144742"/>
            <a:ext cx="106615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6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2. </a:t>
            </a:r>
            <a:r>
              <a:rPr kumimoji="1" lang="ko-KR" altLang="en-US" sz="1600" dirty="0">
                <a:latin typeface="NanumMyeongjo" panose="02000300000000000000" pitchFamily="2" charset="-127"/>
                <a:ea typeface="NanumMyeongjo" panose="02000300000000000000" pitchFamily="2" charset="-127"/>
              </a:rPr>
              <a:t>예매 취소 시 회원의 포인트와 상영관의 잔여좌석 복구 </a:t>
            </a:r>
            <a:endParaRPr kumimoji="1" lang="x-none" altLang="en-US" sz="1600" dirty="0"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3" name="모서리가 둥근 직사각형 2">
            <a:extLst>
              <a:ext uri="{FF2B5EF4-FFF2-40B4-BE49-F238E27FC236}">
                <a16:creationId xmlns:a16="http://schemas.microsoft.com/office/drawing/2014/main" id="{E916E94E-5069-270E-BB1C-58AF05D51E92}"/>
              </a:ext>
            </a:extLst>
          </p:cNvPr>
          <p:cNvSpPr/>
          <p:nvPr/>
        </p:nvSpPr>
        <p:spPr>
          <a:xfrm>
            <a:off x="6776720" y="1683302"/>
            <a:ext cx="4499168" cy="4607654"/>
          </a:xfrm>
          <a:prstGeom prst="roundRect">
            <a:avLst/>
          </a:prstGeom>
          <a:noFill/>
          <a:ln w="25400" cap="flat" cmpd="sng" algn="ctr">
            <a:solidFill>
              <a:srgbClr val="4990B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kumimoji="1" lang="ko-Kore-KR" altLang="en-US" dirty="0"/>
          </a:p>
        </p:txBody>
      </p:sp>
      <p:sp>
        <p:nvSpPr>
          <p:cNvPr id="5" name="화살표: 갈매기형 수장 8">
            <a:extLst>
              <a:ext uri="{FF2B5EF4-FFF2-40B4-BE49-F238E27FC236}">
                <a16:creationId xmlns:a16="http://schemas.microsoft.com/office/drawing/2014/main" id="{DFED3DA7-F116-C20D-4C51-2ACB9E805F68}"/>
              </a:ext>
            </a:extLst>
          </p:cNvPr>
          <p:cNvSpPr/>
          <p:nvPr/>
        </p:nvSpPr>
        <p:spPr>
          <a:xfrm>
            <a:off x="2994856" y="1593276"/>
            <a:ext cx="2562384" cy="547226"/>
          </a:xfrm>
          <a:prstGeom prst="chevron">
            <a:avLst/>
          </a:prstGeom>
          <a:solidFill>
            <a:srgbClr val="4990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91AC57-7147-25E3-4F1F-1FC7A46858F7}"/>
              </a:ext>
            </a:extLst>
          </p:cNvPr>
          <p:cNvSpPr txBox="1"/>
          <p:nvPr/>
        </p:nvSpPr>
        <p:spPr>
          <a:xfrm>
            <a:off x="3621144" y="1617282"/>
            <a:ext cx="12353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ln/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트리거</a:t>
            </a:r>
            <a:endParaRPr lang="en-US" altLang="ko-KR" sz="2800" b="1" dirty="0">
              <a:ln w="13462">
                <a:solidFill>
                  <a:schemeClr val="bg1"/>
                </a:solidFill>
                <a:prstDash val="solid"/>
              </a:ln>
              <a:effectLst>
                <a:outerShdw dist="38100" dir="2700000" algn="bl" rotWithShape="0">
                  <a:schemeClr val="accent5"/>
                </a:outerShdw>
              </a:effectLst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344399-D92C-3725-5ABD-1448C761F2F2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</a:p>
        </p:txBody>
      </p:sp>
      <p:cxnSp>
        <p:nvCxnSpPr>
          <p:cNvPr id="8" name="직선 연결선 3">
            <a:extLst>
              <a:ext uri="{FF2B5EF4-FFF2-40B4-BE49-F238E27FC236}">
                <a16:creationId xmlns:a16="http://schemas.microsoft.com/office/drawing/2014/main" id="{8386C860-215E-11BE-61D3-9338E4E23227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4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421176" y="1035600"/>
            <a:ext cx="468000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예매 이벤트 전 포인트 값 확인</a:t>
            </a:r>
            <a:endParaRPr lang="en-US" altLang="ko-KR" b="1" dirty="0">
              <a:solidFill>
                <a:schemeClr val="accent5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123440" y="1503600"/>
            <a:ext cx="326136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B629CCD-42B2-44CD-26D6-06F0869FF8EE}"/>
              </a:ext>
            </a:extLst>
          </p:cNvPr>
          <p:cNvSpPr txBox="1"/>
          <p:nvPr/>
        </p:nvSpPr>
        <p:spPr>
          <a:xfrm>
            <a:off x="0" y="212812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48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기능 구현 확인</a:t>
            </a:r>
            <a:endParaRPr kumimoji="1" lang="x-none" altLang="en-US" sz="48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980D36-7742-2B55-CDF9-72A4C0DFAD04}"/>
              </a:ext>
            </a:extLst>
          </p:cNvPr>
          <p:cNvSpPr txBox="1"/>
          <p:nvPr/>
        </p:nvSpPr>
        <p:spPr>
          <a:xfrm>
            <a:off x="6368400" y="1035600"/>
            <a:ext cx="468000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이벤트 발생 후 포인트 값 확인</a:t>
            </a:r>
            <a:endParaRPr lang="en-US" altLang="ko-KR" sz="2400" b="1" dirty="0">
              <a:solidFill>
                <a:schemeClr val="accent5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27" name="직선 연결선 12">
            <a:extLst>
              <a:ext uri="{FF2B5EF4-FFF2-40B4-BE49-F238E27FC236}">
                <a16:creationId xmlns:a16="http://schemas.microsoft.com/office/drawing/2014/main" id="{9A4C240A-91B7-0707-4491-4D7A53A606D7}"/>
              </a:ext>
            </a:extLst>
          </p:cNvPr>
          <p:cNvCxnSpPr>
            <a:cxnSpLocks/>
          </p:cNvCxnSpPr>
          <p:nvPr/>
        </p:nvCxnSpPr>
        <p:spPr>
          <a:xfrm>
            <a:off x="6768000" y="1656000"/>
            <a:ext cx="385200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026" name="Picture 2" descr="C:\Users\human-18\Desktop\자료\예악전 포인트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2718" y="1611948"/>
            <a:ext cx="4719002" cy="3493452"/>
          </a:xfrm>
          <a:prstGeom prst="rect">
            <a:avLst/>
          </a:prstGeom>
          <a:noFill/>
        </p:spPr>
      </p:pic>
      <p:pic>
        <p:nvPicPr>
          <p:cNvPr id="1028" name="Picture 4" descr="C:\Users\human-18\Desktop\자료\예약후 포인트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8258" y="1598295"/>
            <a:ext cx="4670742" cy="3507105"/>
          </a:xfrm>
          <a:prstGeom prst="rect">
            <a:avLst/>
          </a:prstGeom>
          <a:noFill/>
        </p:spPr>
      </p:pic>
      <p:sp>
        <p:nvSpPr>
          <p:cNvPr id="19" name="직사각형 18"/>
          <p:cNvSpPr/>
          <p:nvPr/>
        </p:nvSpPr>
        <p:spPr>
          <a:xfrm>
            <a:off x="289560" y="5205274"/>
            <a:ext cx="117602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INSERT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INTO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TICKETTING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VALUES (ti_no.nextval,1,1,5);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 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(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예매번호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, 1</a:t>
            </a:r>
            <a:r>
              <a:rPr lang="ko-KR" altLang="en-US" sz="1400" b="1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번상영관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,1</a:t>
            </a:r>
            <a:r>
              <a:rPr lang="ko-KR" altLang="en-US" sz="1400" b="1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번회원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,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인원수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5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명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)</a:t>
            </a:r>
          </a:p>
          <a:p>
            <a:pPr algn="ctr"/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SELECT </a:t>
            </a:r>
            <a:r>
              <a:rPr lang="en-US" altLang="ko-KR" sz="1400" b="1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c.cos_num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회원번호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,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400" b="1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c.cos_name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회원이름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, </a:t>
            </a:r>
            <a:r>
              <a:rPr lang="en-US" altLang="ko-KR" sz="1400" b="1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c.cos_point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포인트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, </a:t>
            </a:r>
            <a:r>
              <a:rPr lang="en-US" altLang="ko-KR" sz="1400" b="1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t.ti_nop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인원수</a:t>
            </a:r>
          </a:p>
          <a:p>
            <a:pPr algn="ctr"/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FROM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TICKETTING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t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,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CUSTOMER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c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endParaRPr lang="en-US" altLang="ko-KR" sz="1400" b="1" dirty="0">
              <a:solidFill>
                <a:srgbClr val="002060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WHERE</a:t>
            </a:r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400" b="1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t.cos_num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=</a:t>
            </a:r>
            <a:r>
              <a:rPr lang="en-US" altLang="ko-KR" sz="1400" b="1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c.cos_num</a:t>
            </a:r>
            <a:r>
              <a:rPr lang="en-US" altLang="ko-KR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; </a:t>
            </a:r>
          </a:p>
          <a:p>
            <a:pPr algn="ctr"/>
            <a:endParaRPr lang="en-US" altLang="ko-KR" sz="1400" b="1" dirty="0">
              <a:solidFill>
                <a:srgbClr val="002060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ko-KR" altLang="en-US" sz="1400" b="1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회원 정보 조회 조인으로 인원수까지 구현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1429622" y="1845387"/>
            <a:ext cx="4726236" cy="237413"/>
          </a:xfrm>
          <a:prstGeom prst="rect">
            <a:avLst/>
          </a:prstGeom>
          <a:solidFill>
            <a:srgbClr val="FF0000">
              <a:alpha val="10108"/>
            </a:srgb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29D8365-ABCA-6C7D-FB82-D0708B5DE2DF}"/>
              </a:ext>
            </a:extLst>
          </p:cNvPr>
          <p:cNvSpPr/>
          <p:nvPr/>
        </p:nvSpPr>
        <p:spPr>
          <a:xfrm>
            <a:off x="6387702" y="1845387"/>
            <a:ext cx="4670742" cy="237413"/>
          </a:xfrm>
          <a:prstGeom prst="rect">
            <a:avLst/>
          </a:prstGeom>
          <a:solidFill>
            <a:srgbClr val="FF0000">
              <a:alpha val="10108"/>
            </a:srgb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D5FFE8-CBD9-C28F-C7A6-E496BE232A02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</a:p>
        </p:txBody>
      </p:sp>
      <p:cxnSp>
        <p:nvCxnSpPr>
          <p:cNvPr id="11" name="직선 연결선 3">
            <a:extLst>
              <a:ext uri="{FF2B5EF4-FFF2-40B4-BE49-F238E27FC236}">
                <a16:creationId xmlns:a16="http://schemas.microsoft.com/office/drawing/2014/main" id="{32881F34-1FDA-A03A-84F6-D14AA709FF74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직선 연결선 12">
            <a:extLst>
              <a:ext uri="{FF2B5EF4-FFF2-40B4-BE49-F238E27FC236}">
                <a16:creationId xmlns:a16="http://schemas.microsoft.com/office/drawing/2014/main" id="{A2897563-9359-190D-9A1B-859714C76819}"/>
              </a:ext>
            </a:extLst>
          </p:cNvPr>
          <p:cNvCxnSpPr>
            <a:cxnSpLocks/>
          </p:cNvCxnSpPr>
          <p:nvPr/>
        </p:nvCxnSpPr>
        <p:spPr>
          <a:xfrm>
            <a:off x="7078956" y="1525372"/>
            <a:ext cx="326136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</p:spTree>
    <p:extLst>
      <p:ext uri="{BB962C8B-B14F-4D97-AF65-F5344CB8AC3E}">
        <p14:creationId xmlns:p14="http://schemas.microsoft.com/office/powerpoint/2010/main" val="1712288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421176" y="1188000"/>
            <a:ext cx="468000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예매 이벤트 발생 전 좌석</a:t>
            </a:r>
            <a:endParaRPr lang="en-US" altLang="ko-KR" b="1" dirty="0">
              <a:solidFill>
                <a:schemeClr val="accent5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082800" y="1644920"/>
            <a:ext cx="329184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C980D36-7742-2B55-CDF9-72A4C0DFAD04}"/>
              </a:ext>
            </a:extLst>
          </p:cNvPr>
          <p:cNvSpPr txBox="1"/>
          <p:nvPr/>
        </p:nvSpPr>
        <p:spPr>
          <a:xfrm>
            <a:off x="6368400" y="1188000"/>
            <a:ext cx="468000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예매 이벤트 발동 후 좌석</a:t>
            </a:r>
            <a:endParaRPr lang="en-US" altLang="ko-KR" sz="2400" b="1" dirty="0">
              <a:solidFill>
                <a:schemeClr val="accent5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2AAFE7E-697A-B9BF-9821-9D6CA208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22</a:t>
            </a:fld>
            <a:endParaRPr lang="ko-KR" altLang="en-US"/>
          </a:p>
        </p:txBody>
      </p:sp>
      <p:pic>
        <p:nvPicPr>
          <p:cNvPr id="2050" name="Picture 2" descr="C:\Users\human-18\Desktop\자료\예약전 좌석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39228" y="1744345"/>
            <a:ext cx="4687252" cy="2783799"/>
          </a:xfrm>
          <a:prstGeom prst="rect">
            <a:avLst/>
          </a:prstGeom>
          <a:noFill/>
        </p:spPr>
      </p:pic>
      <p:pic>
        <p:nvPicPr>
          <p:cNvPr id="2051" name="Picture 3" descr="C:\Users\human-18\Desktop\자료\예약후 좌석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45885" y="1727240"/>
            <a:ext cx="4130675" cy="2783799"/>
          </a:xfrm>
          <a:prstGeom prst="rect">
            <a:avLst/>
          </a:prstGeom>
          <a:noFill/>
        </p:spPr>
      </p:pic>
      <p:sp>
        <p:nvSpPr>
          <p:cNvPr id="28" name="직사각형 27"/>
          <p:cNvSpPr/>
          <p:nvPr/>
        </p:nvSpPr>
        <p:spPr>
          <a:xfrm>
            <a:off x="1264920" y="4594275"/>
            <a:ext cx="947928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INSERT</a:t>
            </a:r>
            <a:r>
              <a:rPr lang="ko-KR" altLang="en-US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INTO</a:t>
            </a:r>
            <a:r>
              <a:rPr lang="ko-KR" altLang="en-US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TICKETTING</a:t>
            </a:r>
            <a:r>
              <a:rPr lang="ko-KR" altLang="en-US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VALUES</a:t>
            </a:r>
            <a:r>
              <a:rPr lang="ko-KR" altLang="en-US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(ti_no.nextval,1,1,5); </a:t>
            </a:r>
          </a:p>
          <a:p>
            <a:pPr algn="ctr"/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(</a:t>
            </a:r>
            <a:r>
              <a:rPr lang="ko-KR" altLang="en-US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예매번호</a:t>
            </a:r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, 1</a:t>
            </a:r>
            <a:r>
              <a:rPr lang="ko-KR" altLang="en-US" sz="16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번상영관</a:t>
            </a:r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,1</a:t>
            </a:r>
            <a:r>
              <a:rPr lang="ko-KR" altLang="en-US" sz="16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번회원</a:t>
            </a:r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,</a:t>
            </a:r>
            <a:r>
              <a:rPr lang="ko-KR" altLang="en-US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인원수</a:t>
            </a:r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5</a:t>
            </a:r>
            <a:r>
              <a:rPr lang="ko-KR" altLang="en-US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명</a:t>
            </a:r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)</a:t>
            </a:r>
          </a:p>
          <a:p>
            <a:pPr algn="ctr"/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SELECT </a:t>
            </a:r>
            <a:r>
              <a:rPr lang="en-US" altLang="ko-KR" sz="16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ro_num</a:t>
            </a:r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상영관번호</a:t>
            </a:r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, </a:t>
            </a:r>
            <a:r>
              <a:rPr lang="en-US" altLang="ko-KR" sz="16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ro_seet</a:t>
            </a:r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6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총좌석</a:t>
            </a:r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, </a:t>
            </a:r>
            <a:r>
              <a:rPr lang="en-US" altLang="ko-KR" sz="16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re_seet</a:t>
            </a:r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잔여좌석 </a:t>
            </a:r>
            <a:endParaRPr lang="en-US" altLang="ko-KR" sz="1600" dirty="0">
              <a:solidFill>
                <a:srgbClr val="002060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FROM</a:t>
            </a:r>
            <a:r>
              <a:rPr lang="ko-KR" altLang="en-US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6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movie_rounge</a:t>
            </a:r>
            <a:r>
              <a:rPr lang="en-US" altLang="ko-KR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; </a:t>
            </a:r>
          </a:p>
          <a:p>
            <a:pPr algn="ctr"/>
            <a:endParaRPr lang="en-US" altLang="ko-KR" dirty="0">
              <a:solidFill>
                <a:srgbClr val="002060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ko-KR" altLang="en-US" sz="16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상영관  테이블 좌석 조회 구현</a:t>
            </a:r>
          </a:p>
          <a:p>
            <a:pPr algn="ctr"/>
            <a:endParaRPr lang="en-US" altLang="ko-KR" dirty="0">
              <a:solidFill>
                <a:srgbClr val="002060"/>
              </a:solidFill>
              <a:latin typeface="NanumMyeongjo" pitchFamily="2" charset="-127"/>
              <a:ea typeface="NanumMyeongjo" pitchFamily="2" charset="-127"/>
            </a:endParaRPr>
          </a:p>
        </p:txBody>
      </p:sp>
      <p:cxnSp>
        <p:nvCxnSpPr>
          <p:cNvPr id="10" name="직선 연결선 12">
            <a:extLst>
              <a:ext uri="{FF2B5EF4-FFF2-40B4-BE49-F238E27FC236}">
                <a16:creationId xmlns:a16="http://schemas.microsoft.com/office/drawing/2014/main" id="{C7B9DBA4-C499-3EEB-C55F-687B8E819C91}"/>
              </a:ext>
            </a:extLst>
          </p:cNvPr>
          <p:cNvCxnSpPr>
            <a:cxnSpLocks/>
          </p:cNvCxnSpPr>
          <p:nvPr/>
        </p:nvCxnSpPr>
        <p:spPr>
          <a:xfrm>
            <a:off x="7000240" y="1634760"/>
            <a:ext cx="329184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F09D5F0-F3D0-8E5B-6FC6-CF60A8075A58}"/>
              </a:ext>
            </a:extLst>
          </p:cNvPr>
          <p:cNvSpPr/>
          <p:nvPr/>
        </p:nvSpPr>
        <p:spPr>
          <a:xfrm>
            <a:off x="1449388" y="2204720"/>
            <a:ext cx="4585652" cy="416560"/>
          </a:xfrm>
          <a:prstGeom prst="rect">
            <a:avLst/>
          </a:prstGeom>
          <a:solidFill>
            <a:srgbClr val="FF0000">
              <a:alpha val="1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E90587A-CAE1-7A03-7E65-3FAA42F7E2DA}"/>
              </a:ext>
            </a:extLst>
          </p:cNvPr>
          <p:cNvSpPr/>
          <p:nvPr/>
        </p:nvSpPr>
        <p:spPr>
          <a:xfrm>
            <a:off x="6422108" y="2213686"/>
            <a:ext cx="4130675" cy="416560"/>
          </a:xfrm>
          <a:prstGeom prst="rect">
            <a:avLst/>
          </a:prstGeom>
          <a:solidFill>
            <a:srgbClr val="FF0000">
              <a:alpha val="1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164359-1588-9418-2819-F7EF835A8FC7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</a:p>
        </p:txBody>
      </p:sp>
      <p:cxnSp>
        <p:nvCxnSpPr>
          <p:cNvPr id="21" name="직선 연결선 3">
            <a:extLst>
              <a:ext uri="{FF2B5EF4-FFF2-40B4-BE49-F238E27FC236}">
                <a16:creationId xmlns:a16="http://schemas.microsoft.com/office/drawing/2014/main" id="{79B780D2-7D15-B883-3571-B1D73AC94680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EC9553B-0DCF-F600-19D0-7BD342D2966F}"/>
              </a:ext>
            </a:extLst>
          </p:cNvPr>
          <p:cNvSpPr txBox="1"/>
          <p:nvPr/>
        </p:nvSpPr>
        <p:spPr>
          <a:xfrm>
            <a:off x="0" y="212812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48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기능 구현 확인</a:t>
            </a:r>
            <a:endParaRPr kumimoji="1" lang="x-none" altLang="en-US" sz="48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0394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421176" y="1188000"/>
            <a:ext cx="468000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예매 취소 이벤트 전 포인트 확인</a:t>
            </a:r>
            <a:endParaRPr lang="en-US" altLang="ko-KR" b="1" dirty="0">
              <a:solidFill>
                <a:schemeClr val="accent5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1910080" y="1656000"/>
            <a:ext cx="359664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C980D36-7742-2B55-CDF9-72A4C0DFAD04}"/>
              </a:ext>
            </a:extLst>
          </p:cNvPr>
          <p:cNvSpPr txBox="1"/>
          <p:nvPr/>
        </p:nvSpPr>
        <p:spPr>
          <a:xfrm>
            <a:off x="6368400" y="1188000"/>
            <a:ext cx="468000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예매 취소 이벤트 발생 후 포인트 확인</a:t>
            </a:r>
            <a:endParaRPr lang="en-US" altLang="ko-KR" sz="2400" b="1" dirty="0">
              <a:solidFill>
                <a:schemeClr val="accent5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27" name="직선 연결선 12">
            <a:extLst>
              <a:ext uri="{FF2B5EF4-FFF2-40B4-BE49-F238E27FC236}">
                <a16:creationId xmlns:a16="http://schemas.microsoft.com/office/drawing/2014/main" id="{9A4C240A-91B7-0707-4491-4D7A53A606D7}"/>
              </a:ext>
            </a:extLst>
          </p:cNvPr>
          <p:cNvCxnSpPr>
            <a:cxnSpLocks/>
          </p:cNvCxnSpPr>
          <p:nvPr/>
        </p:nvCxnSpPr>
        <p:spPr>
          <a:xfrm>
            <a:off x="6660000" y="1656000"/>
            <a:ext cx="406800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2AAFE7E-697A-B9BF-9821-9D6CA208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23</a:t>
            </a:fld>
            <a:endParaRPr lang="ko-KR" altLang="en-US"/>
          </a:p>
        </p:txBody>
      </p:sp>
      <p:pic>
        <p:nvPicPr>
          <p:cNvPr id="15" name="Picture 4" descr="C:\Users\human-18\Desktop\자료\예약후 포인트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8138" y="1735455"/>
            <a:ext cx="4076382" cy="3476625"/>
          </a:xfrm>
          <a:prstGeom prst="rect">
            <a:avLst/>
          </a:prstGeom>
          <a:noFill/>
        </p:spPr>
      </p:pic>
      <p:pic>
        <p:nvPicPr>
          <p:cNvPr id="3074" name="Picture 2" descr="C:\Users\human-18\Desktop\자료\예악취소후 포인트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21780" y="1715134"/>
            <a:ext cx="4198620" cy="3512185"/>
          </a:xfrm>
          <a:prstGeom prst="rect">
            <a:avLst/>
          </a:prstGeom>
          <a:noFill/>
        </p:spPr>
      </p:pic>
      <p:sp>
        <p:nvSpPr>
          <p:cNvPr id="18" name="직사각형 17"/>
          <p:cNvSpPr/>
          <p:nvPr/>
        </p:nvSpPr>
        <p:spPr>
          <a:xfrm>
            <a:off x="731520" y="5380672"/>
            <a:ext cx="1115568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DELETE TICKETTING WHERE </a:t>
            </a:r>
            <a:r>
              <a:rPr lang="en-US" altLang="ko-KR" sz="14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cos_num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=1 and </a:t>
            </a:r>
            <a:r>
              <a:rPr lang="en-US" altLang="ko-KR" sz="14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ti_nop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=5;  </a:t>
            </a:r>
          </a:p>
          <a:p>
            <a:pPr algn="ctr"/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(</a:t>
            </a:r>
            <a:r>
              <a:rPr lang="ko-KR" altLang="en-US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회원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1</a:t>
            </a:r>
            <a:r>
              <a:rPr lang="ko-KR" altLang="en-US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번 인원수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5</a:t>
            </a:r>
            <a:r>
              <a:rPr lang="ko-KR" altLang="en-US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명 예약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건 취소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)</a:t>
            </a:r>
          </a:p>
          <a:p>
            <a:pPr algn="ctr"/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SELECT </a:t>
            </a:r>
            <a:r>
              <a:rPr lang="en-US" altLang="ko-KR" sz="14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c.cos_num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회원번호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,</a:t>
            </a:r>
            <a:r>
              <a:rPr lang="en-US" altLang="ko-KR" sz="14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c.cos_name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회원이름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, </a:t>
            </a:r>
            <a:r>
              <a:rPr lang="en-US" altLang="ko-KR" sz="14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c.cos_point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포인트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, </a:t>
            </a:r>
            <a:r>
              <a:rPr lang="en-US" altLang="ko-KR" sz="14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t.ti_nop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인원수</a:t>
            </a:r>
          </a:p>
          <a:p>
            <a:pPr algn="ctr"/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FROM </a:t>
            </a:r>
            <a:r>
              <a:rPr lang="en-US" altLang="ko-KR" sz="14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ticketting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t, customer c</a:t>
            </a:r>
          </a:p>
          <a:p>
            <a:pPr algn="ctr"/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WHERE </a:t>
            </a:r>
            <a:r>
              <a:rPr lang="en-US" altLang="ko-KR" sz="14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t.cos_num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=</a:t>
            </a:r>
            <a:r>
              <a:rPr lang="en-US" altLang="ko-KR" sz="14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c.cos_num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; </a:t>
            </a:r>
          </a:p>
          <a:p>
            <a:pPr algn="ctr"/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(</a:t>
            </a:r>
            <a:r>
              <a:rPr lang="ko-KR" altLang="en-US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회원 정보 조회 조인으로 인원수까지 나오게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구현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)</a:t>
            </a:r>
            <a:endParaRPr lang="ko-KR" altLang="en-US" sz="1400" dirty="0">
              <a:solidFill>
                <a:srgbClr val="002060"/>
              </a:solidFill>
              <a:latin typeface="NanumMyeongjo" pitchFamily="2" charset="-127"/>
              <a:ea typeface="NanumMyeongjo" pitchFamily="2" charset="-127"/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1616725" y="1994611"/>
            <a:ext cx="4067795" cy="398069"/>
          </a:xfrm>
          <a:prstGeom prst="rect">
            <a:avLst/>
          </a:prstGeom>
          <a:solidFill>
            <a:srgbClr val="FF0000">
              <a:alpha val="10000"/>
            </a:srgb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6630685" y="1948891"/>
            <a:ext cx="4204955" cy="276149"/>
          </a:xfrm>
          <a:prstGeom prst="rect">
            <a:avLst/>
          </a:prstGeom>
          <a:solidFill>
            <a:srgbClr val="FF0000">
              <a:alpha val="10000"/>
            </a:srgb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7B9FE9-A881-BA7D-CFB6-1DCC7F11F9AB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</a:p>
        </p:txBody>
      </p:sp>
      <p:cxnSp>
        <p:nvCxnSpPr>
          <p:cNvPr id="17" name="직선 연결선 3">
            <a:extLst>
              <a:ext uri="{FF2B5EF4-FFF2-40B4-BE49-F238E27FC236}">
                <a16:creationId xmlns:a16="http://schemas.microsoft.com/office/drawing/2014/main" id="{C37FED06-A986-72A9-EEA0-4F25D6ED47B1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C4DAA97-2CA0-F5F0-9C1B-F94B603F91D5}"/>
              </a:ext>
            </a:extLst>
          </p:cNvPr>
          <p:cNvSpPr txBox="1"/>
          <p:nvPr/>
        </p:nvSpPr>
        <p:spPr>
          <a:xfrm>
            <a:off x="0" y="212812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48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기능 구현 확인</a:t>
            </a:r>
            <a:endParaRPr kumimoji="1" lang="x-none" altLang="en-US" sz="48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28438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/>
          <p:cNvCxnSpPr>
            <a:cxnSpLocks/>
          </p:cNvCxnSpPr>
          <p:nvPr/>
        </p:nvCxnSpPr>
        <p:spPr>
          <a:xfrm>
            <a:off x="2011680" y="1656000"/>
            <a:ext cx="327660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" name="직선 연결선 12">
            <a:extLst>
              <a:ext uri="{FF2B5EF4-FFF2-40B4-BE49-F238E27FC236}">
                <a16:creationId xmlns:a16="http://schemas.microsoft.com/office/drawing/2014/main" id="{9A4C240A-91B7-0707-4491-4D7A53A606D7}"/>
              </a:ext>
            </a:extLst>
          </p:cNvPr>
          <p:cNvCxnSpPr>
            <a:cxnSpLocks/>
          </p:cNvCxnSpPr>
          <p:nvPr/>
        </p:nvCxnSpPr>
        <p:spPr>
          <a:xfrm>
            <a:off x="6781800" y="1656000"/>
            <a:ext cx="368808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2AAFE7E-697A-B9BF-9821-9D6CA208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24</a:t>
            </a:fld>
            <a:endParaRPr lang="ko-KR" altLang="en-US"/>
          </a:p>
        </p:txBody>
      </p:sp>
      <p:pic>
        <p:nvPicPr>
          <p:cNvPr id="4098" name="Picture 2" descr="C:\Users\human-18\Desktop\자료\예약후 좌석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95805" y="1771967"/>
            <a:ext cx="3307715" cy="2556183"/>
          </a:xfrm>
          <a:prstGeom prst="rect">
            <a:avLst/>
          </a:prstGeom>
          <a:noFill/>
        </p:spPr>
      </p:pic>
      <p:pic>
        <p:nvPicPr>
          <p:cNvPr id="4099" name="Picture 3" descr="C:\Users\human-18\Desktop\자료\예약 취소후 좌석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81800" y="1795779"/>
            <a:ext cx="3688080" cy="2532363"/>
          </a:xfrm>
          <a:prstGeom prst="rect">
            <a:avLst/>
          </a:prstGeom>
          <a:noFill/>
        </p:spPr>
      </p:pic>
      <p:sp>
        <p:nvSpPr>
          <p:cNvPr id="19" name="직사각형 18"/>
          <p:cNvSpPr/>
          <p:nvPr/>
        </p:nvSpPr>
        <p:spPr>
          <a:xfrm>
            <a:off x="746760" y="4572615"/>
            <a:ext cx="1022604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DELETE TICKETTING WHERE </a:t>
            </a:r>
            <a:r>
              <a:rPr lang="en-US" altLang="ko-KR" sz="14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cos_num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=1 and </a:t>
            </a:r>
            <a:r>
              <a:rPr lang="en-US" altLang="ko-KR" sz="14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ti_nop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=5;  </a:t>
            </a:r>
          </a:p>
          <a:p>
            <a:pPr algn="ctr"/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(</a:t>
            </a:r>
            <a:r>
              <a:rPr lang="ko-KR" altLang="en-US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회원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1</a:t>
            </a:r>
            <a:r>
              <a:rPr lang="ko-KR" altLang="en-US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번 인원수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5</a:t>
            </a:r>
            <a:r>
              <a:rPr lang="ko-KR" altLang="en-US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명 </a:t>
            </a:r>
            <a:r>
              <a:rPr lang="ko-KR" altLang="en-US" sz="14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예약건</a:t>
            </a:r>
            <a:r>
              <a:rPr lang="ko-KR" altLang="en-US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취소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)</a:t>
            </a:r>
          </a:p>
          <a:p>
            <a:pPr algn="ctr"/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SELECT </a:t>
            </a:r>
            <a:r>
              <a:rPr lang="en-US" altLang="ko-KR" sz="14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ro_num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상영관번호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, </a:t>
            </a:r>
            <a:r>
              <a:rPr lang="en-US" altLang="ko-KR" sz="14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ro_seet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총좌석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, </a:t>
            </a:r>
            <a:r>
              <a:rPr lang="en-US" altLang="ko-KR" sz="14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re_seet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잔여좌석 </a:t>
            </a:r>
            <a:endParaRPr lang="en-US" altLang="ko-KR" sz="1400" dirty="0">
              <a:solidFill>
                <a:srgbClr val="002060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FROM </a:t>
            </a:r>
            <a:r>
              <a:rPr lang="en-US" altLang="ko-KR" sz="1400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movie_rounge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; </a:t>
            </a:r>
          </a:p>
          <a:p>
            <a:pPr algn="ctr"/>
            <a:endParaRPr lang="en-US" altLang="ko-KR" sz="1400" dirty="0">
              <a:solidFill>
                <a:srgbClr val="002060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ko-KR" altLang="en-US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상영관  테이블 좌석 조회</a:t>
            </a:r>
            <a:r>
              <a:rPr lang="en-US" altLang="ko-KR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구현</a:t>
            </a:r>
          </a:p>
        </p:txBody>
      </p:sp>
      <p:sp>
        <p:nvSpPr>
          <p:cNvPr id="20" name="직사각형 19"/>
          <p:cNvSpPr/>
          <p:nvPr/>
        </p:nvSpPr>
        <p:spPr>
          <a:xfrm>
            <a:off x="2011680" y="2177491"/>
            <a:ext cx="3276600" cy="443789"/>
          </a:xfrm>
          <a:prstGeom prst="rect">
            <a:avLst/>
          </a:prstGeom>
          <a:solidFill>
            <a:srgbClr val="FF0000">
              <a:alpha val="10000"/>
            </a:srgb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6781800" y="2147011"/>
            <a:ext cx="3688080" cy="456917"/>
          </a:xfrm>
          <a:prstGeom prst="rect">
            <a:avLst/>
          </a:prstGeom>
          <a:solidFill>
            <a:srgbClr val="FF0000">
              <a:alpha val="10000"/>
            </a:srgb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642D1C-7ED9-C3BB-6845-723ACE42DF11}"/>
              </a:ext>
            </a:extLst>
          </p:cNvPr>
          <p:cNvSpPr txBox="1"/>
          <p:nvPr/>
        </p:nvSpPr>
        <p:spPr>
          <a:xfrm>
            <a:off x="1421176" y="1188000"/>
            <a:ext cx="468000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예매 취소 이벤트 전 좌석 확인</a:t>
            </a:r>
            <a:endParaRPr lang="en-US" altLang="ko-KR" b="1" dirty="0">
              <a:solidFill>
                <a:schemeClr val="accent5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3F2A3D-7E0D-B6B3-CEBC-2565DAA91C4F}"/>
              </a:ext>
            </a:extLst>
          </p:cNvPr>
          <p:cNvSpPr txBox="1"/>
          <p:nvPr/>
        </p:nvSpPr>
        <p:spPr>
          <a:xfrm>
            <a:off x="6781800" y="1188000"/>
            <a:ext cx="368808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예매 취소 이벤트 발생 후 좌석 확인</a:t>
            </a:r>
            <a:endParaRPr lang="en-US" altLang="ko-KR" sz="2400" b="1" dirty="0">
              <a:solidFill>
                <a:schemeClr val="accent5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DD7A2D-00CA-20B9-07DB-69F86362A299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</a:p>
        </p:txBody>
      </p:sp>
      <p:cxnSp>
        <p:nvCxnSpPr>
          <p:cNvPr id="24" name="직선 연결선 3">
            <a:extLst>
              <a:ext uri="{FF2B5EF4-FFF2-40B4-BE49-F238E27FC236}">
                <a16:creationId xmlns:a16="http://schemas.microsoft.com/office/drawing/2014/main" id="{34A61521-27F9-F455-5DD1-82DC2DA85906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A15A99D-F829-2B44-B314-3BA465C1DD20}"/>
              </a:ext>
            </a:extLst>
          </p:cNvPr>
          <p:cNvSpPr txBox="1"/>
          <p:nvPr/>
        </p:nvSpPr>
        <p:spPr>
          <a:xfrm>
            <a:off x="0" y="212812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48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기능 구현 확인</a:t>
            </a:r>
            <a:endParaRPr kumimoji="1" lang="x-none" altLang="en-US" sz="48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8597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2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3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4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5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6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/>
          <p:cNvCxnSpPr>
            <a:cxnSpLocks/>
          </p:cNvCxnSpPr>
          <p:nvPr/>
        </p:nvCxnSpPr>
        <p:spPr>
          <a:xfrm>
            <a:off x="2265680" y="1644920"/>
            <a:ext cx="2932480" cy="1108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27" name="직선 연결선 12">
            <a:extLst>
              <a:ext uri="{FF2B5EF4-FFF2-40B4-BE49-F238E27FC236}">
                <a16:creationId xmlns:a16="http://schemas.microsoft.com/office/drawing/2014/main" id="{9A4C240A-91B7-0707-4491-4D7A53A606D7}"/>
              </a:ext>
            </a:extLst>
          </p:cNvPr>
          <p:cNvCxnSpPr>
            <a:cxnSpLocks/>
          </p:cNvCxnSpPr>
          <p:nvPr/>
        </p:nvCxnSpPr>
        <p:spPr>
          <a:xfrm>
            <a:off x="7614800" y="1656000"/>
            <a:ext cx="331200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2AAFE7E-697A-B9BF-9821-9D6CA208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25</a:t>
            </a:fld>
            <a:endParaRPr lang="ko-KR" altLang="en-US"/>
          </a:p>
        </p:txBody>
      </p:sp>
      <p:pic>
        <p:nvPicPr>
          <p:cNvPr id="5122" name="Picture 2" descr="C:\Users\human-18\Desktop\자료\회원탈퇴전 예매정보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82750" y="1719263"/>
            <a:ext cx="4220210" cy="3297017"/>
          </a:xfrm>
          <a:prstGeom prst="rect">
            <a:avLst/>
          </a:prstGeom>
          <a:noFill/>
        </p:spPr>
      </p:pic>
      <p:pic>
        <p:nvPicPr>
          <p:cNvPr id="5123" name="Picture 3" descr="C:\Users\human-18\Desktop\자료\회원탈퇴후 예매정보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63702" y="1742757"/>
            <a:ext cx="4686617" cy="3237193"/>
          </a:xfrm>
          <a:prstGeom prst="rect">
            <a:avLst/>
          </a:prstGeom>
          <a:noFill/>
        </p:spPr>
      </p:pic>
      <p:sp>
        <p:nvSpPr>
          <p:cNvPr id="22" name="직사각형 21"/>
          <p:cNvSpPr/>
          <p:nvPr/>
        </p:nvSpPr>
        <p:spPr>
          <a:xfrm>
            <a:off x="1635758" y="4875014"/>
            <a:ext cx="981456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altLang="ko-KR" dirty="0">
              <a:solidFill>
                <a:srgbClr val="002060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en-US" altLang="ko-KR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DELETE CUSTOMER WHERE </a:t>
            </a:r>
            <a:r>
              <a:rPr lang="en-US" altLang="ko-KR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cos_num</a:t>
            </a:r>
            <a:r>
              <a:rPr lang="en-US" altLang="ko-KR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=1; </a:t>
            </a:r>
          </a:p>
          <a:p>
            <a:pPr algn="ctr"/>
            <a:r>
              <a:rPr lang="en-US" altLang="ko-KR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1</a:t>
            </a:r>
            <a:r>
              <a:rPr lang="ko-KR" altLang="en-US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번회원을 삭제 한다</a:t>
            </a:r>
            <a:r>
              <a:rPr lang="en-US" altLang="ko-KR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.</a:t>
            </a:r>
          </a:p>
          <a:p>
            <a:pPr algn="ctr"/>
            <a:r>
              <a:rPr kumimoji="1" lang="en-US" altLang="x-none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*FOREIGN KEY (</a:t>
            </a:r>
            <a:r>
              <a:rPr kumimoji="1" lang="en-US" altLang="x-none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cos_num</a:t>
            </a:r>
            <a:r>
              <a:rPr kumimoji="1" lang="en-US" altLang="x-none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) REFERENCES CUSTOMER (</a:t>
            </a:r>
            <a:r>
              <a:rPr kumimoji="1" lang="en-US" altLang="x-none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cos_num</a:t>
            </a:r>
            <a:r>
              <a:rPr kumimoji="1" lang="en-US" altLang="x-none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) ON DELETE SET NULL</a:t>
            </a:r>
          </a:p>
          <a:p>
            <a:pPr algn="ctr"/>
            <a:r>
              <a:rPr kumimoji="1" lang="ko-KR" altLang="en-US" dirty="0" err="1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탈퇴된</a:t>
            </a:r>
            <a:r>
              <a:rPr kumimoji="1" lang="ko-KR" altLang="en-US" dirty="0">
                <a:solidFill>
                  <a:srgbClr val="002060"/>
                </a:solidFill>
                <a:latin typeface="NanumMyeongjo" pitchFamily="2" charset="-127"/>
                <a:ea typeface="NanumMyeongjo" pitchFamily="2" charset="-127"/>
              </a:rPr>
              <a:t> 회원의 예매정보는 남아있음</a:t>
            </a:r>
            <a:endParaRPr lang="ko-KR" altLang="en-US" dirty="0">
              <a:solidFill>
                <a:srgbClr val="002060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endParaRPr lang="ko-KR" altLang="en-US" dirty="0">
              <a:solidFill>
                <a:srgbClr val="002060"/>
              </a:solidFill>
              <a:latin typeface="NanumMyeongjo" pitchFamily="2" charset="-127"/>
              <a:ea typeface="NanumMyeongjo" pitchFamily="2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6771641" y="1948891"/>
            <a:ext cx="4678680" cy="212483"/>
          </a:xfrm>
          <a:prstGeom prst="rect">
            <a:avLst/>
          </a:prstGeom>
          <a:solidFill>
            <a:srgbClr val="FF0000">
              <a:alpha val="10000"/>
            </a:srgb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/>
          <p:cNvSpPr/>
          <p:nvPr/>
        </p:nvSpPr>
        <p:spPr>
          <a:xfrm>
            <a:off x="1686561" y="1908251"/>
            <a:ext cx="4190999" cy="296469"/>
          </a:xfrm>
          <a:prstGeom prst="rect">
            <a:avLst/>
          </a:prstGeom>
          <a:solidFill>
            <a:srgbClr val="FF0000">
              <a:alpha val="10000"/>
            </a:srgb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357049-DF3B-5905-BF86-6FBBD1A71666}"/>
              </a:ext>
            </a:extLst>
          </p:cNvPr>
          <p:cNvSpPr txBox="1"/>
          <p:nvPr/>
        </p:nvSpPr>
        <p:spPr>
          <a:xfrm>
            <a:off x="1380536" y="1188000"/>
            <a:ext cx="468000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회원 탈퇴 전 예매 정보 확인</a:t>
            </a:r>
            <a:endParaRPr lang="en-US" altLang="ko-KR" b="1" dirty="0">
              <a:solidFill>
                <a:schemeClr val="accent5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D019B7-0E81-E78E-1322-A23158460694}"/>
              </a:ext>
            </a:extLst>
          </p:cNvPr>
          <p:cNvSpPr txBox="1"/>
          <p:nvPr/>
        </p:nvSpPr>
        <p:spPr>
          <a:xfrm>
            <a:off x="7340600" y="1177840"/>
            <a:ext cx="3688080" cy="497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000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회원 탈퇴 후 예매정보 확인</a:t>
            </a:r>
            <a:endParaRPr lang="en-US" altLang="ko-KR" sz="2000" b="1" dirty="0">
              <a:solidFill>
                <a:schemeClr val="accent5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818CE7B-C58B-534B-6CBA-356296C08DC8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</a:p>
        </p:txBody>
      </p:sp>
      <p:cxnSp>
        <p:nvCxnSpPr>
          <p:cNvPr id="15" name="직선 연결선 3">
            <a:extLst>
              <a:ext uri="{FF2B5EF4-FFF2-40B4-BE49-F238E27FC236}">
                <a16:creationId xmlns:a16="http://schemas.microsoft.com/office/drawing/2014/main" id="{4756C871-252C-3735-B46A-80A98588F12F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152690A-DC96-9859-80AA-7CE70369466C}"/>
              </a:ext>
            </a:extLst>
          </p:cNvPr>
          <p:cNvSpPr txBox="1"/>
          <p:nvPr/>
        </p:nvSpPr>
        <p:spPr>
          <a:xfrm>
            <a:off x="0" y="212812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48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기능 구현 확인</a:t>
            </a:r>
            <a:endParaRPr kumimoji="1" lang="x-none" altLang="en-US" sz="48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3847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400856" y="984800"/>
            <a:ext cx="468000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영화 삭제 전</a:t>
            </a:r>
            <a:endParaRPr lang="en-US" altLang="ko-KR" b="1" dirty="0">
              <a:solidFill>
                <a:schemeClr val="accent5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2123440" y="1462960"/>
            <a:ext cx="318008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AC980D36-7742-2B55-CDF9-72A4C0DFAD04}"/>
              </a:ext>
            </a:extLst>
          </p:cNvPr>
          <p:cNvSpPr txBox="1"/>
          <p:nvPr/>
        </p:nvSpPr>
        <p:spPr>
          <a:xfrm>
            <a:off x="6683360" y="994960"/>
            <a:ext cx="468000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영화 삭제 후</a:t>
            </a:r>
            <a:endParaRPr lang="en-US" altLang="ko-KR" b="1" dirty="0">
              <a:solidFill>
                <a:schemeClr val="accent5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27" name="직선 연결선 12">
            <a:extLst>
              <a:ext uri="{FF2B5EF4-FFF2-40B4-BE49-F238E27FC236}">
                <a16:creationId xmlns:a16="http://schemas.microsoft.com/office/drawing/2014/main" id="{9A4C240A-91B7-0707-4491-4D7A53A606D7}"/>
              </a:ext>
            </a:extLst>
          </p:cNvPr>
          <p:cNvCxnSpPr>
            <a:cxnSpLocks/>
          </p:cNvCxnSpPr>
          <p:nvPr/>
        </p:nvCxnSpPr>
        <p:spPr>
          <a:xfrm>
            <a:off x="7503040" y="1493440"/>
            <a:ext cx="331200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2AAFE7E-697A-B9BF-9821-9D6CA208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26</a:t>
            </a:fld>
            <a:endParaRPr lang="ko-KR" altLang="en-US"/>
          </a:p>
        </p:txBody>
      </p:sp>
      <p:pic>
        <p:nvPicPr>
          <p:cNvPr id="6146" name="Picture 2" descr="C:\Users\human-18\Desktop\자료\영화+리뷰 영화삭제전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34160" y="1532890"/>
            <a:ext cx="4625023" cy="3618230"/>
          </a:xfrm>
          <a:prstGeom prst="rect">
            <a:avLst/>
          </a:prstGeom>
          <a:noFill/>
        </p:spPr>
      </p:pic>
      <p:pic>
        <p:nvPicPr>
          <p:cNvPr id="6147" name="Picture 3" descr="C:\Users\human-18\Desktop\자료\영화+리뷰 영화삭제후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70320" y="1575752"/>
            <a:ext cx="5237480" cy="3605847"/>
          </a:xfrm>
          <a:prstGeom prst="rect">
            <a:avLst/>
          </a:prstGeom>
          <a:noFill/>
        </p:spPr>
      </p:pic>
      <p:sp>
        <p:nvSpPr>
          <p:cNvPr id="22" name="직사각형 21"/>
          <p:cNvSpPr/>
          <p:nvPr/>
        </p:nvSpPr>
        <p:spPr>
          <a:xfrm>
            <a:off x="968056" y="5127565"/>
            <a:ext cx="5237480" cy="16004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SELECT </a:t>
            </a:r>
            <a:r>
              <a:rPr lang="en-US" altLang="ko-KR" sz="1400" dirty="0" err="1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m.mo_num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영화번호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,</a:t>
            </a:r>
            <a:r>
              <a:rPr lang="en-US" altLang="ko-KR" sz="1400" dirty="0" err="1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m.mo_title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영화제목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,</a:t>
            </a:r>
            <a:r>
              <a:rPr lang="en-US" altLang="ko-KR" sz="1400" dirty="0" err="1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m.mo_actor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 </a:t>
            </a:r>
          </a:p>
          <a:p>
            <a:pPr algn="r"/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	</a:t>
            </a:r>
            <a:r>
              <a:rPr lang="ko-KR" altLang="en-US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배우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,</a:t>
            </a:r>
            <a:r>
              <a:rPr lang="en-US" altLang="ko-KR" sz="1400" dirty="0" err="1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m.mo_gen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장르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,</a:t>
            </a:r>
            <a:r>
              <a:rPr lang="en-US" altLang="ko-KR" sz="1400" dirty="0" err="1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m.mo_super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감독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,</a:t>
            </a:r>
            <a:r>
              <a:rPr lang="en-US" altLang="ko-KR" sz="1400" dirty="0" err="1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r.re_text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내용</a:t>
            </a:r>
            <a:endParaRPr lang="en-US" altLang="ko-KR" sz="1400" dirty="0">
              <a:solidFill>
                <a:schemeClr val="bg1"/>
              </a:solidFill>
              <a:latin typeface="NanumMyeongjo" pitchFamily="2" charset="-127"/>
              <a:ea typeface="NanumMyeongjo" pitchFamily="2" charset="-127"/>
            </a:endParaRPr>
          </a:p>
          <a:p>
            <a:pPr algn="r"/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FROM </a:t>
            </a:r>
            <a:r>
              <a:rPr lang="ko-KR" altLang="en-US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  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movie m, review r </a:t>
            </a:r>
          </a:p>
          <a:p>
            <a:pPr algn="r"/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WHERE </a:t>
            </a:r>
            <a:r>
              <a:rPr lang="en-US" altLang="ko-KR" sz="1400" dirty="0" err="1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m.mo_num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=</a:t>
            </a:r>
            <a:r>
              <a:rPr lang="en-US" altLang="ko-KR" sz="1400" dirty="0" err="1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r.mo_num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 order by </a:t>
            </a:r>
            <a:r>
              <a:rPr lang="en-US" altLang="ko-KR" sz="1400" dirty="0" err="1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m.mo_num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;</a:t>
            </a:r>
          </a:p>
          <a:p>
            <a:pPr algn="r"/>
            <a:endParaRPr lang="en-US" altLang="ko-KR" sz="1400" dirty="0">
              <a:solidFill>
                <a:schemeClr val="bg1"/>
              </a:solidFill>
              <a:latin typeface="NanumMyeongjo" pitchFamily="2" charset="-127"/>
              <a:ea typeface="NanumMyeongjo" pitchFamily="2" charset="-127"/>
            </a:endParaRPr>
          </a:p>
          <a:p>
            <a:pPr algn="r"/>
            <a:r>
              <a:rPr lang="ko-KR" altLang="en-US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영화 정보 조회 쿼리 </a:t>
            </a:r>
          </a:p>
          <a:p>
            <a:pPr algn="r"/>
            <a:endParaRPr lang="ko-KR" altLang="en-US" sz="1400" dirty="0">
              <a:solidFill>
                <a:schemeClr val="bg1"/>
              </a:solidFill>
              <a:latin typeface="NanumMyeongjo" pitchFamily="2" charset="-127"/>
              <a:ea typeface="NanumMyeongjo" pitchFamily="2" charset="-127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1518921" y="3472891"/>
            <a:ext cx="4632959" cy="1662989"/>
          </a:xfrm>
          <a:prstGeom prst="rect">
            <a:avLst/>
          </a:prstGeom>
          <a:solidFill>
            <a:srgbClr val="FF0000">
              <a:alpha val="10000"/>
            </a:srgbClr>
          </a:solidFill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55C74FD-3A73-C803-82C4-2CB13736F58E}"/>
              </a:ext>
            </a:extLst>
          </p:cNvPr>
          <p:cNvSpPr txBox="1"/>
          <p:nvPr/>
        </p:nvSpPr>
        <p:spPr>
          <a:xfrm>
            <a:off x="7704218" y="5152151"/>
            <a:ext cx="4055982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DELETE MOVIE WHERE </a:t>
            </a:r>
            <a:r>
              <a:rPr lang="en-US" altLang="ko-KR" sz="1400" dirty="0" err="1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mo_num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=6; </a:t>
            </a:r>
          </a:p>
          <a:p>
            <a:pPr algn="r"/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 6</a:t>
            </a:r>
            <a:r>
              <a:rPr lang="ko-KR" altLang="en-US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번영화 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'</a:t>
            </a:r>
            <a:r>
              <a:rPr lang="ko-KR" altLang="en-US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박쥐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' </a:t>
            </a:r>
            <a:r>
              <a:rPr lang="ko-KR" altLang="en-US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종영하여 삭제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진행 하였습니다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.</a:t>
            </a:r>
            <a:endParaRPr lang="ko-KR" altLang="en-US" sz="1400" dirty="0">
              <a:solidFill>
                <a:schemeClr val="bg1"/>
              </a:solidFill>
              <a:latin typeface="NanumMyeongjo" pitchFamily="2" charset="-127"/>
              <a:ea typeface="NanumMyeongjo" pitchFamily="2" charset="-127"/>
            </a:endParaRPr>
          </a:p>
          <a:p>
            <a:pPr algn="r"/>
            <a:r>
              <a:rPr lang="ko-KR" altLang="en-US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리뷰테이블에 </a:t>
            </a:r>
            <a:r>
              <a:rPr lang="en-US" altLang="ko-KR" sz="1400" dirty="0" err="1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mo_num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(</a:t>
            </a:r>
            <a:r>
              <a:rPr lang="ko-KR" altLang="en-US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영화번호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)</a:t>
            </a:r>
            <a:r>
              <a:rPr lang="ko-KR" altLang="en-US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는 외래키로 </a:t>
            </a:r>
            <a:endParaRPr lang="en-US" altLang="ko-KR" sz="1400" dirty="0">
              <a:solidFill>
                <a:schemeClr val="bg1"/>
              </a:solidFill>
              <a:latin typeface="NanumMyeongjo" pitchFamily="2" charset="-127"/>
              <a:ea typeface="NanumMyeongjo" pitchFamily="2" charset="-127"/>
            </a:endParaRPr>
          </a:p>
          <a:p>
            <a:pPr algn="r"/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ON DELETE CASCADE </a:t>
            </a:r>
            <a:r>
              <a:rPr lang="ko-KR" altLang="en-US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되어 리뷰조회시 </a:t>
            </a:r>
            <a:endParaRPr lang="en-US" altLang="ko-KR" sz="1400" dirty="0">
              <a:solidFill>
                <a:schemeClr val="bg1"/>
              </a:solidFill>
              <a:latin typeface="NanumMyeongjo" pitchFamily="2" charset="-127"/>
              <a:ea typeface="NanumMyeongjo" pitchFamily="2" charset="-127"/>
            </a:endParaRPr>
          </a:p>
          <a:p>
            <a:pPr algn="r"/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6</a:t>
            </a:r>
            <a:r>
              <a:rPr lang="ko-KR" altLang="en-US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번영화 리뷰 전부 같이 삭제 </a:t>
            </a:r>
            <a:r>
              <a:rPr lang="ko-KR" altLang="en-US" sz="1400" dirty="0" err="1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된걸</a:t>
            </a:r>
            <a:r>
              <a:rPr lang="ko-KR" altLang="en-US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 확인하였습니다</a:t>
            </a:r>
            <a:r>
              <a:rPr lang="en-US" altLang="ko-KR" sz="1400" dirty="0">
                <a:solidFill>
                  <a:schemeClr val="bg1"/>
                </a:solidFill>
                <a:latin typeface="NanumMyeongjo" pitchFamily="2" charset="-127"/>
                <a:ea typeface="NanumMyeongjo" pitchFamily="2" charset="-127"/>
              </a:rPr>
              <a:t>.</a:t>
            </a:r>
          </a:p>
          <a:p>
            <a:pPr algn="r"/>
            <a:endParaRPr kumimoji="1" lang="ko-Kore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1D94D5-2635-3766-AB7D-ED97C04363E3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</a:p>
        </p:txBody>
      </p:sp>
      <p:cxnSp>
        <p:nvCxnSpPr>
          <p:cNvPr id="15" name="직선 연결선 3">
            <a:extLst>
              <a:ext uri="{FF2B5EF4-FFF2-40B4-BE49-F238E27FC236}">
                <a16:creationId xmlns:a16="http://schemas.microsoft.com/office/drawing/2014/main" id="{CE67DD47-755B-9C39-E44F-3015667091DC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EB01679-AC48-F3F9-7CF2-38DED299D5AD}"/>
              </a:ext>
            </a:extLst>
          </p:cNvPr>
          <p:cNvSpPr txBox="1"/>
          <p:nvPr/>
        </p:nvSpPr>
        <p:spPr>
          <a:xfrm>
            <a:off x="0" y="212812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48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기능 구현 확인</a:t>
            </a:r>
            <a:endParaRPr kumimoji="1" lang="x-none" altLang="en-US" sz="48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10808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421176" y="1188000"/>
            <a:ext cx="468000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결제 정보 </a:t>
            </a:r>
            <a:r>
              <a:rPr lang="ko-KR" altLang="en-US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뷰</a:t>
            </a:r>
            <a:r>
              <a:rPr lang="ko-KR" alt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생성 쿼리</a:t>
            </a:r>
            <a:endParaRPr lang="en-US" altLang="ko-KR" b="1" dirty="0">
              <a:solidFill>
                <a:schemeClr val="accent5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 flipV="1">
            <a:off x="2592000" y="1656000"/>
            <a:ext cx="230400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20509A3-37FC-EF32-BE17-7DDD8A493274}"/>
              </a:ext>
            </a:extLst>
          </p:cNvPr>
          <p:cNvSpPr/>
          <p:nvPr/>
        </p:nvSpPr>
        <p:spPr>
          <a:xfrm>
            <a:off x="1421175" y="1743456"/>
            <a:ext cx="4680000" cy="4680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CREATE OR REPLACE VIEW 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EW_pay_info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</a:t>
            </a:r>
          </a:p>
          <a:p>
            <a:endParaRPr lang="en-US" sz="1600" dirty="0">
              <a:solidFill>
                <a:schemeClr val="tx1"/>
              </a:solidFill>
              <a:latin typeface="Cambria Math" pitchFamily="18" charset="0"/>
              <a:ea typeface="Cambria Math" pitchFamily="18" charset="0"/>
              <a:cs typeface="Arial Unicode MS" pitchFamily="50" charset="-127"/>
            </a:endParaRPr>
          </a:p>
          <a:p>
            <a:endParaRPr lang="en-US" sz="1600" dirty="0">
              <a:solidFill>
                <a:schemeClr val="tx1"/>
              </a:solidFill>
              <a:latin typeface="Cambria Math" pitchFamily="18" charset="0"/>
              <a:ea typeface="Cambria Math" pitchFamily="18" charset="0"/>
              <a:cs typeface="Arial Unicode MS" pitchFamily="50" charset="-127"/>
            </a:endParaRPr>
          </a:p>
          <a:p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AS </a:t>
            </a:r>
          </a:p>
          <a:p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          SELECT 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p.ti_num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T_NUM</a:t>
            </a:r>
          </a:p>
          <a:p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		, 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c.cos_name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T_NAMES </a:t>
            </a:r>
          </a:p>
          <a:p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		, 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s.sh_time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T_TIMES </a:t>
            </a:r>
          </a:p>
          <a:p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		, 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m.mo_title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M_TITLES </a:t>
            </a:r>
          </a:p>
          <a:p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		, 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p.py_type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P_TYPES </a:t>
            </a:r>
          </a:p>
          <a:p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		, (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t.ti_nop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)*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p.py_tot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P_TOPAY </a:t>
            </a:r>
          </a:p>
          <a:p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          FROM pay p</a:t>
            </a:r>
          </a:p>
          <a:p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          JOIN 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ticketting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t ON 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p.ti_num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= 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t.ti_num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</a:t>
            </a:r>
          </a:p>
          <a:p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          JOIN customer c ON 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t.cos_num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= 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c.cos_num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</a:t>
            </a:r>
          </a:p>
          <a:p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          JOIN 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show_day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s ON 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t.sh_num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= 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s.sh_num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</a:t>
            </a:r>
          </a:p>
          <a:p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          JOIN movie m ON 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s.sh_movien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= 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m.mo_num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; </a:t>
            </a:r>
          </a:p>
          <a:p>
            <a:endParaRPr lang="en-US" sz="1600" dirty="0">
              <a:solidFill>
                <a:schemeClr val="tx1"/>
              </a:solidFill>
              <a:latin typeface="Cambria Math" pitchFamily="18" charset="0"/>
              <a:ea typeface="Cambria Math" pitchFamily="18" charset="0"/>
              <a:cs typeface="Arial Unicode MS" pitchFamily="50" charset="-127"/>
            </a:endParaRPr>
          </a:p>
          <a:p>
            <a:r>
              <a:rPr lang="ko-KR" alt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SELECT * FROM </a:t>
            </a:r>
            <a:r>
              <a:rPr lang="en-US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EW_pay_info</a:t>
            </a:r>
            <a:r>
              <a:rPr 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; </a:t>
            </a:r>
            <a:br>
              <a:rPr lang="en-US" sz="1600" dirty="0">
                <a:solidFill>
                  <a:schemeClr val="tx1"/>
                </a:solidFill>
                <a:latin typeface="Arial Unicode MS" pitchFamily="50" charset="-127"/>
                <a:ea typeface="Arial Unicode MS" pitchFamily="50" charset="-127"/>
                <a:cs typeface="Arial Unicode MS" pitchFamily="50" charset="-127"/>
              </a:rPr>
            </a:br>
            <a:endParaRPr lang="ko-KR" altLang="en-US" sz="1600" dirty="0">
              <a:solidFill>
                <a:schemeClr val="tx1"/>
              </a:solidFill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980D36-7742-2B55-CDF9-72A4C0DFAD04}"/>
              </a:ext>
            </a:extLst>
          </p:cNvPr>
          <p:cNvSpPr txBox="1"/>
          <p:nvPr/>
        </p:nvSpPr>
        <p:spPr>
          <a:xfrm>
            <a:off x="6368400" y="1188000"/>
            <a:ext cx="468000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결제 정보 </a:t>
            </a:r>
            <a:r>
              <a:rPr lang="ko-KR" altLang="en-US" b="1" dirty="0" err="1">
                <a:solidFill>
                  <a:schemeClr val="accent5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뷰</a:t>
            </a:r>
            <a:r>
              <a:rPr lang="ko-KR" altLang="en-US" b="1" dirty="0">
                <a:solidFill>
                  <a:schemeClr val="accent5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 확인</a:t>
            </a:r>
            <a:endParaRPr lang="en-US" altLang="ko-KR" sz="2400" b="1" dirty="0">
              <a:solidFill>
                <a:schemeClr val="accent5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27" name="직선 연결선 12">
            <a:extLst>
              <a:ext uri="{FF2B5EF4-FFF2-40B4-BE49-F238E27FC236}">
                <a16:creationId xmlns:a16="http://schemas.microsoft.com/office/drawing/2014/main" id="{9A4C240A-91B7-0707-4491-4D7A53A606D7}"/>
              </a:ext>
            </a:extLst>
          </p:cNvPr>
          <p:cNvCxnSpPr>
            <a:cxnSpLocks/>
          </p:cNvCxnSpPr>
          <p:nvPr/>
        </p:nvCxnSpPr>
        <p:spPr>
          <a:xfrm>
            <a:off x="7812000" y="1656000"/>
            <a:ext cx="180000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6D30524-A522-F090-F09B-1B62B00A71E4}"/>
              </a:ext>
            </a:extLst>
          </p:cNvPr>
          <p:cNvSpPr/>
          <p:nvPr/>
        </p:nvSpPr>
        <p:spPr>
          <a:xfrm>
            <a:off x="6372000" y="1743455"/>
            <a:ext cx="4680000" cy="4680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  <a:ln w="190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algn="ctr"/>
            <a:endParaRPr lang="ko-KR" altLang="en-US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FFC450B-A173-03AB-28FA-C74F5A64B12C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333559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3">
            <a:extLst>
              <a:ext uri="{FF2B5EF4-FFF2-40B4-BE49-F238E27FC236}">
                <a16:creationId xmlns:a16="http://schemas.microsoft.com/office/drawing/2014/main" id="{8CA7994E-F0E1-2F91-59DA-76AFC333B513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396170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2AAFE7E-697A-B9BF-9821-9D6CA208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27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DE43EB2-FA3B-BD2B-BAF4-BD7DA0A3B5C9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</a:p>
        </p:txBody>
      </p:sp>
      <p:cxnSp>
        <p:nvCxnSpPr>
          <p:cNvPr id="11" name="직선 연결선 3">
            <a:extLst>
              <a:ext uri="{FF2B5EF4-FFF2-40B4-BE49-F238E27FC236}">
                <a16:creationId xmlns:a16="http://schemas.microsoft.com/office/drawing/2014/main" id="{80D5D287-7908-EA59-89BA-FD24805849B4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F77110E-90FB-D982-CFD5-4DF8659BB63E}"/>
              </a:ext>
            </a:extLst>
          </p:cNvPr>
          <p:cNvSpPr txBox="1"/>
          <p:nvPr/>
        </p:nvSpPr>
        <p:spPr>
          <a:xfrm>
            <a:off x="0" y="212812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48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추가 기능</a:t>
            </a:r>
            <a:endParaRPr kumimoji="1" lang="x-none" altLang="en-US" sz="48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18178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421176" y="1188000"/>
            <a:ext cx="468000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프로시저 쿼리</a:t>
            </a:r>
            <a:endParaRPr lang="en-US" altLang="ko-KR" b="1" dirty="0">
              <a:solidFill>
                <a:schemeClr val="accent1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 flipV="1">
            <a:off x="3024000" y="1656000"/>
            <a:ext cx="144000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B629CCD-42B2-44CD-26D6-06F0869FF8EE}"/>
              </a:ext>
            </a:extLst>
          </p:cNvPr>
          <p:cNvSpPr txBox="1"/>
          <p:nvPr/>
        </p:nvSpPr>
        <p:spPr>
          <a:xfrm>
            <a:off x="0" y="207667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48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추가 기능</a:t>
            </a:r>
            <a:endParaRPr kumimoji="1" lang="x-none" altLang="en-US" sz="48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20509A3-37FC-EF32-BE17-7DDD8A493274}"/>
              </a:ext>
            </a:extLst>
          </p:cNvPr>
          <p:cNvSpPr/>
          <p:nvPr/>
        </p:nvSpPr>
        <p:spPr>
          <a:xfrm>
            <a:off x="1421175" y="1743456"/>
            <a:ext cx="4680000" cy="468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CREATE OR REPLACE PROCEDURE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payProc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(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pay_no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IN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EW_pay_info.T_NUM%TYPE</a:t>
            </a:r>
            <a:endParaRPr lang="en-US" altLang="ko-KR" sz="1400" dirty="0">
              <a:solidFill>
                <a:schemeClr val="tx1"/>
              </a:solidFill>
              <a:latin typeface="Cambria Math" pitchFamily="18" charset="0"/>
              <a:ea typeface="Cambria Math" pitchFamily="18" charset="0"/>
              <a:cs typeface="Arial Unicode MS" pitchFamily="50" charset="-127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)</a:t>
            </a:r>
          </a:p>
          <a:p>
            <a:endParaRPr lang="en-US" altLang="ko-KR" sz="1400" dirty="0">
              <a:solidFill>
                <a:schemeClr val="tx1"/>
              </a:solidFill>
              <a:latin typeface="Cambria Math" pitchFamily="18" charset="0"/>
              <a:ea typeface="Cambria Math" pitchFamily="18" charset="0"/>
              <a:cs typeface="Arial Unicode MS" pitchFamily="50" charset="-127"/>
            </a:endParaRP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AS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                        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v_payNUMBER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NUMBER;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                        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v_payNAME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varchar2(20);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                        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v_payTIME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DATE;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                        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v_payTITLE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varchar2(50);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                        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v_payTYPE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varchar2(20);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                        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v_payTOPAY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NUMBER;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begin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 SELECT T_NUM into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v_payNUMBER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from             	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EW_pay_info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WHERE T_NUM=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pay_no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 SELECT T_NAMES into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v_payNAME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from 	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EW_pay_info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WHERE T_NUM=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pay_no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 SELECT T_TIMES into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v_payTIME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from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	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EW_pay_info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WHERE T_NUM=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pay_no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 SELECT M_TITLES into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v_payTITLE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from 	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EW_pay_info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WHERE T_NUM=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pay_no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;</a:t>
            </a:r>
          </a:p>
          <a:p>
            <a:endParaRPr lang="en-US" altLang="ko-KR" sz="1400" dirty="0">
              <a:solidFill>
                <a:schemeClr val="tx1"/>
              </a:solidFill>
              <a:latin typeface="Cambria Math" pitchFamily="18" charset="0"/>
              <a:ea typeface="Cambria Math" pitchFamily="18" charset="0"/>
              <a:cs typeface="Arial Unicode MS" pitchFamily="50" charset="-127"/>
            </a:endParaRPr>
          </a:p>
          <a:p>
            <a:endParaRPr lang="en-US" altLang="ko-KR" sz="1400" dirty="0">
              <a:solidFill>
                <a:schemeClr val="tx1"/>
              </a:solidFill>
              <a:latin typeface="Cambria Math" pitchFamily="18" charset="0"/>
              <a:ea typeface="Cambria Math" pitchFamily="18" charset="0"/>
              <a:cs typeface="Arial Unicode MS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980D36-7742-2B55-CDF9-72A4C0DFAD04}"/>
              </a:ext>
            </a:extLst>
          </p:cNvPr>
          <p:cNvSpPr txBox="1"/>
          <p:nvPr/>
        </p:nvSpPr>
        <p:spPr>
          <a:xfrm>
            <a:off x="6368400" y="1188000"/>
            <a:ext cx="468000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프로시저 쿼리</a:t>
            </a:r>
            <a:endParaRPr lang="en-US" altLang="ko-KR" sz="2400" b="1" dirty="0">
              <a:solidFill>
                <a:schemeClr val="accent1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27" name="직선 연결선 12">
            <a:extLst>
              <a:ext uri="{FF2B5EF4-FFF2-40B4-BE49-F238E27FC236}">
                <a16:creationId xmlns:a16="http://schemas.microsoft.com/office/drawing/2014/main" id="{9A4C240A-91B7-0707-4491-4D7A53A606D7}"/>
              </a:ext>
            </a:extLst>
          </p:cNvPr>
          <p:cNvCxnSpPr>
            <a:cxnSpLocks/>
          </p:cNvCxnSpPr>
          <p:nvPr/>
        </p:nvCxnSpPr>
        <p:spPr>
          <a:xfrm>
            <a:off x="7956000" y="1656000"/>
            <a:ext cx="147600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6D30524-A522-F090-F09B-1B62B00A71E4}"/>
              </a:ext>
            </a:extLst>
          </p:cNvPr>
          <p:cNvSpPr/>
          <p:nvPr/>
        </p:nvSpPr>
        <p:spPr>
          <a:xfrm>
            <a:off x="6372000" y="1743455"/>
            <a:ext cx="4680000" cy="468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altLang="ko-KR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 SELECT P_TYPES into </a:t>
            </a:r>
            <a:r>
              <a:rPr lang="en-US" altLang="ko-KR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v_payTYPE</a:t>
            </a:r>
            <a:r>
              <a:rPr lang="en-US" altLang="ko-KR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from 	</a:t>
            </a:r>
            <a:r>
              <a:rPr lang="en-US" altLang="ko-KR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EW_pay_info</a:t>
            </a:r>
            <a:r>
              <a:rPr lang="en-US" altLang="ko-KR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WHERE T_NUM=</a:t>
            </a:r>
            <a:r>
              <a:rPr lang="en-US" altLang="ko-KR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pay_no</a:t>
            </a:r>
            <a:r>
              <a:rPr lang="en-US" altLang="ko-KR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;</a:t>
            </a:r>
          </a:p>
          <a:p>
            <a:r>
              <a:rPr lang="en-US" altLang="ko-KR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 SELECT P_TOPAY into </a:t>
            </a:r>
            <a:r>
              <a:rPr lang="en-US" altLang="ko-KR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v_payTOPAY</a:t>
            </a:r>
            <a:r>
              <a:rPr lang="en-US" altLang="ko-KR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from 	</a:t>
            </a:r>
            <a:r>
              <a:rPr lang="en-US" altLang="ko-KR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EW_pay_info</a:t>
            </a:r>
            <a:r>
              <a:rPr lang="en-US" altLang="ko-KR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WHERE T_NUM=</a:t>
            </a:r>
            <a:r>
              <a:rPr lang="en-US" altLang="ko-KR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pay_no</a:t>
            </a:r>
            <a:r>
              <a:rPr lang="en-US" altLang="ko-KR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;</a:t>
            </a:r>
          </a:p>
          <a:p>
            <a:r>
              <a:rPr lang="en-US" altLang="ko-KR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DBMS_OUTPUT.PUT_LINE('-------- </a:t>
            </a:r>
            <a:r>
              <a:rPr lang="ko-KR" altLang="en-US" sz="1400" dirty="0">
                <a:solidFill>
                  <a:schemeClr val="tx1"/>
                </a:solidFill>
                <a:latin typeface="Cambria Math" pitchFamily="18" charset="0"/>
                <a:ea typeface="Arial Unicode MS" pitchFamily="50" charset="-127"/>
                <a:cs typeface="Arial Unicode MS" pitchFamily="50" charset="-127"/>
              </a:rPr>
              <a:t>결제 완료 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--------');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DBMS_OUTPUT.PUT_LINE('</a:t>
            </a:r>
            <a:r>
              <a:rPr lang="ko-KR" altLang="en-US" sz="1400" dirty="0">
                <a:solidFill>
                  <a:schemeClr val="tx1"/>
                </a:solidFill>
                <a:latin typeface="Cambria Math" pitchFamily="18" charset="0"/>
                <a:ea typeface="Arial Unicode MS" pitchFamily="50" charset="-127"/>
                <a:cs typeface="Arial Unicode MS" pitchFamily="50" charset="-127"/>
              </a:rPr>
              <a:t>티켓번호 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: ' ||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v_payNUMBER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DBMS_OUTPUT.PUT_LINE('</a:t>
            </a:r>
            <a:r>
              <a:rPr lang="ko-KR" altLang="en-US" sz="1400" dirty="0">
                <a:solidFill>
                  <a:schemeClr val="tx1"/>
                </a:solidFill>
                <a:latin typeface="Cambria Math" pitchFamily="18" charset="0"/>
                <a:ea typeface="Arial Unicode MS" pitchFamily="50" charset="-127"/>
                <a:cs typeface="Arial Unicode MS" pitchFamily="50" charset="-127"/>
              </a:rPr>
              <a:t>회원이름 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: ' ||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v_payNAME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DBMS_OUTPUT.PUT_LINE('</a:t>
            </a:r>
            <a:r>
              <a:rPr lang="ko-KR" altLang="en-US" sz="1400" dirty="0">
                <a:solidFill>
                  <a:schemeClr val="tx1"/>
                </a:solidFill>
                <a:latin typeface="Cambria Math" pitchFamily="18" charset="0"/>
                <a:ea typeface="Arial Unicode MS" pitchFamily="50" charset="-127"/>
                <a:cs typeface="Arial Unicode MS" pitchFamily="50" charset="-127"/>
              </a:rPr>
              <a:t>상영날짜 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: ' ||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v_payTIME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DBMS_OUTPUT.PUT_LINE('</a:t>
            </a:r>
            <a:r>
              <a:rPr lang="ko-KR" altLang="en-US" sz="1400" dirty="0">
                <a:solidFill>
                  <a:schemeClr val="tx1"/>
                </a:solidFill>
                <a:latin typeface="Cambria Math" pitchFamily="18" charset="0"/>
                <a:ea typeface="Arial Unicode MS" pitchFamily="50" charset="-127"/>
                <a:cs typeface="Arial Unicode MS" pitchFamily="50" charset="-127"/>
              </a:rPr>
              <a:t>영화이름 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: ' ||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v_payTITLE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DBMS_OUTPUT.PUT_LINE('</a:t>
            </a:r>
            <a:r>
              <a:rPr lang="ko-KR" altLang="en-US" sz="1400" dirty="0">
                <a:solidFill>
                  <a:schemeClr val="tx1"/>
                </a:solidFill>
                <a:latin typeface="Cambria Math" pitchFamily="18" charset="0"/>
                <a:ea typeface="Arial Unicode MS" pitchFamily="50" charset="-127"/>
                <a:cs typeface="Arial Unicode MS" pitchFamily="50" charset="-127"/>
              </a:rPr>
              <a:t>결제타입 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: ' ||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v_payTYPE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);</a:t>
            </a:r>
          </a:p>
          <a:p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   DBMS_OUTPUT.PUT_LINE('</a:t>
            </a:r>
            <a:r>
              <a:rPr lang="ko-KR" altLang="en-US" sz="1400" dirty="0">
                <a:solidFill>
                  <a:schemeClr val="tx1"/>
                </a:solidFill>
                <a:latin typeface="Cambria Math" pitchFamily="18" charset="0"/>
                <a:ea typeface="Arial Unicode MS" pitchFamily="50" charset="-127"/>
                <a:cs typeface="Arial Unicode MS" pitchFamily="50" charset="-127"/>
              </a:rPr>
              <a:t>결제총액 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: ' || </a:t>
            </a:r>
            <a:r>
              <a:rPr lang="en-US" altLang="ko-KR" sz="14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v_payTOPAY</a:t>
            </a:r>
            <a:r>
              <a:rPr lang="en-US" altLang="ko-KR" sz="14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);</a:t>
            </a:r>
          </a:p>
          <a:p>
            <a:endParaRPr lang="en-US" altLang="ko-KR" sz="1600" dirty="0">
              <a:solidFill>
                <a:schemeClr val="tx1"/>
              </a:solidFill>
              <a:latin typeface="Cambria Math" pitchFamily="18" charset="0"/>
              <a:ea typeface="Cambria Math" pitchFamily="18" charset="0"/>
              <a:cs typeface="Arial Unicode MS" pitchFamily="50" charset="-127"/>
            </a:endParaRPr>
          </a:p>
          <a:p>
            <a:endParaRPr lang="en-US" altLang="ko-KR" sz="1600" dirty="0">
              <a:solidFill>
                <a:schemeClr val="tx1"/>
              </a:solidFill>
              <a:latin typeface="Cambria Math" pitchFamily="18" charset="0"/>
              <a:ea typeface="Cambria Math" pitchFamily="18" charset="0"/>
              <a:cs typeface="Arial Unicode MS" pitchFamily="50" charset="-127"/>
            </a:endParaRPr>
          </a:p>
          <a:p>
            <a:r>
              <a:rPr lang="en-US" altLang="ko-KR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END </a:t>
            </a:r>
            <a:r>
              <a:rPr lang="en-US" altLang="ko-KR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payProc</a:t>
            </a:r>
            <a:r>
              <a:rPr lang="en-US" altLang="ko-KR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 ; </a:t>
            </a:r>
          </a:p>
          <a:p>
            <a:endParaRPr lang="en-US" altLang="ko-KR" sz="1600" dirty="0">
              <a:solidFill>
                <a:schemeClr val="tx1"/>
              </a:solidFill>
              <a:latin typeface="Cambria Math" pitchFamily="18" charset="0"/>
              <a:ea typeface="Cambria Math" pitchFamily="18" charset="0"/>
              <a:cs typeface="Arial Unicode MS" pitchFamily="50" charset="-127"/>
            </a:endParaRPr>
          </a:p>
          <a:p>
            <a:pPr algn="ctr"/>
            <a:r>
              <a:rPr lang="ko-KR" altLang="en-US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프로시저 호출 </a:t>
            </a:r>
            <a:endParaRPr lang="en-US" altLang="ko-KR" sz="1600" dirty="0">
              <a:solidFill>
                <a:schemeClr val="tx1"/>
              </a:solidFill>
              <a:latin typeface="Cambria Math" pitchFamily="18" charset="0"/>
              <a:ea typeface="Cambria Math" pitchFamily="18" charset="0"/>
              <a:cs typeface="Arial Unicode MS" pitchFamily="50" charset="-127"/>
            </a:endParaRPr>
          </a:p>
          <a:p>
            <a:pPr algn="ctr"/>
            <a:endParaRPr lang="en-US" altLang="ko-KR" sz="1600" dirty="0">
              <a:solidFill>
                <a:schemeClr val="tx1"/>
              </a:solidFill>
              <a:latin typeface="Cambria Math" pitchFamily="18" charset="0"/>
              <a:ea typeface="Cambria Math" pitchFamily="18" charset="0"/>
              <a:cs typeface="Arial Unicode MS" pitchFamily="50" charset="-127"/>
            </a:endParaRPr>
          </a:p>
          <a:p>
            <a:r>
              <a:rPr lang="en-US" altLang="ko-KR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EXEC </a:t>
            </a:r>
            <a:r>
              <a:rPr lang="en-US" altLang="ko-KR" sz="1600" dirty="0" err="1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payProc</a:t>
            </a:r>
            <a:r>
              <a:rPr lang="en-US" altLang="ko-KR" sz="1600" dirty="0">
                <a:solidFill>
                  <a:schemeClr val="tx1"/>
                </a:solidFill>
                <a:latin typeface="Cambria Math" pitchFamily="18" charset="0"/>
                <a:ea typeface="Cambria Math" pitchFamily="18" charset="0"/>
                <a:cs typeface="Arial Unicode MS" pitchFamily="50" charset="-127"/>
              </a:rPr>
              <a:t>(7);</a:t>
            </a:r>
            <a:endParaRPr lang="ko-KR" altLang="en-US" sz="1600" dirty="0">
              <a:solidFill>
                <a:schemeClr val="tx1"/>
              </a:solidFill>
              <a:latin typeface="Cambria Math" pitchFamily="18" charset="0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FFC450B-A173-03AB-28FA-C74F5A64B12C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333559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3">
            <a:extLst>
              <a:ext uri="{FF2B5EF4-FFF2-40B4-BE49-F238E27FC236}">
                <a16:creationId xmlns:a16="http://schemas.microsoft.com/office/drawing/2014/main" id="{8CA7994E-F0E1-2F91-59DA-76AFC333B513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396170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2AAFE7E-697A-B9BF-9821-9D6CA208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28</a:t>
            </a:fld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9CBBA2-C70F-D7D9-31A0-8B4159BF93F6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</a:p>
        </p:txBody>
      </p:sp>
      <p:cxnSp>
        <p:nvCxnSpPr>
          <p:cNvPr id="11" name="직선 연결선 3">
            <a:extLst>
              <a:ext uri="{FF2B5EF4-FFF2-40B4-BE49-F238E27FC236}">
                <a16:creationId xmlns:a16="http://schemas.microsoft.com/office/drawing/2014/main" id="{79D1491B-A1F6-463C-4B92-7AD5DAD86B53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4173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421176" y="1188000"/>
            <a:ext cx="468000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tx2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프로시저 기능 결과</a:t>
            </a:r>
            <a:endParaRPr lang="en-US" altLang="ko-KR" b="1" dirty="0">
              <a:solidFill>
                <a:schemeClr val="tx2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 flipV="1">
            <a:off x="2772000" y="1656000"/>
            <a:ext cx="194400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20509A3-37FC-EF32-BE17-7DDD8A493274}"/>
              </a:ext>
            </a:extLst>
          </p:cNvPr>
          <p:cNvSpPr/>
          <p:nvPr/>
        </p:nvSpPr>
        <p:spPr>
          <a:xfrm>
            <a:off x="1421175" y="1743456"/>
            <a:ext cx="4680000" cy="4680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  <a:ln w="190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US" altLang="ko-KR" sz="1400" dirty="0">
              <a:solidFill>
                <a:schemeClr val="tx1"/>
              </a:solidFill>
              <a:latin typeface="Arial Unicode MS" pitchFamily="50" charset="-127"/>
              <a:ea typeface="Arial Unicode MS" pitchFamily="50" charset="-127"/>
              <a:cs typeface="Arial Unicode MS" pitchFamily="50" charset="-127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980D36-7742-2B55-CDF9-72A4C0DFAD04}"/>
              </a:ext>
            </a:extLst>
          </p:cNvPr>
          <p:cNvSpPr txBox="1"/>
          <p:nvPr/>
        </p:nvSpPr>
        <p:spPr>
          <a:xfrm>
            <a:off x="6368400" y="1188000"/>
            <a:ext cx="4680000" cy="4569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tx2">
                    <a:lumMod val="20000"/>
                    <a:lumOff val="80000"/>
                  </a:schemeClr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프로시저 설명</a:t>
            </a:r>
            <a:endParaRPr lang="en-US" altLang="ko-KR" sz="2400" b="1" dirty="0">
              <a:solidFill>
                <a:schemeClr val="tx2">
                  <a:lumMod val="20000"/>
                  <a:lumOff val="80000"/>
                </a:schemeClr>
              </a:soli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27" name="직선 연결선 12">
            <a:extLst>
              <a:ext uri="{FF2B5EF4-FFF2-40B4-BE49-F238E27FC236}">
                <a16:creationId xmlns:a16="http://schemas.microsoft.com/office/drawing/2014/main" id="{9A4C240A-91B7-0707-4491-4D7A53A606D7}"/>
              </a:ext>
            </a:extLst>
          </p:cNvPr>
          <p:cNvCxnSpPr>
            <a:cxnSpLocks/>
          </p:cNvCxnSpPr>
          <p:nvPr/>
        </p:nvCxnSpPr>
        <p:spPr>
          <a:xfrm>
            <a:off x="7956000" y="1656000"/>
            <a:ext cx="1440000" cy="0"/>
          </a:xfrm>
          <a:prstGeom prst="lin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6D30524-A522-F090-F09B-1B62B00A71E4}"/>
              </a:ext>
            </a:extLst>
          </p:cNvPr>
          <p:cNvSpPr/>
          <p:nvPr/>
        </p:nvSpPr>
        <p:spPr>
          <a:xfrm>
            <a:off x="6372000" y="1753615"/>
            <a:ext cx="4680000" cy="4680000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0" rIns="3600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altLang="ko-KR" sz="1100" dirty="0">
              <a:solidFill>
                <a:schemeClr val="tx1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CREATE </a:t>
            </a:r>
            <a:r>
              <a:rPr lang="ko-KR" altLang="en-US" sz="1100" dirty="0" err="1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구문중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()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괄호 안에 있는 </a:t>
            </a:r>
            <a:endParaRPr lang="en-US" altLang="ko-KR" sz="1100" dirty="0">
              <a:solidFill>
                <a:schemeClr val="tx1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en-US" altLang="ko-KR" sz="1100" dirty="0" err="1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pay_no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는 입력 파라미터 입니다</a:t>
            </a:r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.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특정 프로시저를 호출 할 때 입력 받을 파라미터를 </a:t>
            </a:r>
            <a:endParaRPr lang="en-US" altLang="ko-KR" sz="1100" dirty="0">
              <a:solidFill>
                <a:schemeClr val="tx1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먼저 지정해 주어야 됩니다</a:t>
            </a:r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.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AS 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구문 뒤에는 출력할 매개변수들의 </a:t>
            </a:r>
            <a:endParaRPr lang="en-US" altLang="ko-KR" sz="1100" dirty="0">
              <a:solidFill>
                <a:schemeClr val="tx1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데이터 타입과 변수명을 지정해 줍니다</a:t>
            </a:r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.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begin ~ end 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사이의 구문은 실제 처리할 내용들을 적습니다</a:t>
            </a:r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.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select ~ into 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구문을 사용하여 </a:t>
            </a:r>
            <a:r>
              <a:rPr lang="en-US" altLang="ko-KR" sz="1100" dirty="0" err="1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EM_pay_info</a:t>
            </a:r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뷰에 </a:t>
            </a:r>
            <a:endParaRPr lang="en-US" altLang="ko-KR" sz="1100" dirty="0">
              <a:solidFill>
                <a:schemeClr val="tx1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컬럼 별칭 </a:t>
            </a:r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T_NUM, T_NAMES, T_TIMES, M_TITLES, P_TYPE, P_TOPAY</a:t>
            </a:r>
            <a:r>
              <a:rPr lang="ko-KR" altLang="en-US" sz="1100" dirty="0" err="1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를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 각각 선언한 변수에 넣어줍니다</a:t>
            </a:r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.</a:t>
            </a: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DBMS_OUTPUT.PUT_LINE 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을 사용 하여 </a:t>
            </a:r>
            <a:endParaRPr lang="en-US" altLang="ko-KR" sz="1100" dirty="0">
              <a:solidFill>
                <a:schemeClr val="tx1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해당 변수에 들어간 값을 출력하도록 지정해 놓습니다</a:t>
            </a:r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.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해당 프로시저를 사용할 때엔 </a:t>
            </a:r>
            <a:endParaRPr lang="en-US" altLang="ko-KR" sz="1100" dirty="0">
              <a:solidFill>
                <a:schemeClr val="tx1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지정해놓은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 매개변수를 이용하여  뷰의 </a:t>
            </a:r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T_NUM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을 입력 시킵니다</a:t>
            </a:r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.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 </a:t>
            </a:r>
          </a:p>
          <a:p>
            <a:pPr algn="ctr"/>
            <a:endParaRPr lang="en-US" altLang="ko-KR" sz="1100" dirty="0">
              <a:solidFill>
                <a:schemeClr val="tx1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프로시저는 일치된 </a:t>
            </a:r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NUM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의 결제정보를 화면에 출력해줍니다</a:t>
            </a:r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.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학원에서 배운 영역은 아니지만</a:t>
            </a:r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. 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트리거와 자료를 </a:t>
            </a:r>
            <a:r>
              <a:rPr lang="ko-KR" altLang="en-US" sz="1100" dirty="0" err="1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찾다보니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 </a:t>
            </a:r>
            <a:r>
              <a:rPr lang="ko-KR" altLang="en-US" sz="1100" dirty="0" err="1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알게되어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 사용해 보았습니다</a:t>
            </a:r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.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저장 </a:t>
            </a:r>
            <a:r>
              <a:rPr lang="ko-KR" altLang="en-US" sz="1100" dirty="0" err="1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프로시저같은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 경우 다른 외부 값을 받아 </a:t>
            </a:r>
            <a:endParaRPr lang="en-US" altLang="ko-KR" sz="1100" dirty="0">
              <a:solidFill>
                <a:schemeClr val="tx1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함수처럼 처리도 할 수 있고</a:t>
            </a: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리턴값을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 출력해주는 기능 등 다양한 기능이 있어 </a:t>
            </a:r>
            <a:endParaRPr lang="en-US" altLang="ko-KR" sz="1100" dirty="0">
              <a:solidFill>
                <a:schemeClr val="tx1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ko-KR" altLang="en-US" sz="1100" dirty="0" err="1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알아두면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 좋을 것 같습니다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아직 해당 프로시저라는 개념을 </a:t>
            </a:r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100% 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핸들링 하지는 못하지만 </a:t>
            </a:r>
          </a:p>
          <a:p>
            <a:pPr algn="ctr"/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이번 기회에 활용해보아서 너무 뿌듯합니다 </a:t>
            </a:r>
            <a:endParaRPr lang="en-US" altLang="ko-KR" sz="1100" dirty="0">
              <a:solidFill>
                <a:schemeClr val="tx1"/>
              </a:solidFill>
              <a:latin typeface="NanumMyeongjo" pitchFamily="2" charset="-127"/>
              <a:ea typeface="NanumMyeongjo" pitchFamily="2" charset="-127"/>
            </a:endParaRPr>
          </a:p>
          <a:p>
            <a:pPr algn="ctr"/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–</a:t>
            </a:r>
            <a:r>
              <a:rPr lang="ko-KR" altLang="en-US" sz="1100" dirty="0" err="1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가율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 외 </a:t>
            </a:r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3</a:t>
            </a:r>
            <a:r>
              <a:rPr lang="ko-KR" altLang="en-US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명</a:t>
            </a:r>
            <a:r>
              <a:rPr lang="en-US" altLang="ko-KR" sz="1100" dirty="0">
                <a:solidFill>
                  <a:schemeClr val="tx1"/>
                </a:solidFill>
                <a:latin typeface="NanumMyeongjo" pitchFamily="2" charset="-127"/>
                <a:ea typeface="NanumMyeongjo" pitchFamily="2" charset="-127"/>
              </a:rPr>
              <a:t>-</a:t>
            </a:r>
            <a:endParaRPr lang="ko-KR" altLang="en-US" sz="1100" dirty="0">
              <a:solidFill>
                <a:schemeClr val="tx1"/>
              </a:solidFill>
              <a:latin typeface="NanumMyeongjo" pitchFamily="2" charset="-127"/>
              <a:ea typeface="NanumMyeongjo" pitchFamily="2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FFC450B-A173-03AB-28FA-C74F5A64B12C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333559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직선 연결선 3">
            <a:extLst>
              <a:ext uri="{FF2B5EF4-FFF2-40B4-BE49-F238E27FC236}">
                <a16:creationId xmlns:a16="http://schemas.microsoft.com/office/drawing/2014/main" id="{8CA7994E-F0E1-2F91-59DA-76AFC333B513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3961708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C2AAFE7E-697A-B9BF-9821-9D6CA208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A2B064-3803-BC3A-F5E5-1E5E40886E90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</a:p>
        </p:txBody>
      </p:sp>
      <p:cxnSp>
        <p:nvCxnSpPr>
          <p:cNvPr id="11" name="직선 연결선 3">
            <a:extLst>
              <a:ext uri="{FF2B5EF4-FFF2-40B4-BE49-F238E27FC236}">
                <a16:creationId xmlns:a16="http://schemas.microsoft.com/office/drawing/2014/main" id="{C086E965-560F-AF9A-2014-329F53AA6AB6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B5A26FF1-78FA-B35E-231A-FBDD3C049582}"/>
              </a:ext>
            </a:extLst>
          </p:cNvPr>
          <p:cNvSpPr txBox="1"/>
          <p:nvPr/>
        </p:nvSpPr>
        <p:spPr>
          <a:xfrm>
            <a:off x="0" y="212812"/>
            <a:ext cx="1219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4800" b="1" dirty="0">
                <a:solidFill>
                  <a:schemeClr val="bg1"/>
                </a:solidFill>
                <a:effectLst>
                  <a:reflection stA="43491" endPos="65000" dist="31664" dir="5400000" sy="-100000" algn="bl" rotWithShape="0"/>
                </a:effectLst>
                <a:latin typeface="NanumMyeongjo" panose="02000300000000000000" pitchFamily="2" charset="-127"/>
                <a:ea typeface="NanumMyeongjo" panose="02000300000000000000" pitchFamily="2" charset="-127"/>
              </a:rPr>
              <a:t>추가 기능</a:t>
            </a:r>
            <a:endParaRPr kumimoji="1" lang="x-none" altLang="en-US" sz="4800" b="1" dirty="0">
              <a:solidFill>
                <a:schemeClr val="bg1"/>
              </a:solidFill>
              <a:effectLst>
                <a:reflection stA="43491" endPos="65000" dist="31664" dir="5400000" sy="-100000" algn="bl" rotWithShape="0"/>
              </a:effectLst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9468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화살표: 오각형 2"/>
          <p:cNvSpPr/>
          <p:nvPr/>
        </p:nvSpPr>
        <p:spPr>
          <a:xfrm rot="5400000">
            <a:off x="2495270" y="2536314"/>
            <a:ext cx="2626851" cy="1950117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2833637" y="2189117"/>
            <a:ext cx="1950116" cy="15867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트리거 및 프로시저를 구현하며 </a:t>
            </a:r>
            <a:r>
              <a:rPr lang="en-US" altLang="ko-KR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DB</a:t>
            </a:r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공부에 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좋은 기회가 </a:t>
            </a:r>
            <a:r>
              <a:rPr lang="ko-KR" altLang="en-US" sz="1400" b="1" spc="-150" dirty="0" err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됬습니다</a:t>
            </a:r>
            <a:r>
              <a:rPr lang="en-US" altLang="ko-KR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팀 워크 또한 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훌륭해서 너무 좋았습니다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다음 조는 다음에 </a:t>
            </a:r>
            <a:r>
              <a:rPr lang="en-US" altLang="ko-KR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lang="en-US" altLang="ko-KR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r>
              <a:rPr lang="en-US" altLang="ko-KR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 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24" name="화살표: 오각형 23"/>
          <p:cNvSpPr/>
          <p:nvPr/>
        </p:nvSpPr>
        <p:spPr>
          <a:xfrm rot="5400000">
            <a:off x="4572257" y="2536314"/>
            <a:ext cx="2626851" cy="1950117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화살표: 오각형 25"/>
          <p:cNvSpPr/>
          <p:nvPr/>
        </p:nvSpPr>
        <p:spPr>
          <a:xfrm rot="5400000">
            <a:off x="6649244" y="2536314"/>
            <a:ext cx="2626851" cy="1950117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화살표: 오각형 27"/>
          <p:cNvSpPr/>
          <p:nvPr/>
        </p:nvSpPr>
        <p:spPr>
          <a:xfrm rot="5400000">
            <a:off x="8726231" y="2536314"/>
            <a:ext cx="2626851" cy="1950117"/>
          </a:xfrm>
          <a:prstGeom prst="homePlat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0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32" name="직선 연결선 31"/>
          <p:cNvCxnSpPr/>
          <p:nvPr/>
        </p:nvCxnSpPr>
        <p:spPr>
          <a:xfrm>
            <a:off x="3800294" y="4824799"/>
            <a:ext cx="0" cy="105888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그림 35"/>
          <p:cNvPicPr>
            <a:picLocks noChangeAspect="1"/>
          </p:cNvPicPr>
          <p:nvPr/>
        </p:nvPicPr>
        <p:blipFill rotWithShape="1">
          <a:blip r:embed="rId2" cstate="print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13684"/>
          <a:stretch/>
        </p:blipFill>
        <p:spPr>
          <a:xfrm>
            <a:off x="9883633" y="5324183"/>
            <a:ext cx="783856" cy="676592"/>
          </a:xfrm>
          <a:prstGeom prst="rect">
            <a:avLst/>
          </a:prstGeom>
        </p:spPr>
      </p:pic>
      <p:cxnSp>
        <p:nvCxnSpPr>
          <p:cNvPr id="37" name="직선 연결선 36"/>
          <p:cNvCxnSpPr/>
          <p:nvPr/>
        </p:nvCxnSpPr>
        <p:spPr>
          <a:xfrm>
            <a:off x="5877281" y="4824799"/>
            <a:ext cx="0" cy="105888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>
            <a:off x="7954268" y="4824799"/>
            <a:ext cx="0" cy="105888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>
            <a:off x="10031255" y="4824799"/>
            <a:ext cx="0" cy="1058887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연결선 40"/>
          <p:cNvCxnSpPr>
            <a:cxnSpLocks/>
            <a:endCxn id="30" idx="1"/>
          </p:cNvCxnSpPr>
          <p:nvPr/>
        </p:nvCxnSpPr>
        <p:spPr>
          <a:xfrm flipV="1">
            <a:off x="3800294" y="5882794"/>
            <a:ext cx="2152602" cy="8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952896" y="5744294"/>
            <a:ext cx="17443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spc="600" dirty="0" err="1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질문하지말아조</a:t>
            </a:r>
            <a:endParaRPr lang="ko-KR" altLang="en-US" sz="2400" b="1" spc="60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cxnSp>
        <p:nvCxnSpPr>
          <p:cNvPr id="43" name="직선 연결선 42"/>
          <p:cNvCxnSpPr>
            <a:cxnSpLocks/>
          </p:cNvCxnSpPr>
          <p:nvPr/>
        </p:nvCxnSpPr>
        <p:spPr>
          <a:xfrm>
            <a:off x="7598616" y="5883686"/>
            <a:ext cx="2426793" cy="1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84ED03B-F298-7C12-D668-A072D4983C72}"/>
              </a:ext>
            </a:extLst>
          </p:cNvPr>
          <p:cNvSpPr txBox="1"/>
          <p:nvPr/>
        </p:nvSpPr>
        <p:spPr>
          <a:xfrm>
            <a:off x="4918469" y="2197053"/>
            <a:ext cx="1950116" cy="1800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프로젝트를 진행 하면서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트리거를 구현 해 볼 수 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있어서 좋은 기회가 되었습니다</a:t>
            </a:r>
            <a:r>
              <a:rPr lang="en-US" altLang="ko-KR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팀워크가 너무 좋아서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수월하게 진행 할 수 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있었습니다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8BCE32-BACF-F5DE-88FF-939F337AF37C}"/>
              </a:ext>
            </a:extLst>
          </p:cNvPr>
          <p:cNvSpPr txBox="1"/>
          <p:nvPr/>
        </p:nvSpPr>
        <p:spPr>
          <a:xfrm>
            <a:off x="6991109" y="2204990"/>
            <a:ext cx="195011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주제를 같이 정하고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회의 하며 여러 기능 구현을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해보며 협업을 배웠습니다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쿼리를 작성 하며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테스트를 해보면서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배웠던 부분을 복기하여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너무 좋았습니다</a:t>
            </a:r>
            <a:r>
              <a:rPr lang="en-US" altLang="ko-KR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</a:p>
          <a:p>
            <a:pPr algn="ctr"/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B2C730-6E7F-BC32-F8FF-A69254E35BE9}"/>
              </a:ext>
            </a:extLst>
          </p:cNvPr>
          <p:cNvSpPr txBox="1"/>
          <p:nvPr/>
        </p:nvSpPr>
        <p:spPr>
          <a:xfrm>
            <a:off x="9069845" y="2197053"/>
            <a:ext cx="1950116" cy="18003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팀 워크가 훌륭하여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너무 좋았으며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배워보지 </a:t>
            </a:r>
            <a:r>
              <a:rPr lang="ko-KR" altLang="en-US" sz="1400" b="1" spc="-150" dirty="0" err="1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못환</a:t>
            </a:r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 기능들을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함께 공부 할 수 있는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계기가 되어 너무 </a:t>
            </a:r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  <a:p>
            <a:pPr algn="ctr"/>
            <a:r>
              <a:rPr lang="ko-KR" altLang="en-US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즐거웠습니다</a:t>
            </a:r>
            <a:r>
              <a:rPr lang="en-US" altLang="ko-KR" sz="1400" b="1" spc="-15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.</a:t>
            </a:r>
          </a:p>
          <a:p>
            <a:pPr algn="ctr"/>
            <a:endParaRPr lang="en-US" altLang="ko-KR" sz="1400" b="1" spc="-150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7E1EAD-9CA9-4645-5539-8613E06139F7}"/>
              </a:ext>
            </a:extLst>
          </p:cNvPr>
          <p:cNvSpPr txBox="1"/>
          <p:nvPr/>
        </p:nvSpPr>
        <p:spPr>
          <a:xfrm>
            <a:off x="2833635" y="1491368"/>
            <a:ext cx="1950117" cy="457721"/>
          </a:xfrm>
          <a:prstGeom prst="rect">
            <a:avLst/>
          </a:prstGeom>
          <a:noFill/>
          <a:effectLst>
            <a:reflection endPos="600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en-US" sz="2400" b="1" dirty="0">
                <a:solidFill>
                  <a:schemeClr val="bg1"/>
                </a:solidFill>
                <a:effectLst>
                  <a:outerShdw blurRad="810494" dist="188925" dir="2640000" sx="105451" sy="105451" algn="ctr" rotWithShape="0">
                    <a:schemeClr val="tx2">
                      <a:lumMod val="50000"/>
                    </a:schemeClr>
                  </a:outerShdw>
                  <a:reflection endPos="35831" dist="40712" dir="5400000" sy="-100000" algn="bl" rotWithShape="0"/>
                </a:effectLst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CHUNSIC</a:t>
            </a:r>
            <a:endParaRPr kumimoji="1" lang="x-none" altLang="en-US" sz="2400" b="1" dirty="0">
              <a:solidFill>
                <a:schemeClr val="bg1"/>
              </a:solidFill>
              <a:effectLst>
                <a:outerShdw blurRad="810494" dist="188925" dir="2640000" sx="105451" sy="105451" algn="ctr" rotWithShape="0">
                  <a:schemeClr val="tx2">
                    <a:lumMod val="50000"/>
                  </a:schemeClr>
                </a:outerShdw>
                <a:reflection endPos="35831" dist="40712" dir="5400000" sy="-100000" algn="bl" rotWithShape="0"/>
              </a:effectLst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B54E31-A2C1-0A9B-15DB-5EEF27C39D7F}"/>
              </a:ext>
            </a:extLst>
          </p:cNvPr>
          <p:cNvSpPr txBox="1"/>
          <p:nvPr/>
        </p:nvSpPr>
        <p:spPr>
          <a:xfrm>
            <a:off x="4893399" y="1485272"/>
            <a:ext cx="1950117" cy="457721"/>
          </a:xfrm>
          <a:prstGeom prst="rect">
            <a:avLst/>
          </a:prstGeom>
          <a:noFill/>
          <a:effectLst>
            <a:reflection endPos="600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en-US" sz="2400" b="1" dirty="0">
                <a:solidFill>
                  <a:schemeClr val="bg1"/>
                </a:solidFill>
                <a:effectLst>
                  <a:outerShdw blurRad="810494" dist="188925" dir="2640000" sx="105451" sy="105451" algn="ctr" rotWithShape="0">
                    <a:schemeClr val="tx2">
                      <a:lumMod val="50000"/>
                    </a:schemeClr>
                  </a:outerShdw>
                  <a:reflection endPos="35831" dist="40712" dir="5400000" sy="-100000" algn="bl" rotWithShape="0"/>
                </a:effectLst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JJIN</a:t>
            </a:r>
            <a:endParaRPr kumimoji="1" lang="x-none" altLang="en-US" sz="2400" b="1" dirty="0">
              <a:solidFill>
                <a:schemeClr val="bg1"/>
              </a:solidFill>
              <a:effectLst>
                <a:outerShdw blurRad="810494" dist="188925" dir="2640000" sx="105451" sy="105451" algn="ctr" rotWithShape="0">
                  <a:schemeClr val="tx2">
                    <a:lumMod val="50000"/>
                  </a:schemeClr>
                </a:outerShdw>
                <a:reflection endPos="35831" dist="40712" dir="5400000" sy="-100000" algn="bl" rotWithShape="0"/>
              </a:effectLst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0BBA2E-1FB8-97DD-65B5-88C8D2C71B68}"/>
              </a:ext>
            </a:extLst>
          </p:cNvPr>
          <p:cNvSpPr txBox="1"/>
          <p:nvPr/>
        </p:nvSpPr>
        <p:spPr>
          <a:xfrm>
            <a:off x="6987611" y="1485272"/>
            <a:ext cx="1950117" cy="457721"/>
          </a:xfrm>
          <a:prstGeom prst="rect">
            <a:avLst/>
          </a:prstGeom>
          <a:noFill/>
          <a:effectLst>
            <a:reflection endPos="600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en-US" sz="2400" b="1" dirty="0">
                <a:solidFill>
                  <a:schemeClr val="bg1"/>
                </a:solidFill>
                <a:effectLst>
                  <a:outerShdw blurRad="810494" dist="188925" dir="2640000" sx="105451" sy="105451" algn="ctr" rotWithShape="0">
                    <a:schemeClr val="tx2">
                      <a:lumMod val="50000"/>
                    </a:schemeClr>
                  </a:outerShdw>
                  <a:reflection endPos="35831" dist="40712" dir="5400000" sy="-100000" algn="bl" rotWithShape="0"/>
                </a:effectLst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DONG</a:t>
            </a:r>
            <a:endParaRPr kumimoji="1" lang="x-none" altLang="en-US" sz="2400" b="1" dirty="0">
              <a:solidFill>
                <a:schemeClr val="bg1"/>
              </a:solidFill>
              <a:effectLst>
                <a:outerShdw blurRad="810494" dist="188925" dir="2640000" sx="105451" sy="105451" algn="ctr" rotWithShape="0">
                  <a:schemeClr val="tx2">
                    <a:lumMod val="50000"/>
                  </a:schemeClr>
                </a:outerShdw>
                <a:reflection endPos="35831" dist="40712" dir="5400000" sy="-100000" algn="bl" rotWithShape="0"/>
              </a:effectLst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7CA094-44CA-D702-8F1B-42063C8187D5}"/>
              </a:ext>
            </a:extLst>
          </p:cNvPr>
          <p:cNvSpPr txBox="1"/>
          <p:nvPr/>
        </p:nvSpPr>
        <p:spPr>
          <a:xfrm>
            <a:off x="9058752" y="1485272"/>
            <a:ext cx="1950117" cy="457721"/>
          </a:xfrm>
          <a:prstGeom prst="rect">
            <a:avLst/>
          </a:prstGeom>
          <a:noFill/>
          <a:effectLst>
            <a:reflection endPos="60000" dir="5400000" sy="-100000" algn="bl" rotWithShape="0"/>
          </a:effectLst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en-US" sz="2400" b="1" dirty="0">
                <a:solidFill>
                  <a:schemeClr val="bg1"/>
                </a:solidFill>
                <a:effectLst>
                  <a:outerShdw blurRad="810494" dist="188925" dir="2640000" sx="105451" sy="105451" algn="ctr" rotWithShape="0">
                    <a:schemeClr val="tx2">
                      <a:lumMod val="50000"/>
                    </a:schemeClr>
                  </a:outerShdw>
                  <a:reflection endPos="35831" dist="40712" dir="5400000" sy="-100000" algn="bl" rotWithShape="0"/>
                </a:effectLst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V12</a:t>
            </a:r>
            <a:endParaRPr kumimoji="1" lang="x-none" altLang="en-US" sz="2400" b="1" dirty="0">
              <a:solidFill>
                <a:schemeClr val="bg1"/>
              </a:solidFill>
              <a:effectLst>
                <a:outerShdw blurRad="810494" dist="188925" dir="2640000" sx="105451" sy="105451" algn="ctr" rotWithShape="0">
                  <a:schemeClr val="tx2">
                    <a:lumMod val="50000"/>
                  </a:schemeClr>
                </a:outerShdw>
                <a:reflection endPos="35831" dist="40712" dir="5400000" sy="-100000" algn="bl" rotWithShape="0"/>
              </a:effectLst>
              <a:latin typeface="NANUMMYEONGJOEXTRABOLD" panose="02020603020101020101" pitchFamily="18" charset="-127"/>
              <a:ea typeface="NANUMMYEONGJOEXTRABOLD" panose="02020603020101020101" pitchFamily="18" charset="-127"/>
            </a:endParaRPr>
          </a:p>
        </p:txBody>
      </p:sp>
      <p:sp>
        <p:nvSpPr>
          <p:cNvPr id="34" name="슬라이드 번호 개체 틀 33">
            <a:extLst>
              <a:ext uri="{FF2B5EF4-FFF2-40B4-BE49-F238E27FC236}">
                <a16:creationId xmlns:a16="http://schemas.microsoft.com/office/drawing/2014/main" id="{BB3255A6-0BF8-EAEE-119E-752495853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30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9A2AE46-8753-919C-9FCD-FF21753E7818}"/>
              </a:ext>
            </a:extLst>
          </p:cNvPr>
          <p:cNvSpPr txBox="1"/>
          <p:nvPr/>
        </p:nvSpPr>
        <p:spPr>
          <a:xfrm>
            <a:off x="208931" y="0"/>
            <a:ext cx="514885" cy="44564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01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02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03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04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05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06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chemeClr val="bg1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07</a:t>
            </a:r>
          </a:p>
          <a:p>
            <a:pPr>
              <a:lnSpc>
                <a:spcPct val="150000"/>
              </a:lnSpc>
            </a:pPr>
            <a:r>
              <a:rPr lang="en-US" altLang="ko-KR" sz="2400" b="1" dirty="0">
                <a:solidFill>
                  <a:srgbClr val="002060"/>
                </a:solidFill>
                <a:latin typeface="NanumMyeongjo" panose="02000300000000000000" pitchFamily="2" charset="-127"/>
                <a:ea typeface="NanumMyeongjo" panose="02000300000000000000" pitchFamily="2" charset="-127"/>
              </a:rPr>
              <a:t>08</a:t>
            </a:r>
          </a:p>
        </p:txBody>
      </p:sp>
      <p:cxnSp>
        <p:nvCxnSpPr>
          <p:cNvPr id="6" name="직선 연결선 3">
            <a:extLst>
              <a:ext uri="{FF2B5EF4-FFF2-40B4-BE49-F238E27FC236}">
                <a16:creationId xmlns:a16="http://schemas.microsoft.com/office/drawing/2014/main" id="{9C5F4CBE-0BDC-EF6A-09A9-5B49CCB9FF5A}"/>
              </a:ext>
            </a:extLst>
          </p:cNvPr>
          <p:cNvCxnSpPr>
            <a:cxnSpLocks/>
          </p:cNvCxnSpPr>
          <p:nvPr/>
        </p:nvCxnSpPr>
        <p:spPr>
          <a:xfrm>
            <a:off x="154096" y="12884"/>
            <a:ext cx="0" cy="4443592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05986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 tmFilter="0,0; .5, 1; 1, 1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 tmFilter="0,0; .5, 1; 1, 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 tmFilter="0,0; .5, 1; 1, 1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5269492" y="2468217"/>
            <a:ext cx="16530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2000" b="1" spc="-15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" panose="02000300000000000000" pitchFamily="2" charset="-127"/>
                <a:ea typeface="NanumMyeongjo" panose="02000300000000000000" pitchFamily="2" charset="-127"/>
              </a:rPr>
              <a:t>THANK YOU</a:t>
            </a:r>
            <a:endParaRPr lang="ko-KR" altLang="en-US" sz="2000" b="1" spc="-15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path path="circle">
                  <a:fillToRect r="100000" b="100000"/>
                </a:path>
              </a:gradFill>
              <a:latin typeface="NanumMyeongjo" panose="02000300000000000000" pitchFamily="2" charset="-127"/>
              <a:ea typeface="NanumMyeongjo" panose="02000300000000000000" pitchFamily="2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342156" y="2800949"/>
            <a:ext cx="350769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b="1" spc="-15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NANUMMYEONGJOEXTRABOLD" panose="02020603020101020101" pitchFamily="18" charset="-127"/>
                <a:ea typeface="NANUMMYEONGJOEXTRABOLD" panose="02020603020101020101" pitchFamily="18" charset="-127"/>
              </a:rPr>
              <a:t>감사합니다</a:t>
            </a:r>
            <a:r>
              <a:rPr lang="en-US" altLang="ko-KR" sz="5400" spc="-150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path path="circle">
                    <a:fillToRect r="100000" b="100000"/>
                  </a:path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.</a:t>
            </a:r>
            <a:endParaRPr lang="ko-KR" altLang="en-US" sz="2000" spc="-150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path path="circle">
                  <a:fillToRect r="100000" b="100000"/>
                </a:path>
              </a:gra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cxnSp>
        <p:nvCxnSpPr>
          <p:cNvPr id="13" name="직선 연결선 12"/>
          <p:cNvCxnSpPr>
            <a:cxnSpLocks/>
          </p:cNvCxnSpPr>
          <p:nvPr/>
        </p:nvCxnSpPr>
        <p:spPr>
          <a:xfrm>
            <a:off x="3895831" y="2343702"/>
            <a:ext cx="354114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>
            <a:cxnSpLocks/>
          </p:cNvCxnSpPr>
          <p:nvPr/>
        </p:nvCxnSpPr>
        <p:spPr>
          <a:xfrm>
            <a:off x="4355882" y="1883813"/>
            <a:ext cx="0" cy="15689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>
            <a:cxnSpLocks/>
          </p:cNvCxnSpPr>
          <p:nvPr/>
        </p:nvCxnSpPr>
        <p:spPr>
          <a:xfrm rot="10800000">
            <a:off x="4753711" y="3782445"/>
            <a:ext cx="3541142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>
            <a:cxnSpLocks/>
          </p:cNvCxnSpPr>
          <p:nvPr/>
        </p:nvCxnSpPr>
        <p:spPr>
          <a:xfrm rot="10800000">
            <a:off x="7834802" y="2673416"/>
            <a:ext cx="0" cy="1568918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02C72192-D053-0309-BC2F-D52CC3784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40C3B-3960-4CA6-8EA2-8BB3DF7819A0}" type="slidenum">
              <a:rPr lang="ko-KR" altLang="en-US" smtClean="0"/>
              <a:pPr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4840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504</TotalTime>
  <Words>4246</Words>
  <Application>Microsoft Macintosh PowerPoint</Application>
  <PresentationFormat>와이드스크린</PresentationFormat>
  <Paragraphs>1092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41" baseType="lpstr">
      <vt:lpstr>Wingdings</vt:lpstr>
      <vt:lpstr>맑은 고딕</vt:lpstr>
      <vt:lpstr>NanumMyeongjo</vt:lpstr>
      <vt:lpstr>Arial Unicode MS</vt:lpstr>
      <vt:lpstr>KoPub돋움체 Medium</vt:lpstr>
      <vt:lpstr>Arial</vt:lpstr>
      <vt:lpstr>NANUMMYEONGJOEXTRABOLD</vt:lpstr>
      <vt:lpstr>Calibri</vt:lpstr>
      <vt:lpstr>Cambria Math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ICCT</dc:creator>
  <cp:lastModifiedBy>AiHao.Cc</cp:lastModifiedBy>
  <cp:revision>41</cp:revision>
  <dcterms:created xsi:type="dcterms:W3CDTF">2017-04-11T00:20:19Z</dcterms:created>
  <dcterms:modified xsi:type="dcterms:W3CDTF">2023-09-14T06:05:38Z</dcterms:modified>
</cp:coreProperties>
</file>