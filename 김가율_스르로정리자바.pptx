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7065"/>
    <p:restoredTop sz="94721"/>
  </p:normalViewPr>
  <p:slideViewPr>
    <p:cSldViewPr snapToGrid="0">
      <p:cViewPr>
        <p:scale>
          <a:sx n="176" d="100"/>
          <a:sy n="176" d="100"/>
        </p:scale>
        <p:origin x="144" y="-32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8dbbb456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88dbbb456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88dbbb456a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288dbbb456a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88dbbb456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88dbbb456a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88dbbb456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88dbbb456a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88dbbb456a_1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88dbbb456a_1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88dbbb456a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88dbbb456a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88dbbb456a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288dbbb456a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88dbbb456a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288dbbb456a_1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algun Gothic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Malgun Gothic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547664" y="1772816"/>
            <a:ext cx="6000361" cy="4124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다음정리 #JAVA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주어진 과제를 해결하고 해결된 결과물을 제출하시오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이메일 : nagneoo@naver.com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출제교사 : 김은수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담당교사 : 김은수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연 락 처  : 010 9407 8767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                       제출자 : 홍길동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 descr="C:\Users\HU200\Desktop\1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536" y="28074"/>
            <a:ext cx="5829301" cy="70675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/>
          <p:nvPr/>
        </p:nvSpPr>
        <p:spPr>
          <a:xfrm>
            <a:off x="4572000" y="428190"/>
            <a:ext cx="4429156" cy="6286544"/>
          </a:xfrm>
          <a:prstGeom prst="rect">
            <a:avLst/>
          </a:prstGeom>
          <a:noFill/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4572000" y="71024"/>
            <a:ext cx="4429156" cy="357166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4572000" y="361400"/>
            <a:ext cx="43563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문제 1 출력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55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문제 2 출력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30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문제 3 출력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5" descr="C:\Users\HU200\Desktop\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9512" y="209550"/>
            <a:ext cx="5838826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5"/>
          <p:cNvSpPr/>
          <p:nvPr/>
        </p:nvSpPr>
        <p:spPr>
          <a:xfrm>
            <a:off x="4572000" y="428190"/>
            <a:ext cx="4429156" cy="6286544"/>
          </a:xfrm>
          <a:prstGeom prst="rect">
            <a:avLst/>
          </a:prstGeom>
          <a:noFill/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4 출력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5 출력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" name="Google Shape;99;p15"/>
          <p:cNvSpPr/>
          <p:nvPr/>
        </p:nvSpPr>
        <p:spPr>
          <a:xfrm>
            <a:off x="4572000" y="71024"/>
            <a:ext cx="4429156" cy="357166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 descr="C:\Users\HU200\Desktop\3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" y="0"/>
            <a:ext cx="5857876" cy="690562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4572000" y="428190"/>
            <a:ext cx="4429156" cy="6286544"/>
          </a:xfrm>
          <a:prstGeom prst="rect">
            <a:avLst/>
          </a:prstGeom>
          <a:noFill/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" name="Google Shape;106;p16"/>
          <p:cNvSpPr/>
          <p:nvPr/>
        </p:nvSpPr>
        <p:spPr>
          <a:xfrm>
            <a:off x="4572000" y="71024"/>
            <a:ext cx="4429156" cy="357166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4617775" y="422800"/>
            <a:ext cx="4383300" cy="6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latin typeface="Malgun Gothic"/>
                <a:ea typeface="Malgun Gothic"/>
                <a:cs typeface="Malgun Gothic"/>
                <a:sym typeface="Malgun Gothic"/>
              </a:rPr>
              <a:t>문제 6 출력</a:t>
            </a:r>
            <a:endParaRPr dirty="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latin typeface="Malgun Gothic"/>
                <a:ea typeface="Malgun Gothic"/>
                <a:cs typeface="Malgun Gothic"/>
                <a:sym typeface="Malgun Gothic"/>
              </a:rPr>
              <a:t>25</a:t>
            </a:r>
            <a:endParaRPr dirty="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latin typeface="Malgun Gothic"/>
                <a:ea typeface="Malgun Gothic"/>
                <a:cs typeface="Malgun Gothic"/>
                <a:sym typeface="Malgun Gothic"/>
              </a:rPr>
              <a:t>문제 7 출력</a:t>
            </a:r>
            <a:endParaRPr dirty="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0/0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0/1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0/2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1/0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1/1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 /2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2/0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2/1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2/2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8 출력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0/3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0/2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0/1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0/0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 /3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 /2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 /1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1/0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 /3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 /2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 /1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2/0</a:t>
            </a: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7" descr="C:\Users\HU200\Desktop\4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5536" y="188640"/>
            <a:ext cx="5829300" cy="588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7"/>
          <p:cNvSpPr/>
          <p:nvPr/>
        </p:nvSpPr>
        <p:spPr>
          <a:xfrm>
            <a:off x="5500694" y="428190"/>
            <a:ext cx="3500400" cy="6286500"/>
          </a:xfrm>
          <a:prstGeom prst="rect">
            <a:avLst/>
          </a:prstGeom>
          <a:noFill/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17"/>
          <p:cNvSpPr/>
          <p:nvPr/>
        </p:nvSpPr>
        <p:spPr>
          <a:xfrm>
            <a:off x="5500694" y="71024"/>
            <a:ext cx="3500462" cy="357166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5507050" y="446825"/>
            <a:ext cx="1149300" cy="6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latin typeface="Malgun Gothic"/>
                <a:ea typeface="Malgun Gothic"/>
                <a:cs typeface="Malgun Gothic"/>
                <a:sym typeface="Malgun Gothic"/>
              </a:rPr>
              <a:t>문제 9 출력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</a:rPr>
              <a:t>1*1=1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</a:rPr>
              <a:t>1*2=2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</a:rPr>
              <a:t>1*3=3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</a:rPr>
              <a:t>1*4=4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</a:rPr>
              <a:t>1*5=5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</a:rPr>
              <a:t>1*6=6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</a:rPr>
              <a:t>1*7=7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</a:rPr>
              <a:t>1*8=8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</a:rPr>
              <a:t>1*9=9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</a:rPr>
              <a:t>2*1=2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</a:rPr>
              <a:t>2*2=4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</a:rPr>
              <a:t>2*3=6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</a:rPr>
              <a:t>2*4=8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</a:rPr>
              <a:t>2*5=10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</a:rPr>
              <a:t>2*6=12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</a:rPr>
              <a:t>2*7=14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</a:rPr>
              <a:t>2*8=16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</a:rPr>
              <a:t>2*9=18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8999400" y="4897250"/>
            <a:ext cx="91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6859200" y="428225"/>
            <a:ext cx="801900" cy="6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문제 10 출력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1*9=9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1*8=8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1*7=7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1*6=6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1*5=5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1*4=4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1*3=3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1*2=2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1*1=1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2*1=2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2*2=4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2*3=6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2*4=8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2*5=10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2*6=12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2*7=14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2*8=16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2*9=18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3*9=27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3*8=24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3*7=21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3*6=18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3*5=15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3*4=12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3*3=9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3*2=6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3*1=3 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4*1=4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4*2=8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4*3=12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4*4=16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4*5=20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4*6=24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4*7=28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4*8=32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4*9=36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8" descr="C:\Users\HU200\Desktop\5.jpg"/>
          <p:cNvPicPr preferRelativeResize="0"/>
          <p:nvPr/>
        </p:nvPicPr>
        <p:blipFill rotWithShape="1">
          <a:blip r:embed="rId3">
            <a:alphaModFix/>
          </a:blip>
          <a:srcRect b="36387"/>
          <a:stretch/>
        </p:blipFill>
        <p:spPr>
          <a:xfrm>
            <a:off x="0" y="43425"/>
            <a:ext cx="5515076" cy="428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>
            <a:off x="5572132" y="428190"/>
            <a:ext cx="3429024" cy="6286544"/>
          </a:xfrm>
          <a:prstGeom prst="rect">
            <a:avLst/>
          </a:prstGeom>
          <a:noFill/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5572132" y="71024"/>
            <a:ext cx="3429024" cy="357166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5597700" y="478100"/>
            <a:ext cx="3429000" cy="48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문제 11 출력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0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1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3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4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문제 12 출력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Index : 1  / value : 10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Index : 2 / value : 20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Index : 3 / value : 30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Index : 4 / value : 40</a:t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9" descr="C:\Users\HU200\Desktop\5.jpg"/>
          <p:cNvPicPr preferRelativeResize="0"/>
          <p:nvPr/>
        </p:nvPicPr>
        <p:blipFill rotWithShape="1">
          <a:blip r:embed="rId3">
            <a:alphaModFix/>
          </a:blip>
          <a:srcRect t="61360"/>
          <a:stretch/>
        </p:blipFill>
        <p:spPr>
          <a:xfrm>
            <a:off x="261721" y="908720"/>
            <a:ext cx="5753101" cy="271619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9"/>
          <p:cNvSpPr/>
          <p:nvPr/>
        </p:nvSpPr>
        <p:spPr>
          <a:xfrm>
            <a:off x="285720" y="3786190"/>
            <a:ext cx="8715436" cy="2928544"/>
          </a:xfrm>
          <a:prstGeom prst="rect">
            <a:avLst/>
          </a:prstGeom>
          <a:noFill/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19"/>
          <p:cNvSpPr/>
          <p:nvPr/>
        </p:nvSpPr>
        <p:spPr>
          <a:xfrm>
            <a:off x="285720" y="3429000"/>
            <a:ext cx="4429156" cy="357166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323600" y="3830975"/>
            <a:ext cx="8674800" cy="19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a 의 인덱스 번호는 0~4 이고 길이는 5 입니다.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반복문의 선언에 따라 1~6까지 총 6회 순회하게 됩니다.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인덱스길이보다 순회 횟수가 더 크기 때문에 오류가 발생 됩니다.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0" descr="C:\Users\HU200\Desktop\6.jpg"/>
          <p:cNvPicPr preferRelativeResize="0"/>
          <p:nvPr/>
        </p:nvPicPr>
        <p:blipFill rotWithShape="1">
          <a:blip r:embed="rId3">
            <a:alphaModFix/>
          </a:blip>
          <a:srcRect b="32197"/>
          <a:stretch/>
        </p:blipFill>
        <p:spPr>
          <a:xfrm>
            <a:off x="467544" y="404664"/>
            <a:ext cx="5810250" cy="52633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0"/>
          <p:cNvSpPr/>
          <p:nvPr/>
        </p:nvSpPr>
        <p:spPr>
          <a:xfrm>
            <a:off x="6000760" y="428190"/>
            <a:ext cx="3000396" cy="6286544"/>
          </a:xfrm>
          <a:prstGeom prst="rect">
            <a:avLst/>
          </a:prstGeom>
          <a:noFill/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6000760" y="71024"/>
            <a:ext cx="3000396" cy="357166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6025850" y="464525"/>
            <a:ext cx="2950200" cy="625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000750" y="428200"/>
            <a:ext cx="3000300" cy="341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latin typeface="Malgun Gothic"/>
                <a:ea typeface="Malgun Gothic"/>
                <a:cs typeface="Malgun Gothic"/>
                <a:sym typeface="Malgun Gothic"/>
              </a:rPr>
              <a:t>문제 14 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latin typeface="Malgun Gothic"/>
                <a:ea typeface="Malgun Gothic"/>
                <a:cs typeface="Malgun Gothic"/>
                <a:sym typeface="Malgun Gothic"/>
              </a:rPr>
              <a:t>a의 배열 선언시 자료형이 boolean으로 선언 되었습니다.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latin typeface="Malgun Gothic"/>
                <a:ea typeface="Malgun Gothic"/>
                <a:cs typeface="Malgun Gothic"/>
                <a:sym typeface="Malgun Gothic"/>
              </a:rPr>
              <a:t>for문 진행 시 i의 초기값 선언은 Int형으로 되어 있어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latin typeface="Malgun Gothic"/>
                <a:ea typeface="Malgun Gothic"/>
                <a:cs typeface="Malgun Gothic"/>
                <a:sym typeface="Malgun Gothic"/>
              </a:rPr>
              <a:t>for문을 순회하여 a배열에 값을 입력 시 자료형이 맞지 않아 발생되는 오류입니다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latin typeface="Malgun Gothic"/>
                <a:ea typeface="Malgun Gothic"/>
                <a:cs typeface="Malgun Gothic"/>
                <a:sym typeface="Malgun Gothic"/>
              </a:rPr>
              <a:t>int 자료형은 boolean 자료형으로 자동형변환되지 않습니다.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latin typeface="Malgun Gothic"/>
                <a:ea typeface="Malgun Gothic"/>
                <a:cs typeface="Malgun Gothic"/>
                <a:sym typeface="Malgun Gothic"/>
              </a:rPr>
              <a:t>문제 15 출력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latin typeface="Malgun Gothic"/>
                <a:ea typeface="Malgun Gothic"/>
                <a:cs typeface="Malgun Gothic"/>
                <a:sym typeface="Malgun Gothic"/>
              </a:rPr>
              <a:t>0 1 1 4 로 랜덤값 리턴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latin typeface="Malgun Gothic"/>
                <a:ea typeface="Malgun Gothic"/>
                <a:cs typeface="Malgun Gothic"/>
                <a:sym typeface="Malgun Gothic"/>
              </a:rPr>
              <a:t>Index : 0 / value : true</a:t>
            </a: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Index : 1 / value :  true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Index : 2 / value : false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Index : 3 / value : false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Index : 4 / value : true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 descr="C:\Users\HU200\Desktop\6.jpg"/>
          <p:cNvPicPr preferRelativeResize="0"/>
          <p:nvPr/>
        </p:nvPicPr>
        <p:blipFill rotWithShape="1">
          <a:blip r:embed="rId3">
            <a:alphaModFix/>
          </a:blip>
          <a:srcRect l="-1707" t="66940" r="-1"/>
          <a:stretch/>
        </p:blipFill>
        <p:spPr>
          <a:xfrm>
            <a:off x="323528" y="620688"/>
            <a:ext cx="5909452" cy="256640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/>
          <p:nvPr/>
        </p:nvSpPr>
        <p:spPr>
          <a:xfrm>
            <a:off x="285720" y="3786190"/>
            <a:ext cx="8715436" cy="2928544"/>
          </a:xfrm>
          <a:prstGeom prst="rect">
            <a:avLst/>
          </a:prstGeom>
          <a:noFill/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285720" y="3429000"/>
            <a:ext cx="4429156" cy="357166"/>
          </a:xfrm>
          <a:prstGeom prst="rect">
            <a:avLst/>
          </a:prstGeom>
          <a:solidFill>
            <a:srgbClr val="FFFF00"/>
          </a:solidFill>
          <a:ln w="9525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결과물</a:t>
            </a:r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497125" y="3976350"/>
            <a:ext cx="3562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문제 16 출력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uman school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2" descr="C:\Users\HU200\Desktop\7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9935" y="202700"/>
            <a:ext cx="5753100" cy="674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2"/>
          <p:cNvSpPr txBox="1"/>
          <p:nvPr/>
        </p:nvSpPr>
        <p:spPr>
          <a:xfrm>
            <a:off x="5568900" y="202700"/>
            <a:ext cx="3531600" cy="26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>
                <a:latin typeface="Malgun Gothic"/>
                <a:ea typeface="Malgun Gothic"/>
                <a:cs typeface="Malgun Gothic"/>
                <a:sym typeface="Malgun Gothic"/>
              </a:rPr>
              <a:t>문제 17 출력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latin typeface="Malgun Gothic"/>
                <a:ea typeface="Malgun Gothic"/>
                <a:cs typeface="Malgun Gothic"/>
                <a:sym typeface="Malgun Gothic"/>
              </a:rPr>
              <a:t>u / v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latin typeface="Malgun Gothic"/>
                <a:ea typeface="Malgun Gothic"/>
                <a:cs typeface="Malgun Gothic"/>
                <a:sym typeface="Malgun Gothic"/>
              </a:rPr>
              <a:t>m / n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latin typeface="Malgun Gothic"/>
                <a:ea typeface="Malgun Gothic"/>
                <a:cs typeface="Malgun Gothic"/>
                <a:sym typeface="Malgun Gothic"/>
              </a:rPr>
              <a:t>a / b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latin typeface="Malgun Gothic"/>
                <a:ea typeface="Malgun Gothic"/>
                <a:cs typeface="Malgun Gothic"/>
                <a:sym typeface="Malgun Gothic"/>
              </a:rPr>
              <a:t>n / o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latin typeface="Malgun Gothic"/>
                <a:ea typeface="Malgun Gothic"/>
                <a:cs typeface="Malgun Gothic"/>
                <a:sym typeface="Malgun Gothic"/>
              </a:rPr>
              <a:t>  / !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latin typeface="Malgun Gothic"/>
                <a:ea typeface="Malgun Gothic"/>
                <a:cs typeface="Malgun Gothic"/>
                <a:sym typeface="Malgun Gothic"/>
              </a:rPr>
              <a:t>s / t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latin typeface="Malgun Gothic"/>
                <a:ea typeface="Malgun Gothic"/>
                <a:cs typeface="Malgun Gothic"/>
                <a:sym typeface="Malgun Gothic"/>
              </a:rPr>
              <a:t>c / d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latin typeface="Malgun Gothic"/>
                <a:ea typeface="Malgun Gothic"/>
                <a:cs typeface="Malgun Gothic"/>
                <a:sym typeface="Malgun Gothic"/>
              </a:rPr>
              <a:t>h / i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latin typeface="Malgun Gothic"/>
                <a:ea typeface="Malgun Gothic"/>
                <a:cs typeface="Malgun Gothic"/>
                <a:sym typeface="Malgun Gothic"/>
              </a:rPr>
              <a:t>o / p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latin typeface="Malgun Gothic"/>
                <a:ea typeface="Malgun Gothic"/>
                <a:cs typeface="Malgun Gothic"/>
                <a:sym typeface="Malgun Gothic"/>
              </a:rPr>
              <a:t>o / p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100">
                <a:latin typeface="Malgun Gothic"/>
                <a:ea typeface="Malgun Gothic"/>
                <a:cs typeface="Malgun Gothic"/>
                <a:sym typeface="Malgun Gothic"/>
              </a:rPr>
              <a:t>l / m</a:t>
            </a: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5902875" y="3118950"/>
            <a:ext cx="3160800" cy="33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문제 18번 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public static void main(String[] args) {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Random r = new Random();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String name = "abcdefaagaaggefagaga";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int aCnt = 0;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for (int i = 1; i &lt; name.length(); i++) {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char a = name.charAt(i);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if ( a == 'a') {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aCnt++;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System.out.println(aCnt);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}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chemeClr val="lt1"/>
              </a:highlight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7003825" y="3805500"/>
            <a:ext cx="2143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/>
              <a:t>19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/>
              <a:t>int[] elevator ={4,5,9,8,3,2,1,8};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/>
              <a:t>엘리베이터는 3층에서 올라가고 있는 엘리베이터이다. 아파트는 총 15층이다.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/>
              <a:t>3층에서 사람들이 원하는 층의 버튼을 누른 것이 elevator 배열로 입력되었다.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/>
              <a:t>배열은 0번부터 먼저 누른 번호이다.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/>
              <a:t>현재 엘리베이터가 멈추는 층수를 차례대로 출력하시오. 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/>
              <a:t>엘리베이터는 한 방향으로만 움직인다. 현재 위치에서 진행 방향에 속한 층만 운행이 가능하다.</a:t>
            </a:r>
            <a:endParaRPr/>
          </a:p>
          <a:p>
            <a:pPr marL="342900" lvl="0" indent="-34290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ko-KR"/>
              <a:t>이미 지나온 층은 무시한다. </a:t>
            </a:r>
            <a:endParaRPr/>
          </a:p>
          <a:p>
            <a:pPr marL="342900" lvl="0" indent="-185420" algn="l" rtl="0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4"/>
          <p:cNvSpPr txBox="1"/>
          <p:nvPr/>
        </p:nvSpPr>
        <p:spPr>
          <a:xfrm>
            <a:off x="70025" y="59850"/>
            <a:ext cx="6636600" cy="6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>
                <a:solidFill>
                  <a:schemeClr val="dk1"/>
                </a:solidFill>
                <a:highlight>
                  <a:schemeClr val="lt1"/>
                </a:highlight>
              </a:rPr>
              <a:t>문제 19번 </a:t>
            </a:r>
            <a:endParaRPr sz="2000" b="1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public static void main(String[] args) {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int[] elevator = {1,2,3,4,5,3,3,2,1,7,9,11,1};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// 배열 숫자를 바꿔도 최대 5칸 배열에 처리될 수 있도록 하였습니다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int[] tmpIdx = new int[5];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int ltCnt = 0;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int rtCnt = elevator.length - 1;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for (int i = 0; i &lt; elevator.length; i++) {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// 3 이하 숫자 제거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if (elevator[i] &lt;= 3) continue;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if (elevator[rtCnt] &lt;= 3) {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rtCnt--;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i--;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continue;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// 오른쪽 숫자가 왼쪽보다 클 경우 왼쪽 숫자를 tmpIdx에 저장 후 포인트이동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if (elevator[i] &lt; elevator[rtCnt]) {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tmpIdx[ltCnt] = elevator[i];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ltCnt++;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// 왼쪽 숫자가 오른쪽 숫자보다 클 경우 오른쪽 숫자를 tmpIdx에 저장 후 포인트이동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else if (elevator[i] &gt; elevator[rtCnt]) {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if (tmpIdx[ltCnt - 1] != elevator[rtCnt]) {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    tmpIdx[ltCnt] = elevator[rtCnt];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    i--;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    rtCnt--;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    ltCnt++;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}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if (tmpIdx[ltCnt - 1] == elevator[rtCnt]) {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    tmpIdx[ltCnt] = elevator[i];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    break;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    }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}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// 왼쪽 포인트가 오른쪽 포인트숫자와 같거나 커지면 for문 종료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if (ltCnt &gt;= rtCnt) break;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sp>
        <p:nvSpPr>
          <p:cNvPr id="169" name="Google Shape;169;p24"/>
          <p:cNvSpPr txBox="1"/>
          <p:nvPr/>
        </p:nvSpPr>
        <p:spPr>
          <a:xfrm>
            <a:off x="5470025" y="59850"/>
            <a:ext cx="4369500" cy="431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System.out.println(" 입력하신 층 정보입니다 ");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// 출력문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for (int i = 0; i &lt; tmpIdx.length; i++) {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    if ( tmpIdx[i] &gt; 3 ) System.out.println(tmpIdx[i]+"층");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   }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highlight>
                  <a:schemeClr val="lt1"/>
                </a:highlight>
              </a:rPr>
              <a:t>}</a:t>
            </a:r>
            <a:endParaRPr sz="10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70" name="Google Shape;170;p24"/>
          <p:cNvPicPr preferRelativeResize="0"/>
          <p:nvPr/>
        </p:nvPicPr>
        <p:blipFill rotWithShape="1">
          <a:blip r:embed="rId3">
            <a:alphaModFix/>
          </a:blip>
          <a:srcRect r="53538"/>
          <a:stretch/>
        </p:blipFill>
        <p:spPr>
          <a:xfrm>
            <a:off x="6449150" y="1294000"/>
            <a:ext cx="2229500" cy="148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25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/>
              <a:t>20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/>
              <a:t>int[] elevator ={4,5,9,8,3,2,1,8};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/>
              <a:t>버블정렬방법을 검색을 통하여 숙지하고</a:t>
            </a:r>
            <a:endParaRPr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ko-KR"/>
              <a:t>위 배열을 버블정렬 기법으로 오름차순으로 정렬하시오.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6"/>
          <p:cNvSpPr txBox="1"/>
          <p:nvPr/>
        </p:nvSpPr>
        <p:spPr>
          <a:xfrm>
            <a:off x="299925" y="887164"/>
            <a:ext cx="6636600" cy="6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000" b="1" dirty="0">
                <a:solidFill>
                  <a:schemeClr val="dk1"/>
                </a:solidFill>
                <a:highlight>
                  <a:schemeClr val="lt1"/>
                </a:highlight>
              </a:rPr>
              <a:t>문제 20번 </a:t>
            </a:r>
            <a:endParaRPr sz="2000" b="1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public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static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void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main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String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[]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args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) {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int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[]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e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={4,5,9,8,3,2,1,8};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for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(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int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= 0;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&lt;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e.length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;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++) {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   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for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(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int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j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= 0;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j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&lt;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e.length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;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j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++) {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       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int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tmp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;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       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if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(j+1 ==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e.length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)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break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;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       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if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(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e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[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j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] &gt;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e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[j+1]){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           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tmp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=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e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[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j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];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           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e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[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j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] =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e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[i+1];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           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e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[i+1] =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tmp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;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        }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    }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}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for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(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int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= 0;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&lt;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e.length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;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++) {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    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System.out.print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(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e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[</a:t>
            </a:r>
            <a:r>
              <a:rPr lang="ko-KR" sz="1200" dirty="0" err="1">
                <a:solidFill>
                  <a:schemeClr val="dk1"/>
                </a:solidFill>
                <a:highlight>
                  <a:schemeClr val="lt1"/>
                </a:highlight>
              </a:rPr>
              <a:t>i</a:t>
            </a: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] + " ");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   }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dirty="0">
                <a:solidFill>
                  <a:schemeClr val="dk1"/>
                </a:solidFill>
                <a:highlight>
                  <a:schemeClr val="lt1"/>
                </a:highlight>
              </a:rPr>
              <a:t>}</a:t>
            </a:r>
            <a:endParaRPr sz="12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 dirty="0">
                <a:solidFill>
                  <a:schemeClr val="dk1"/>
                </a:solidFill>
                <a:highlight>
                  <a:schemeClr val="lt1"/>
                </a:highlight>
              </a:rPr>
              <a:t> </a:t>
            </a:r>
            <a:endParaRPr sz="1000" dirty="0">
              <a:solidFill>
                <a:schemeClr val="dk1"/>
              </a:solidFill>
              <a:highlight>
                <a:schemeClr val="lt1"/>
              </a:highlight>
            </a:endParaRPr>
          </a:p>
        </p:txBody>
      </p:sp>
      <p:pic>
        <p:nvPicPr>
          <p:cNvPr id="181" name="Google Shape;18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9925" y="5195763"/>
            <a:ext cx="409575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7"/>
          <p:cNvSpPr txBox="1"/>
          <p:nvPr/>
        </p:nvSpPr>
        <p:spPr>
          <a:xfrm>
            <a:off x="0" y="1723550"/>
            <a:ext cx="4757400" cy="21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/>
          </a:p>
        </p:txBody>
      </p:sp>
      <p:sp>
        <p:nvSpPr>
          <p:cNvPr id="187" name="Google Shape;187;p27"/>
          <p:cNvSpPr txBox="1"/>
          <p:nvPr/>
        </p:nvSpPr>
        <p:spPr>
          <a:xfrm>
            <a:off x="0" y="0"/>
            <a:ext cx="90360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chemeClr val="dk1"/>
                </a:solidFill>
              </a:rPr>
              <a:t>문제 5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int[] carnum = {1232,1221,1235,1252,1234,4536,3457,3238,3229,2599}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int[] parking = new int[10];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   carnum배열의 인덱스가 0인 값부터 주차장에 들어온다. // carnum배열은 자동차 번호를 의미합니다. 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   parking의 인덱스 번호가 주차번호이다. 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   자동차 번호의 마지막 번호는 해당 차량이 주차할 주차번호이다.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   만약 주차번호에 다른 차량이 주차되어 있으면 다음 주차번호에 주차를 한다.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   (이때, 다음 주차번호에도 차량이 있으면 주차불가이다. 예제는 이와 같은 상황이 안 나오므로 고려하지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   않아도됨)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   주차가 끝난 후 주차번호와 주차항 차량 번호를 출력하시오.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8" name="Google Shape;18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89700"/>
            <a:ext cx="6444425" cy="381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8850" y="3451775"/>
            <a:ext cx="2394775" cy="2802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/>
        </p:nvSpPr>
        <p:spPr>
          <a:xfrm>
            <a:off x="106175" y="145425"/>
            <a:ext cx="6078600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문제 1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int[] arr = {3,45,26,50,74};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int a = 5;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300">
                <a:solidFill>
                  <a:schemeClr val="dk1"/>
                </a:solidFill>
              </a:rPr>
              <a:t>a로 나누어 떨어지는 배열의 값을 모두 출력하시오.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3025"/>
            <a:ext cx="8845749" cy="542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9"/>
          <p:cNvSpPr txBox="1"/>
          <p:nvPr/>
        </p:nvSpPr>
        <p:spPr>
          <a:xfrm>
            <a:off x="106175" y="145425"/>
            <a:ext cx="60786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chemeClr val="dk1"/>
                </a:solidFill>
              </a:rPr>
              <a:t>문제 2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chemeClr val="dk1"/>
                </a:solidFill>
              </a:rPr>
              <a:t>int[] arr = {89, 90, 91, 92, 93, 94, 95, 96, 97, 98, 99};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>
                <a:solidFill>
                  <a:schemeClr val="dk1"/>
                </a:solidFill>
              </a:rPr>
              <a:t>배열의 평균값을 구하시오. 소수점 표현하시오. 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01" name="Google Shape;20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82925"/>
            <a:ext cx="7509231" cy="5622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/>
        </p:nvSpPr>
        <p:spPr>
          <a:xfrm>
            <a:off x="106175" y="145425"/>
            <a:ext cx="60786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dirty="0">
                <a:solidFill>
                  <a:schemeClr val="dk1"/>
                </a:solidFill>
              </a:rPr>
              <a:t>문제  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dirty="0" err="1">
                <a:solidFill>
                  <a:schemeClr val="dk1"/>
                </a:solidFill>
              </a:rPr>
              <a:t>팩토리얼의</a:t>
            </a:r>
            <a:r>
              <a:rPr lang="ko-KR" sz="1300" dirty="0">
                <a:solidFill>
                  <a:schemeClr val="dk1"/>
                </a:solidFill>
              </a:rPr>
              <a:t> 합 구하기 (2중 </a:t>
            </a:r>
            <a:r>
              <a:rPr lang="ko-KR" sz="1300" dirty="0" err="1">
                <a:solidFill>
                  <a:schemeClr val="dk1"/>
                </a:solidFill>
              </a:rPr>
              <a:t>for로</a:t>
            </a:r>
            <a:r>
              <a:rPr lang="ko-KR" sz="1300" dirty="0">
                <a:solidFill>
                  <a:schemeClr val="dk1"/>
                </a:solidFill>
              </a:rPr>
              <a:t> 해결)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dirty="0">
                <a:solidFill>
                  <a:schemeClr val="dk1"/>
                </a:solidFill>
              </a:rPr>
              <a:t>1부터 10까지 숫자의 </a:t>
            </a:r>
            <a:r>
              <a:rPr lang="ko-KR" sz="1300" dirty="0" err="1">
                <a:solidFill>
                  <a:schemeClr val="dk1"/>
                </a:solidFill>
              </a:rPr>
              <a:t>각패토리얼의</a:t>
            </a:r>
            <a:r>
              <a:rPr lang="ko-KR" sz="1300" dirty="0">
                <a:solidFill>
                  <a:schemeClr val="dk1"/>
                </a:solidFill>
              </a:rPr>
              <a:t> 합을 </a:t>
            </a:r>
            <a:r>
              <a:rPr lang="ko-KR" sz="1300" dirty="0" err="1">
                <a:solidFill>
                  <a:schemeClr val="dk1"/>
                </a:solidFill>
              </a:rPr>
              <a:t>구하시오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dirty="0" err="1">
                <a:solidFill>
                  <a:schemeClr val="dk1"/>
                </a:solidFill>
              </a:rPr>
              <a:t>예를들어</a:t>
            </a:r>
            <a:r>
              <a:rPr lang="ko-KR" sz="1300" dirty="0">
                <a:solidFill>
                  <a:schemeClr val="dk1"/>
                </a:solidFill>
              </a:rPr>
              <a:t> 4의 </a:t>
            </a:r>
            <a:r>
              <a:rPr lang="ko-KR" sz="1300" dirty="0" err="1">
                <a:solidFill>
                  <a:schemeClr val="dk1"/>
                </a:solidFill>
              </a:rPr>
              <a:t>팩토리얼은</a:t>
            </a:r>
            <a:r>
              <a:rPr lang="ko-KR" sz="1300" dirty="0">
                <a:solidFill>
                  <a:schemeClr val="dk1"/>
                </a:solidFill>
              </a:rPr>
              <a:t>  1*2*3*4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dirty="0">
                <a:solidFill>
                  <a:schemeClr val="dk1"/>
                </a:solidFill>
              </a:rPr>
              <a:t>             5의 </a:t>
            </a:r>
            <a:r>
              <a:rPr lang="ko-KR" sz="1300" dirty="0" err="1">
                <a:solidFill>
                  <a:schemeClr val="dk1"/>
                </a:solidFill>
              </a:rPr>
              <a:t>팩토리얼은</a:t>
            </a:r>
            <a:r>
              <a:rPr lang="ko-KR" sz="1300" dirty="0">
                <a:solidFill>
                  <a:schemeClr val="dk1"/>
                </a:solidFill>
              </a:rPr>
              <a:t> 1*2*3*4*5</a:t>
            </a:r>
            <a:endParaRPr sz="1300" dirty="0">
              <a:solidFill>
                <a:schemeClr val="dk1"/>
              </a:solidFill>
            </a:endParaRPr>
          </a:p>
        </p:txBody>
      </p:sp>
      <p:pic>
        <p:nvPicPr>
          <p:cNvPr id="207" name="Google Shape;20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83025"/>
            <a:ext cx="5457825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4578675"/>
            <a:ext cx="5457825" cy="212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1"/>
          <p:cNvSpPr txBox="1"/>
          <p:nvPr/>
        </p:nvSpPr>
        <p:spPr>
          <a:xfrm>
            <a:off x="152400" y="0"/>
            <a:ext cx="60786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300" dirty="0">
                <a:solidFill>
                  <a:schemeClr val="dk1"/>
                </a:solidFill>
              </a:rPr>
              <a:t>문제 4</a:t>
            </a:r>
            <a:endParaRPr sz="2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dirty="0">
                <a:solidFill>
                  <a:schemeClr val="dk1"/>
                </a:solidFill>
              </a:rPr>
              <a:t>1부터 9999까지 숫자의 각 자릿수를 모두 더하고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dirty="0">
                <a:solidFill>
                  <a:schemeClr val="dk1"/>
                </a:solidFill>
              </a:rPr>
              <a:t>더한 결과의 총합을 </a:t>
            </a:r>
            <a:r>
              <a:rPr lang="ko-KR" sz="1300" dirty="0" err="1">
                <a:solidFill>
                  <a:schemeClr val="dk1"/>
                </a:solidFill>
              </a:rPr>
              <a:t>구하시오</a:t>
            </a:r>
            <a:r>
              <a:rPr lang="ko-KR" sz="1300" dirty="0">
                <a:solidFill>
                  <a:schemeClr val="dk1"/>
                </a:solidFill>
              </a:rPr>
              <a:t>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dirty="0">
                <a:solidFill>
                  <a:schemeClr val="dk1"/>
                </a:solidFill>
              </a:rPr>
              <a:t>샘플로 998+9999 계산법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dirty="0">
                <a:solidFill>
                  <a:schemeClr val="dk1"/>
                </a:solidFill>
              </a:rPr>
              <a:t>998 = 9+9+8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dirty="0">
                <a:solidFill>
                  <a:schemeClr val="dk1"/>
                </a:solidFill>
              </a:rPr>
              <a:t>9999= 9+9+9+9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300" dirty="0">
                <a:solidFill>
                  <a:schemeClr val="dk1"/>
                </a:solidFill>
              </a:rPr>
              <a:t>총합은 : 9+9+8+9+9+9+9 =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dirty="0">
              <a:solidFill>
                <a:schemeClr val="dk1"/>
              </a:solidFill>
            </a:endParaRPr>
          </a:p>
        </p:txBody>
      </p:sp>
      <p:pic>
        <p:nvPicPr>
          <p:cNvPr id="214" name="Google Shape;21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75" y="2056975"/>
            <a:ext cx="7648575" cy="329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5505025"/>
            <a:ext cx="3267075" cy="71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50" y="0"/>
            <a:ext cx="5639875" cy="5542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050" y="4451078"/>
            <a:ext cx="5448075" cy="2406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2"/>
          <p:cNvSpPr txBox="1"/>
          <p:nvPr/>
        </p:nvSpPr>
        <p:spPr>
          <a:xfrm>
            <a:off x="6252200" y="460425"/>
            <a:ext cx="253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>
                <a:latin typeface="Malgun Gothic"/>
                <a:ea typeface="Malgun Gothic"/>
                <a:cs typeface="Malgun Gothic"/>
                <a:sym typeface="Malgun Gothic"/>
              </a:rPr>
              <a:t>마지막 문제 응용편</a:t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1243</Words>
  <Application>Microsoft Macintosh PowerPoint</Application>
  <PresentationFormat>화면 슬라이드 쇼(4:3)</PresentationFormat>
  <Paragraphs>305</Paragraphs>
  <Slides>20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3" baseType="lpstr">
      <vt:lpstr>Malgun Gothic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AiHao.Cc</cp:lastModifiedBy>
  <cp:revision>2</cp:revision>
  <dcterms:modified xsi:type="dcterms:W3CDTF">2023-10-10T07:45:27Z</dcterms:modified>
</cp:coreProperties>
</file>