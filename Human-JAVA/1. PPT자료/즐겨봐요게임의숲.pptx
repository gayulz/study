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2"/>
    <p:sldId id="261" r:id="rId3"/>
    <p:sldId id="262" r:id="rId4"/>
    <p:sldId id="269" r:id="rId5"/>
    <p:sldId id="263" r:id="rId6"/>
    <p:sldId id="273" r:id="rId7"/>
    <p:sldId id="274" r:id="rId8"/>
    <p:sldId id="275" r:id="rId9"/>
    <p:sldId id="276" r:id="rId10"/>
    <p:sldId id="277" r:id="rId11"/>
    <p:sldId id="264" r:id="rId12"/>
    <p:sldId id="278" r:id="rId13"/>
    <p:sldId id="279" r:id="rId14"/>
    <p:sldId id="280" r:id="rId15"/>
    <p:sldId id="281" r:id="rId16"/>
    <p:sldId id="265" r:id="rId17"/>
    <p:sldId id="266" r:id="rId18"/>
  </p:sldIdLst>
  <p:sldSz cx="12192000" cy="6858000"/>
  <p:notesSz cx="6858000" cy="9144000"/>
  <p:embeddedFontLst>
    <p:embeddedFont>
      <p:font typeface="배달의민족 한나" panose="02020603020101020101" pitchFamily="18" charset="-127"/>
      <p:bold r:id="rId19"/>
    </p:embeddedFont>
    <p:embeddedFont>
      <p:font typeface="나눔고딕 ExtraBold" panose="020D0604000000000000" pitchFamily="34" charset="-127"/>
      <p:bold r:id="rId20"/>
    </p:embeddedFont>
    <p:embeddedFont>
      <p:font typeface="맑은 고딕" panose="020B0503020000020004" pitchFamily="34" charset="-127"/>
      <p:regular r:id="rId21"/>
      <p:bold r:id="rId22"/>
    </p:embeddedFont>
    <p:embeddedFont>
      <p:font typeface="NANUMGOTHIC EXTRABOLD" panose="020D0604000000000000" pitchFamily="34" charset="-127"/>
      <p:bold r:id="rId23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5B3B"/>
    <a:srgbClr val="507FE8"/>
    <a:srgbClr val="0D0D0D"/>
    <a:srgbClr val="5545FF"/>
    <a:srgbClr val="FFC25D"/>
    <a:srgbClr val="A9D18E"/>
    <a:srgbClr val="B87A36"/>
    <a:srgbClr val="3BC3FF"/>
    <a:srgbClr val="4FFFA7"/>
    <a:srgbClr val="34FF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보통 스타일 4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202B0CA-FC54-4496-8BCA-5EF66A818D29}" styleName="어두운 스타일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091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8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7EAB3-1E82-4143-9422-7C90BD84C355}" type="datetimeFigureOut">
              <a:rPr lang="ko-KR" altLang="en-US" smtClean="0"/>
              <a:t>2023. 11. 29.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8E93B-9245-4C20-BF89-EEC588EB1D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3207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7EAB3-1E82-4143-9422-7C90BD84C355}" type="datetimeFigureOut">
              <a:rPr lang="ko-KR" altLang="en-US" smtClean="0"/>
              <a:t>2023. 11. 29.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8E93B-9245-4C20-BF89-EEC588EB1D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0729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7EAB3-1E82-4143-9422-7C90BD84C355}" type="datetimeFigureOut">
              <a:rPr lang="ko-KR" altLang="en-US" smtClean="0"/>
              <a:t>2023. 11. 29.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8E93B-9245-4C20-BF89-EEC588EB1D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1805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7EAB3-1E82-4143-9422-7C90BD84C355}" type="datetimeFigureOut">
              <a:rPr lang="ko-KR" altLang="en-US" smtClean="0"/>
              <a:t>2023. 11. 29.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8E93B-9245-4C20-BF89-EEC588EB1D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6878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7EAB3-1E82-4143-9422-7C90BD84C355}" type="datetimeFigureOut">
              <a:rPr lang="ko-KR" altLang="en-US" smtClean="0"/>
              <a:t>2023. 11. 29.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8E93B-9245-4C20-BF89-EEC588EB1D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499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7EAB3-1E82-4143-9422-7C90BD84C355}" type="datetimeFigureOut">
              <a:rPr lang="ko-KR" altLang="en-US" smtClean="0"/>
              <a:t>2023. 11. 29.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8E93B-9245-4C20-BF89-EEC588EB1D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272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7EAB3-1E82-4143-9422-7C90BD84C355}" type="datetimeFigureOut">
              <a:rPr lang="ko-KR" altLang="en-US" smtClean="0"/>
              <a:t>2023. 11. 29.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8E93B-9245-4C20-BF89-EEC588EB1D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05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7EAB3-1E82-4143-9422-7C90BD84C355}" type="datetimeFigureOut">
              <a:rPr lang="ko-KR" altLang="en-US" smtClean="0"/>
              <a:t>2023. 11. 29.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8E93B-9245-4C20-BF89-EEC588EB1D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6642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7EAB3-1E82-4143-9422-7C90BD84C355}" type="datetimeFigureOut">
              <a:rPr lang="ko-KR" altLang="en-US" smtClean="0"/>
              <a:t>2023. 11. 29.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8E93B-9245-4C20-BF89-EEC588EB1D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524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7EAB3-1E82-4143-9422-7C90BD84C355}" type="datetimeFigureOut">
              <a:rPr lang="ko-KR" altLang="en-US" smtClean="0"/>
              <a:t>2023. 11. 29.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8E93B-9245-4C20-BF89-EEC588EB1D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294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7EAB3-1E82-4143-9422-7C90BD84C355}" type="datetimeFigureOut">
              <a:rPr lang="ko-KR" altLang="en-US" smtClean="0"/>
              <a:t>2023. 11. 29.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8E93B-9245-4C20-BF89-EEC588EB1D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4878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87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47EAB3-1E82-4143-9422-7C90BD84C355}" type="datetimeFigureOut">
              <a:rPr lang="ko-KR" altLang="en-US" smtClean="0"/>
              <a:t>2023. 11. 29.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E8E93B-9245-4C20-BF89-EEC588EB1D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6629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모서리가 둥근 직사각형 97"/>
          <p:cNvSpPr/>
          <p:nvPr/>
        </p:nvSpPr>
        <p:spPr>
          <a:xfrm>
            <a:off x="269033" y="233266"/>
            <a:ext cx="11653935" cy="6391469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TextBox 82"/>
          <p:cNvSpPr txBox="1"/>
          <p:nvPr/>
        </p:nvSpPr>
        <p:spPr>
          <a:xfrm>
            <a:off x="3409207" y="1054586"/>
            <a:ext cx="537358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800" b="1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미니미니한</a:t>
            </a:r>
            <a:r>
              <a:rPr lang="ko-KR" altLang="en-US" sz="4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미니미션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721268" y="1959366"/>
            <a:ext cx="27494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나눔고딕 ExtraBold" panose="020D0904000000000000" pitchFamily="50" charset="-127"/>
              </a:rPr>
              <a:t>if ( </a:t>
            </a: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나눔고딕 ExtraBold" panose="020D0904000000000000" pitchFamily="50" charset="-127"/>
              </a:rPr>
              <a:t>성도 </a:t>
            </a:r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나눔고딕 ExtraBold" panose="020D0904000000000000" pitchFamily="50" charset="-127"/>
              </a:rPr>
              <a:t>&amp;&amp;</a:t>
            </a: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나눔고딕 ExtraBold" panose="020D0904000000000000" pitchFamily="50" charset="-127"/>
              </a:rPr>
              <a:t> </a:t>
            </a:r>
            <a:r>
              <a:rPr lang="ko-KR" alt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나눔고딕 ExtraBold" panose="020D0904000000000000" pitchFamily="50" charset="-127"/>
              </a:rPr>
              <a:t>가율</a:t>
            </a:r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나눔고딕 ExtraBold" panose="020D0904000000000000" pitchFamily="50" charset="-127"/>
              </a:rPr>
              <a:t> )</a:t>
            </a:r>
            <a:endParaRPr lang="ko-KR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나눔고딕 ExtraBold" panose="020D0904000000000000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483"/>
          <a:stretch/>
        </p:blipFill>
        <p:spPr>
          <a:xfrm>
            <a:off x="3157855" y="3159516"/>
            <a:ext cx="5876290" cy="4434464"/>
          </a:xfrm>
          <a:prstGeom prst="rect">
            <a:avLst/>
          </a:prstGeom>
        </p:spPr>
      </p:pic>
      <p:cxnSp>
        <p:nvCxnSpPr>
          <p:cNvPr id="7" name="직선 연결선 6"/>
          <p:cNvCxnSpPr/>
          <p:nvPr/>
        </p:nvCxnSpPr>
        <p:spPr>
          <a:xfrm>
            <a:off x="2161079" y="3011951"/>
            <a:ext cx="1300563" cy="589893"/>
          </a:xfrm>
          <a:prstGeom prst="line">
            <a:avLst/>
          </a:prstGeom>
          <a:ln w="571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/>
          <p:cNvCxnSpPr/>
          <p:nvPr/>
        </p:nvCxnSpPr>
        <p:spPr>
          <a:xfrm>
            <a:off x="1800738" y="4056164"/>
            <a:ext cx="1416712" cy="31486"/>
          </a:xfrm>
          <a:prstGeom prst="line">
            <a:avLst/>
          </a:prstGeom>
          <a:ln w="571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 flipV="1">
            <a:off x="2002689" y="4551918"/>
            <a:ext cx="1078623" cy="158022"/>
          </a:xfrm>
          <a:prstGeom prst="line">
            <a:avLst/>
          </a:prstGeom>
          <a:ln w="571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 flipV="1">
            <a:off x="8484339" y="3239634"/>
            <a:ext cx="1550124" cy="455809"/>
          </a:xfrm>
          <a:prstGeom prst="line">
            <a:avLst/>
          </a:prstGeom>
          <a:ln w="571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 flipV="1">
            <a:off x="9259401" y="4087650"/>
            <a:ext cx="1416712" cy="105661"/>
          </a:xfrm>
          <a:prstGeom prst="line">
            <a:avLst/>
          </a:prstGeom>
          <a:ln w="571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/>
        </p:nvCxnSpPr>
        <p:spPr>
          <a:xfrm>
            <a:off x="9431315" y="5015167"/>
            <a:ext cx="962435" cy="414736"/>
          </a:xfrm>
          <a:prstGeom prst="line">
            <a:avLst/>
          </a:prstGeom>
          <a:ln w="571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EDE2B412-95E3-43D3-B978-83261C3F8DEC}"/>
              </a:ext>
            </a:extLst>
          </p:cNvPr>
          <p:cNvSpPr/>
          <p:nvPr/>
        </p:nvSpPr>
        <p:spPr>
          <a:xfrm>
            <a:off x="2109161" y="2646581"/>
            <a:ext cx="7921760" cy="543363"/>
          </a:xfrm>
          <a:prstGeom prst="rect">
            <a:avLst/>
          </a:prstGeom>
          <a:solidFill>
            <a:srgbClr val="FFC25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2">
                    <a:lumMod val="25000"/>
                  </a:schemeClr>
                </a:solidFill>
              </a:rPr>
              <a:t>즐겨봐요 게임의 숲</a:t>
            </a:r>
          </a:p>
        </p:txBody>
      </p:sp>
    </p:spTree>
    <p:extLst>
      <p:ext uri="{BB962C8B-B14F-4D97-AF65-F5344CB8AC3E}">
        <p14:creationId xmlns:p14="http://schemas.microsoft.com/office/powerpoint/2010/main" val="2746666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ì¢ì´, ë°°ê²½, ë¹ Paper, ì°¸ê³ , ì°ê¸°, ë­ê°ë¥¼ ì°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887" y="189793"/>
            <a:ext cx="11846225" cy="6601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순서도: 처리 11"/>
          <p:cNvSpPr/>
          <p:nvPr/>
        </p:nvSpPr>
        <p:spPr>
          <a:xfrm>
            <a:off x="401443" y="243770"/>
            <a:ext cx="1683835" cy="476823"/>
          </a:xfrm>
          <a:prstGeom prst="flowChartProcess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497333" y="128239"/>
            <a:ext cx="8098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01</a:t>
            </a:r>
            <a:endParaRPr lang="ko-KR" altLang="en-US" sz="4000" b="1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7388" y="5472834"/>
            <a:ext cx="755970" cy="1268078"/>
          </a:xfrm>
          <a:prstGeom prst="rect">
            <a:avLst/>
          </a:prstGeom>
        </p:spPr>
      </p:pic>
      <p:sp>
        <p:nvSpPr>
          <p:cNvPr id="9" name="타원 8"/>
          <p:cNvSpPr/>
          <p:nvPr/>
        </p:nvSpPr>
        <p:spPr>
          <a:xfrm>
            <a:off x="2130194" y="2058446"/>
            <a:ext cx="2789052" cy="2599839"/>
          </a:xfrm>
          <a:prstGeom prst="ellipse">
            <a:avLst/>
          </a:prstGeom>
          <a:solidFill>
            <a:srgbClr val="E85B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9537" y="2596342"/>
            <a:ext cx="1461461" cy="1461461"/>
          </a:xfrm>
          <a:prstGeom prst="rect">
            <a:avLst/>
          </a:prstGeom>
          <a:solidFill>
            <a:srgbClr val="E85B3B"/>
          </a:solidFill>
        </p:spPr>
      </p:pic>
      <p:sp>
        <p:nvSpPr>
          <p:cNvPr id="10" name="타원 9"/>
          <p:cNvSpPr/>
          <p:nvPr/>
        </p:nvSpPr>
        <p:spPr>
          <a:xfrm>
            <a:off x="4604946" y="2058446"/>
            <a:ext cx="2789052" cy="2599839"/>
          </a:xfrm>
          <a:prstGeom prst="ellipse">
            <a:avLst/>
          </a:prstGeom>
          <a:solidFill>
            <a:srgbClr val="E85B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3041" y="2602000"/>
            <a:ext cx="1461461" cy="1461461"/>
          </a:xfrm>
          <a:prstGeom prst="rect">
            <a:avLst/>
          </a:prstGeom>
          <a:solidFill>
            <a:srgbClr val="E85B3B"/>
          </a:solidFill>
        </p:spPr>
      </p:pic>
      <p:sp>
        <p:nvSpPr>
          <p:cNvPr id="15" name="타원 14"/>
          <p:cNvSpPr/>
          <p:nvPr/>
        </p:nvSpPr>
        <p:spPr>
          <a:xfrm>
            <a:off x="9065175" y="2058446"/>
            <a:ext cx="2789052" cy="2599839"/>
          </a:xfrm>
          <a:prstGeom prst="ellipse">
            <a:avLst/>
          </a:prstGeom>
          <a:solidFill>
            <a:srgbClr val="E85B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4478" y="2627634"/>
            <a:ext cx="1461461" cy="1461461"/>
          </a:xfrm>
          <a:prstGeom prst="rect">
            <a:avLst/>
          </a:prstGeom>
          <a:solidFill>
            <a:srgbClr val="E85B3B"/>
          </a:solidFill>
        </p:spPr>
      </p:pic>
      <p:sp>
        <p:nvSpPr>
          <p:cNvPr id="14" name="타원 13"/>
          <p:cNvSpPr/>
          <p:nvPr/>
        </p:nvSpPr>
        <p:spPr>
          <a:xfrm>
            <a:off x="6928603" y="2027154"/>
            <a:ext cx="2789052" cy="2599839"/>
          </a:xfrm>
          <a:prstGeom prst="ellipse">
            <a:avLst/>
          </a:prstGeom>
          <a:solidFill>
            <a:srgbClr val="E85B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1896" y="2583446"/>
            <a:ext cx="1461461" cy="1461461"/>
          </a:xfrm>
          <a:prstGeom prst="rect">
            <a:avLst/>
          </a:prstGeom>
          <a:solidFill>
            <a:srgbClr val="E85B3B"/>
          </a:solidFill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732171C-3096-4D1C-9B98-6A269F933E8E}"/>
              </a:ext>
            </a:extLst>
          </p:cNvPr>
          <p:cNvSpPr txBox="1"/>
          <p:nvPr/>
        </p:nvSpPr>
        <p:spPr>
          <a:xfrm>
            <a:off x="2773853" y="1510297"/>
            <a:ext cx="3934312" cy="412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+mj-lt"/>
                <a:ea typeface="나눔바른고딕" panose="020B0603020101020101" pitchFamily="50" charset="-127"/>
              </a:rPr>
              <a:t>요구사항 분석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AD8C18-E4BF-9FBC-F8DA-7C153C74C181}"/>
              </a:ext>
            </a:extLst>
          </p:cNvPr>
          <p:cNvSpPr txBox="1"/>
          <p:nvPr/>
        </p:nvSpPr>
        <p:spPr>
          <a:xfrm>
            <a:off x="4872844" y="4802458"/>
            <a:ext cx="2789052" cy="412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+mj-lt"/>
                <a:ea typeface="나눔바른고딕" panose="020B0603020101020101" pitchFamily="50" charset="-127"/>
              </a:rPr>
              <a:t>클래스 메서드 정의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8F6109-5345-605E-CA36-15CFD1293235}"/>
              </a:ext>
            </a:extLst>
          </p:cNvPr>
          <p:cNvSpPr txBox="1"/>
          <p:nvPr/>
        </p:nvSpPr>
        <p:spPr>
          <a:xfrm>
            <a:off x="8023085" y="1541929"/>
            <a:ext cx="1144874" cy="412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+mj-lt"/>
                <a:ea typeface="나눔바른고딕" panose="020B0603020101020101" pitchFamily="50" charset="-127"/>
              </a:rPr>
              <a:t>구현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98E1F9-7A7E-B03B-1506-8439FF29598D}"/>
              </a:ext>
            </a:extLst>
          </p:cNvPr>
          <p:cNvSpPr txBox="1"/>
          <p:nvPr/>
        </p:nvSpPr>
        <p:spPr>
          <a:xfrm>
            <a:off x="10244388" y="4891040"/>
            <a:ext cx="1055431" cy="412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+mj-lt"/>
                <a:ea typeface="나눔바른고딕" panose="020B0603020101020101" pitchFamily="50" charset="-127"/>
              </a:rPr>
              <a:t>리뷰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C40CFA1-6EE1-D676-6D27-43EEFDE971F1}"/>
              </a:ext>
            </a:extLst>
          </p:cNvPr>
          <p:cNvSpPr txBox="1"/>
          <p:nvPr/>
        </p:nvSpPr>
        <p:spPr>
          <a:xfrm>
            <a:off x="2130194" y="189793"/>
            <a:ext cx="9573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나눔고딕 ExtraBold" panose="020D0904000000000000" pitchFamily="50" charset="-127"/>
              </a:rPr>
              <a:t>목차</a:t>
            </a:r>
          </a:p>
        </p:txBody>
      </p:sp>
    </p:spTree>
    <p:extLst>
      <p:ext uri="{BB962C8B-B14F-4D97-AF65-F5344CB8AC3E}">
        <p14:creationId xmlns:p14="http://schemas.microsoft.com/office/powerpoint/2010/main" val="3984616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ì¢ì´, ë°°ê²½, ë¹ Paper, ì°¸ê³ , ì°ê¸°, ë­ê°ë¥¼ ì°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887" y="131263"/>
            <a:ext cx="11846225" cy="6601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순서도: 처리 11"/>
          <p:cNvSpPr/>
          <p:nvPr/>
        </p:nvSpPr>
        <p:spPr>
          <a:xfrm>
            <a:off x="401443" y="243770"/>
            <a:ext cx="1683835" cy="476823"/>
          </a:xfrm>
          <a:prstGeom prst="flowChartProcess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497333" y="128239"/>
            <a:ext cx="8098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01</a:t>
            </a:r>
            <a:endParaRPr lang="ko-KR" altLang="en-US" sz="4000" b="1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52" name="순서도: 처리 51"/>
          <p:cNvSpPr/>
          <p:nvPr/>
        </p:nvSpPr>
        <p:spPr>
          <a:xfrm>
            <a:off x="401443" y="951656"/>
            <a:ext cx="1683835" cy="476823"/>
          </a:xfrm>
          <a:prstGeom prst="flowChartProcess">
            <a:avLst/>
          </a:prstGeom>
          <a:solidFill>
            <a:srgbClr val="E85B3B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/>
          <p:cNvSpPr txBox="1"/>
          <p:nvPr/>
        </p:nvSpPr>
        <p:spPr>
          <a:xfrm>
            <a:off x="497333" y="836125"/>
            <a:ext cx="8098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02</a:t>
            </a:r>
            <a:endParaRPr lang="ko-KR" altLang="en-US" sz="4000" b="1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14137" y="3048517"/>
            <a:ext cx="350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  <a:latin typeface="배달의민족 한나" panose="02020603020101020101" pitchFamily="18" charset="-127"/>
              <a:ea typeface="배달의민족 한나" panose="02020603020101020101" pitchFamily="18" charset="-127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9349069" y="3048517"/>
            <a:ext cx="350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  <a:latin typeface="배달의민족 한나" panose="02020603020101020101" pitchFamily="18" charset="-127"/>
              <a:ea typeface="배달의민족 한나" panose="02020603020101020101" pitchFamily="18" charset="-127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0335520" y="3048517"/>
            <a:ext cx="354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  <a:latin typeface="배달의민족 한나" panose="02020603020101020101" pitchFamily="18" charset="-127"/>
              <a:ea typeface="배달의민족 한나" panose="02020603020101020101" pitchFamily="18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AD7C97-85E4-8BA2-D188-E8F67EAE44DB}"/>
              </a:ext>
            </a:extLst>
          </p:cNvPr>
          <p:cNvSpPr txBox="1"/>
          <p:nvPr/>
        </p:nvSpPr>
        <p:spPr>
          <a:xfrm>
            <a:off x="2312777" y="1219334"/>
            <a:ext cx="870072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500" spc="-150" dirty="0"/>
              <a:t>생성자 </a:t>
            </a:r>
            <a:r>
              <a:rPr kumimoji="1" lang="en-US" altLang="ko-KR" sz="1500" spc="-150" dirty="0"/>
              <a:t>/</a:t>
            </a:r>
            <a:r>
              <a:rPr kumimoji="1" lang="ko-KR" altLang="en-US" sz="1500" spc="-150" dirty="0"/>
              <a:t> 단어 입력 메서드 </a:t>
            </a:r>
            <a:r>
              <a:rPr kumimoji="1" lang="en-US" altLang="ko-KR" sz="1500" spc="-150" dirty="0"/>
              <a:t>/</a:t>
            </a:r>
            <a:r>
              <a:rPr kumimoji="1" lang="ko-KR" altLang="en-US" sz="1500" spc="-150" dirty="0"/>
              <a:t> 게임하기 메서드 </a:t>
            </a:r>
            <a:r>
              <a:rPr kumimoji="1" lang="en-US" altLang="ko-KR" sz="1500" spc="-150" dirty="0"/>
              <a:t>/</a:t>
            </a:r>
            <a:r>
              <a:rPr kumimoji="1" lang="ko-KR" altLang="en-US" sz="1500" spc="-150" dirty="0"/>
              <a:t> 단어 출력 메서드</a:t>
            </a:r>
            <a:endParaRPr kumimoji="1" lang="en-US" altLang="ko-KR" sz="1500" spc="-15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8BA548-FEC7-5F2D-32D7-3011140E7447}"/>
              </a:ext>
            </a:extLst>
          </p:cNvPr>
          <p:cNvSpPr txBox="1"/>
          <p:nvPr/>
        </p:nvSpPr>
        <p:spPr>
          <a:xfrm>
            <a:off x="2085278" y="1544011"/>
            <a:ext cx="92660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b="1" dirty="0">
                <a:latin typeface="+mj-lt"/>
                <a:ea typeface="NanumGothic" panose="020D0604000000000000" pitchFamily="34" charset="-127"/>
              </a:rPr>
              <a:t>공통 요구 사항</a:t>
            </a:r>
            <a:endParaRPr kumimoji="1" lang="en-US" altLang="ko-KR" b="1" dirty="0">
              <a:latin typeface="+mj-lt"/>
              <a:ea typeface="NanumGothic" panose="020D0604000000000000" pitchFamily="34" charset="-127"/>
            </a:endParaRPr>
          </a:p>
          <a:p>
            <a:endParaRPr kumimoji="1" lang="ko-KR" altLang="en-US" b="1" dirty="0">
              <a:latin typeface="+mj-lt"/>
              <a:ea typeface="NanumGothic" panose="020D0604000000000000" pitchFamily="34" charset="-127"/>
            </a:endParaRPr>
          </a:p>
        </p:txBody>
      </p:sp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269E1C22-5ADE-3729-9111-906A2349D9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6816611"/>
              </p:ext>
            </p:extLst>
          </p:nvPr>
        </p:nvGraphicFramePr>
        <p:xfrm>
          <a:off x="2129109" y="2067398"/>
          <a:ext cx="9556116" cy="4164959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740711">
                  <a:extLst>
                    <a:ext uri="{9D8B030D-6E8A-4147-A177-3AD203B41FA5}">
                      <a16:colId xmlns:a16="http://schemas.microsoft.com/office/drawing/2014/main" val="3106656556"/>
                    </a:ext>
                  </a:extLst>
                </a:gridCol>
                <a:gridCol w="7372974">
                  <a:extLst>
                    <a:ext uri="{9D8B030D-6E8A-4147-A177-3AD203B41FA5}">
                      <a16:colId xmlns:a16="http://schemas.microsoft.com/office/drawing/2014/main" val="4000192374"/>
                    </a:ext>
                  </a:extLst>
                </a:gridCol>
                <a:gridCol w="1442431">
                  <a:extLst>
                    <a:ext uri="{9D8B030D-6E8A-4147-A177-3AD203B41FA5}">
                      <a16:colId xmlns:a16="http://schemas.microsoft.com/office/drawing/2014/main" val="1980172245"/>
                    </a:ext>
                  </a:extLst>
                </a:gridCol>
              </a:tblGrid>
              <a:tr h="2033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순서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내용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담당자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8222669"/>
                  </a:ext>
                </a:extLst>
              </a:tr>
              <a:tr h="3512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영어 단어는 배열로 처리한다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김가율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8412870"/>
                  </a:ext>
                </a:extLst>
              </a:tr>
              <a:tr h="3512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게임 </a:t>
                      </a:r>
                      <a:r>
                        <a:rPr lang="ko-KR" altLang="en-US" dirty="0" err="1"/>
                        <a:t>시작시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Enter</a:t>
                      </a:r>
                      <a:r>
                        <a:rPr lang="ko-KR" altLang="en-US" dirty="0" err="1"/>
                        <a:t>를</a:t>
                      </a:r>
                      <a:r>
                        <a:rPr lang="ko-KR" altLang="en-US" dirty="0"/>
                        <a:t> 입력하여 시작한다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김성ㄷ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310953"/>
                  </a:ext>
                </a:extLst>
              </a:tr>
              <a:tr h="3512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게임 진행 중 </a:t>
                      </a:r>
                      <a:r>
                        <a:rPr lang="en-US" altLang="ko-KR" dirty="0"/>
                        <a:t>Q</a:t>
                      </a:r>
                      <a:r>
                        <a:rPr lang="ko-KR" altLang="en-US" dirty="0" err="1"/>
                        <a:t>를</a:t>
                      </a:r>
                      <a:r>
                        <a:rPr lang="ko-KR" altLang="en-US" dirty="0"/>
                        <a:t> 입력하면 프로그램은 종료한다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김성도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4873941"/>
                  </a:ext>
                </a:extLst>
              </a:tr>
              <a:tr h="3512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게임 </a:t>
                      </a:r>
                      <a:r>
                        <a:rPr lang="ko-KR" altLang="en-US" dirty="0" err="1"/>
                        <a:t>시작시</a:t>
                      </a:r>
                      <a:r>
                        <a:rPr lang="ko-KR" altLang="en-US" dirty="0"/>
                        <a:t> 영어가 출력된다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김성도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2067635"/>
                  </a:ext>
                </a:extLst>
              </a:tr>
              <a:tr h="4005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키보드로 영단어를 출력하여 블록을 깬다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김성도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320586"/>
                  </a:ext>
                </a:extLst>
              </a:tr>
              <a:tr h="3512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중복된 </a:t>
                      </a:r>
                      <a:r>
                        <a:rPr lang="ko-KR" altLang="en-US" dirty="0" err="1"/>
                        <a:t>영단어일</a:t>
                      </a:r>
                      <a:r>
                        <a:rPr lang="ko-KR" altLang="en-US" dirty="0"/>
                        <a:t> 경우 한번에 중복된 </a:t>
                      </a:r>
                      <a:r>
                        <a:rPr lang="ko-KR" altLang="en-US" dirty="0" err="1"/>
                        <a:t>영단어</a:t>
                      </a:r>
                      <a:r>
                        <a:rPr lang="ko-KR" altLang="en-US" dirty="0"/>
                        <a:t> 모두 깬다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김성도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0078776"/>
                  </a:ext>
                </a:extLst>
              </a:tr>
              <a:tr h="3512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모든 블록이 깨지게 된 경우 프로그램은 종료된다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김가율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8136896"/>
                  </a:ext>
                </a:extLst>
              </a:tr>
              <a:tr h="3512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게임이 종료되면 걸린 시간을 계산하여 표기한다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김성도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0117156"/>
                  </a:ext>
                </a:extLst>
              </a:tr>
              <a:tr h="3512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부순 블록 </a:t>
                      </a:r>
                      <a:r>
                        <a:rPr lang="ko-KR" altLang="en-US" dirty="0" err="1"/>
                        <a:t>갯수도</a:t>
                      </a:r>
                      <a:r>
                        <a:rPr lang="ko-KR" altLang="en-US" dirty="0"/>
                        <a:t> 표기한다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김가율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317498"/>
                  </a:ext>
                </a:extLst>
              </a:tr>
              <a:tr h="47254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클래스는 </a:t>
                      </a:r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개의 선에서 하고 다른 게임을 창작해도 된다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김성도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5979165"/>
                  </a:ext>
                </a:extLst>
              </a:tr>
            </a:tbl>
          </a:graphicData>
        </a:graphic>
      </p:graphicFrame>
      <p:pic>
        <p:nvPicPr>
          <p:cNvPr id="55" name="그림 5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7388" y="5472834"/>
            <a:ext cx="755970" cy="1268078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B0F0501A-8483-73A0-F17B-40369EE8EE05}"/>
              </a:ext>
            </a:extLst>
          </p:cNvPr>
          <p:cNvSpPr txBox="1"/>
          <p:nvPr/>
        </p:nvSpPr>
        <p:spPr>
          <a:xfrm>
            <a:off x="2129109" y="208976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나눔고딕 ExtraBold" panose="020D0904000000000000" pitchFamily="50" charset="-127"/>
              </a:rPr>
              <a:t>요구사항 분석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BAD2C9D-87F9-3BC1-70A7-76F15AF979A7}"/>
              </a:ext>
            </a:extLst>
          </p:cNvPr>
          <p:cNvSpPr txBox="1"/>
          <p:nvPr/>
        </p:nvSpPr>
        <p:spPr>
          <a:xfrm>
            <a:off x="2129109" y="836208"/>
            <a:ext cx="92660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b="1" dirty="0">
                <a:latin typeface="+mj-lt"/>
                <a:ea typeface="NanumGothic" panose="020D0604000000000000" pitchFamily="34" charset="-127"/>
              </a:rPr>
              <a:t>필수 기능 사항</a:t>
            </a:r>
            <a:endParaRPr kumimoji="1" lang="en-US" altLang="ko-KR" b="1" dirty="0">
              <a:latin typeface="+mj-lt"/>
              <a:ea typeface="NanumGothic" panose="020D0604000000000000" pitchFamily="34" charset="-127"/>
            </a:endParaRPr>
          </a:p>
          <a:p>
            <a:endParaRPr kumimoji="1" lang="ko-KR" altLang="en-US" b="1" dirty="0">
              <a:latin typeface="+mj-lt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32470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ì¢ì´, ë°°ê²½, ë¹ Paper, ì°¸ê³ , ì°ê¸°, ë­ê°ë¥¼ ì°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887" y="131263"/>
            <a:ext cx="11846225" cy="6601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순서도: 처리 11"/>
          <p:cNvSpPr/>
          <p:nvPr/>
        </p:nvSpPr>
        <p:spPr>
          <a:xfrm>
            <a:off x="401443" y="243770"/>
            <a:ext cx="1683835" cy="476823"/>
          </a:xfrm>
          <a:prstGeom prst="flowChartProcess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497333" y="128239"/>
            <a:ext cx="8098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01</a:t>
            </a:r>
            <a:endParaRPr lang="ko-KR" altLang="en-US" sz="4000" b="1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52" name="순서도: 처리 51"/>
          <p:cNvSpPr/>
          <p:nvPr/>
        </p:nvSpPr>
        <p:spPr>
          <a:xfrm>
            <a:off x="401443" y="951656"/>
            <a:ext cx="1683835" cy="476823"/>
          </a:xfrm>
          <a:prstGeom prst="flowChartProcess">
            <a:avLst/>
          </a:prstGeom>
          <a:solidFill>
            <a:srgbClr val="E85B3B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/>
          <p:cNvSpPr txBox="1"/>
          <p:nvPr/>
        </p:nvSpPr>
        <p:spPr>
          <a:xfrm>
            <a:off x="497333" y="836125"/>
            <a:ext cx="8098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02</a:t>
            </a:r>
            <a:endParaRPr lang="ko-KR" altLang="en-US" sz="4000" b="1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14137" y="3048517"/>
            <a:ext cx="350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  <a:latin typeface="배달의민족 한나" panose="02020603020101020101" pitchFamily="18" charset="-127"/>
              <a:ea typeface="배달의민족 한나" panose="02020603020101020101" pitchFamily="18" charset="-127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9349069" y="3048517"/>
            <a:ext cx="350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  <a:latin typeface="배달의민족 한나" panose="02020603020101020101" pitchFamily="18" charset="-127"/>
              <a:ea typeface="배달의민족 한나" panose="02020603020101020101" pitchFamily="18" charset="-127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0335520" y="3048517"/>
            <a:ext cx="354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  <a:latin typeface="배달의민족 한나" panose="02020603020101020101" pitchFamily="18" charset="-127"/>
              <a:ea typeface="배달의민족 한나" panose="020206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8BA548-FEC7-5F2D-32D7-3011140E7447}"/>
              </a:ext>
            </a:extLst>
          </p:cNvPr>
          <p:cNvSpPr txBox="1"/>
          <p:nvPr/>
        </p:nvSpPr>
        <p:spPr>
          <a:xfrm>
            <a:off x="2085278" y="924997"/>
            <a:ext cx="92660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400" b="1" dirty="0">
                <a:latin typeface="+mj-lt"/>
                <a:ea typeface="NanumGothic" panose="020D0604000000000000" pitchFamily="34" charset="-127"/>
              </a:rPr>
              <a:t>추가 기능 구현</a:t>
            </a:r>
            <a:endParaRPr kumimoji="1" lang="en-US" altLang="ko-KR" sz="2400" b="1" dirty="0">
              <a:latin typeface="+mj-lt"/>
              <a:ea typeface="NanumGothic" panose="020D0604000000000000" pitchFamily="34" charset="-127"/>
            </a:endParaRPr>
          </a:p>
          <a:p>
            <a:endParaRPr kumimoji="1" lang="ko-KR" altLang="en-US" sz="2400" b="1" dirty="0">
              <a:latin typeface="+mj-lt"/>
              <a:ea typeface="NanumGothic" panose="020D0604000000000000" pitchFamily="34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6D95AB71-BE01-61C0-19AB-B35656628A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7371463"/>
              </p:ext>
            </p:extLst>
          </p:nvPr>
        </p:nvGraphicFramePr>
        <p:xfrm>
          <a:off x="2031999" y="1477639"/>
          <a:ext cx="9852472" cy="467359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763682">
                  <a:extLst>
                    <a:ext uri="{9D8B030D-6E8A-4147-A177-3AD203B41FA5}">
                      <a16:colId xmlns:a16="http://schemas.microsoft.com/office/drawing/2014/main" val="2565386403"/>
                    </a:ext>
                  </a:extLst>
                </a:gridCol>
                <a:gridCol w="7601626">
                  <a:extLst>
                    <a:ext uri="{9D8B030D-6E8A-4147-A177-3AD203B41FA5}">
                      <a16:colId xmlns:a16="http://schemas.microsoft.com/office/drawing/2014/main" val="311028537"/>
                    </a:ext>
                  </a:extLst>
                </a:gridCol>
                <a:gridCol w="1487164">
                  <a:extLst>
                    <a:ext uri="{9D8B030D-6E8A-4147-A177-3AD203B41FA5}">
                      <a16:colId xmlns:a16="http://schemas.microsoft.com/office/drawing/2014/main" val="3455839922"/>
                    </a:ext>
                  </a:extLst>
                </a:gridCol>
              </a:tblGrid>
              <a:tr h="389466"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j-lt"/>
                        </a:rPr>
                        <a:t>내용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j-lt"/>
                        </a:rPr>
                        <a:t>담당자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7970289"/>
                  </a:ext>
                </a:extLst>
              </a:tr>
              <a:tr h="3894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j-lt"/>
                        </a:rPr>
                        <a:t>1</a:t>
                      </a:r>
                      <a:endParaRPr lang="ko-KR" altLang="en-US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j-lt"/>
                        </a:rPr>
                        <a:t>게임 시작 시 원하는 게임을 선택하게 한다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+mj-lt"/>
                        </a:rPr>
                        <a:t>김가율</a:t>
                      </a:r>
                      <a:endParaRPr lang="en-US" altLang="ko-KR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1572261"/>
                  </a:ext>
                </a:extLst>
              </a:tr>
              <a:tr h="3894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j-lt"/>
                        </a:rPr>
                        <a:t>2</a:t>
                      </a:r>
                      <a:endParaRPr lang="ko-KR" altLang="en-US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j-lt"/>
                        </a:rPr>
                        <a:t>1</a:t>
                      </a:r>
                      <a:r>
                        <a:rPr lang="ko-KR" altLang="en-US" dirty="0">
                          <a:latin typeface="+mj-lt"/>
                        </a:rPr>
                        <a:t>번째 게임은 출력된 단어를 암기하고 맞추는 게임이다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+mj-lt"/>
                        </a:rPr>
                        <a:t>김성도</a:t>
                      </a:r>
                      <a:endParaRPr lang="ko-KR" altLang="en-US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780801"/>
                  </a:ext>
                </a:extLst>
              </a:tr>
              <a:tr h="3894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j-lt"/>
                        </a:rPr>
                        <a:t>3</a:t>
                      </a:r>
                      <a:endParaRPr lang="ko-KR" altLang="en-US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j-lt"/>
                        </a:rPr>
                        <a:t>오답 입력 시 힌트를 </a:t>
                      </a:r>
                      <a:r>
                        <a:rPr lang="ko-KR" altLang="en-US" dirty="0" err="1">
                          <a:latin typeface="+mj-lt"/>
                        </a:rPr>
                        <a:t>한개씩</a:t>
                      </a:r>
                      <a:r>
                        <a:rPr lang="ko-KR" altLang="en-US" dirty="0">
                          <a:latin typeface="+mj-lt"/>
                        </a:rPr>
                        <a:t> 보여준다</a:t>
                      </a:r>
                      <a:endParaRPr lang="en-US" altLang="ko-KR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+mj-lt"/>
                        </a:rPr>
                        <a:t>김성도</a:t>
                      </a:r>
                      <a:endParaRPr lang="ko-KR" altLang="en-US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4957287"/>
                  </a:ext>
                </a:extLst>
              </a:tr>
              <a:tr h="3894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j-lt"/>
                        </a:rPr>
                        <a:t>4</a:t>
                      </a:r>
                      <a:endParaRPr lang="ko-KR" altLang="en-US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j-lt"/>
                        </a:rPr>
                        <a:t>정답 입력 시 정답인 영문자는 전체 출력해준다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+mj-lt"/>
                        </a:rPr>
                        <a:t>김성도</a:t>
                      </a:r>
                      <a:endParaRPr lang="ko-KR" altLang="en-US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3030796"/>
                  </a:ext>
                </a:extLst>
              </a:tr>
              <a:tr h="3894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j-lt"/>
                        </a:rPr>
                        <a:t>5</a:t>
                      </a:r>
                      <a:endParaRPr lang="ko-KR" altLang="en-US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j-lt"/>
                        </a:rPr>
                        <a:t>정답 입력 시 현재 스코어를 출력해준다</a:t>
                      </a:r>
                      <a:endParaRPr lang="en-US" altLang="ko-KR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+mj-lt"/>
                        </a:rPr>
                        <a:t>김성도</a:t>
                      </a:r>
                      <a:endParaRPr lang="ko-KR" altLang="en-US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4149072"/>
                  </a:ext>
                </a:extLst>
              </a:tr>
              <a:tr h="3894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j-lt"/>
                        </a:rPr>
                        <a:t>6</a:t>
                      </a:r>
                      <a:endParaRPr lang="ko-KR" altLang="en-US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j-lt"/>
                        </a:rPr>
                        <a:t>게임 종료 시 게임 메뉴 선택하는 내용이 출력된다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+mj-lt"/>
                        </a:rPr>
                        <a:t>김성도</a:t>
                      </a:r>
                      <a:endParaRPr lang="ko-KR" altLang="en-US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5151454"/>
                  </a:ext>
                </a:extLst>
              </a:tr>
              <a:tr h="3894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j-lt"/>
                        </a:rPr>
                        <a:t>7</a:t>
                      </a:r>
                      <a:endParaRPr lang="ko-KR" altLang="en-US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j-lt"/>
                        </a:rPr>
                        <a:t>2</a:t>
                      </a:r>
                      <a:r>
                        <a:rPr lang="ko-KR" altLang="en-US" dirty="0">
                          <a:latin typeface="+mj-lt"/>
                        </a:rPr>
                        <a:t>번째 게임은 </a:t>
                      </a:r>
                      <a:r>
                        <a:rPr lang="ko-KR" altLang="en-US" dirty="0" err="1">
                          <a:latin typeface="+mj-lt"/>
                        </a:rPr>
                        <a:t>영단어</a:t>
                      </a:r>
                      <a:r>
                        <a:rPr lang="ko-KR" altLang="en-US" dirty="0">
                          <a:latin typeface="+mj-lt"/>
                        </a:rPr>
                        <a:t> </a:t>
                      </a:r>
                      <a:r>
                        <a:rPr lang="ko-KR" altLang="en-US" dirty="0" err="1">
                          <a:latin typeface="+mj-lt"/>
                        </a:rPr>
                        <a:t>애니팡</a:t>
                      </a:r>
                      <a:r>
                        <a:rPr lang="ko-KR" altLang="en-US" dirty="0">
                          <a:latin typeface="+mj-lt"/>
                        </a:rPr>
                        <a:t> 타자 게임이다</a:t>
                      </a:r>
                      <a:r>
                        <a:rPr lang="en-US" altLang="ko-KR" dirty="0">
                          <a:latin typeface="+mj-lt"/>
                        </a:rPr>
                        <a:t>.</a:t>
                      </a:r>
                      <a:endParaRPr lang="ko-KR" altLang="en-US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+mj-lt"/>
                        </a:rPr>
                        <a:t>김가율</a:t>
                      </a:r>
                      <a:endParaRPr lang="ko-KR" altLang="en-US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6455735"/>
                  </a:ext>
                </a:extLst>
              </a:tr>
              <a:tr h="3894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j-lt"/>
                        </a:rPr>
                        <a:t>8</a:t>
                      </a:r>
                      <a:endParaRPr lang="ko-KR" altLang="en-US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j-lt"/>
                        </a:rPr>
                        <a:t>사용자가 </a:t>
                      </a:r>
                      <a:r>
                        <a:rPr lang="en-US" altLang="ko-KR" dirty="0">
                          <a:latin typeface="+mj-lt"/>
                        </a:rPr>
                        <a:t>Q</a:t>
                      </a:r>
                      <a:r>
                        <a:rPr lang="ko-KR" altLang="en-US" dirty="0" err="1">
                          <a:latin typeface="+mj-lt"/>
                        </a:rPr>
                        <a:t>를</a:t>
                      </a:r>
                      <a:r>
                        <a:rPr lang="ko-KR" altLang="en-US" dirty="0">
                          <a:latin typeface="+mj-lt"/>
                        </a:rPr>
                        <a:t> 입력하지 않는 이상 계속 게임은 진행된다</a:t>
                      </a:r>
                      <a:endParaRPr lang="en-US" altLang="ko-KR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+mj-lt"/>
                        </a:rPr>
                        <a:t>김가율</a:t>
                      </a:r>
                      <a:endParaRPr lang="ko-KR" altLang="en-US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2698130"/>
                  </a:ext>
                </a:extLst>
              </a:tr>
              <a:tr h="3894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j-lt"/>
                        </a:rPr>
                        <a:t>9</a:t>
                      </a:r>
                      <a:endParaRPr lang="ko-KR" altLang="en-US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j-lt"/>
                        </a:rPr>
                        <a:t>정답을 입력 시 중복된 영단어는 한꺼번에 없어진다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+mj-lt"/>
                        </a:rPr>
                        <a:t>김가율</a:t>
                      </a:r>
                      <a:endParaRPr lang="ko-KR" altLang="en-US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4958384"/>
                  </a:ext>
                </a:extLst>
              </a:tr>
              <a:tr h="3894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j-lt"/>
                        </a:rPr>
                        <a:t>10</a:t>
                      </a:r>
                      <a:endParaRPr lang="ko-KR" altLang="en-US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j-lt"/>
                        </a:rPr>
                        <a:t>없어진 자리엔 위에 있던 영단어들이 내려온다</a:t>
                      </a:r>
                      <a:r>
                        <a:rPr lang="en-US" altLang="ko-KR" dirty="0">
                          <a:latin typeface="+mj-lt"/>
                        </a:rPr>
                        <a:t>.</a:t>
                      </a:r>
                      <a:endParaRPr lang="ko-KR" altLang="en-US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+mj-lt"/>
                        </a:rPr>
                        <a:t>김가율</a:t>
                      </a:r>
                      <a:endParaRPr lang="ko-KR" altLang="en-US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1088728"/>
                  </a:ext>
                </a:extLst>
              </a:tr>
              <a:tr h="3894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j-lt"/>
                        </a:rPr>
                        <a:t>11</a:t>
                      </a:r>
                      <a:endParaRPr lang="ko-KR" altLang="en-US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j-lt"/>
                        </a:rPr>
                        <a:t>영단어들이 내려오면 새로운 영단어가 그 자리를 채운다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+mj-lt"/>
                        </a:rPr>
                        <a:t>김가율</a:t>
                      </a:r>
                      <a:endParaRPr lang="ko-KR" altLang="en-US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7548513"/>
                  </a:ext>
                </a:extLst>
              </a:tr>
            </a:tbl>
          </a:graphicData>
        </a:graphic>
      </p:graphicFrame>
      <p:pic>
        <p:nvPicPr>
          <p:cNvPr id="55" name="그림 5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7388" y="5472834"/>
            <a:ext cx="755970" cy="126807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7963F0-7B1B-FD8A-0A3F-E962F992304F}"/>
              </a:ext>
            </a:extLst>
          </p:cNvPr>
          <p:cNvSpPr txBox="1"/>
          <p:nvPr/>
        </p:nvSpPr>
        <p:spPr>
          <a:xfrm>
            <a:off x="2129109" y="208976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나눔고딕 ExtraBold" panose="020D0904000000000000" pitchFamily="50" charset="-127"/>
              </a:rPr>
              <a:t>요구사항 분석</a:t>
            </a:r>
          </a:p>
        </p:txBody>
      </p:sp>
    </p:spTree>
    <p:extLst>
      <p:ext uri="{BB962C8B-B14F-4D97-AF65-F5344CB8AC3E}">
        <p14:creationId xmlns:p14="http://schemas.microsoft.com/office/powerpoint/2010/main" val="3686380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ì¢ì´, ë°°ê²½, ë¹ Paper, ì°¸ê³ , ì°ê¸°, ë­ê°ë¥¼ ì°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741" y="142087"/>
            <a:ext cx="11846225" cy="6601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순서도: 처리 11"/>
          <p:cNvSpPr/>
          <p:nvPr/>
        </p:nvSpPr>
        <p:spPr>
          <a:xfrm>
            <a:off x="401443" y="243770"/>
            <a:ext cx="1683835" cy="476823"/>
          </a:xfrm>
          <a:prstGeom prst="flowChartProcess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497333" y="128239"/>
            <a:ext cx="8098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01</a:t>
            </a:r>
            <a:endParaRPr lang="ko-KR" altLang="en-US" sz="4000" b="1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2313833" y="189793"/>
            <a:ext cx="22605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나눔고딕 ExtraBold" panose="020D0904000000000000" pitchFamily="50" charset="-127"/>
              </a:rPr>
              <a:t>클래스 정의</a:t>
            </a:r>
          </a:p>
        </p:txBody>
      </p:sp>
      <p:sp>
        <p:nvSpPr>
          <p:cNvPr id="52" name="순서도: 처리 51"/>
          <p:cNvSpPr/>
          <p:nvPr/>
        </p:nvSpPr>
        <p:spPr>
          <a:xfrm>
            <a:off x="401443" y="951656"/>
            <a:ext cx="1683835" cy="476823"/>
          </a:xfrm>
          <a:prstGeom prst="flowChartProcess">
            <a:avLst/>
          </a:prstGeom>
          <a:solidFill>
            <a:srgbClr val="E85B3B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/>
          <p:cNvSpPr txBox="1"/>
          <p:nvPr/>
        </p:nvSpPr>
        <p:spPr>
          <a:xfrm>
            <a:off x="497333" y="836125"/>
            <a:ext cx="8098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02</a:t>
            </a:r>
            <a:endParaRPr lang="ko-KR" altLang="en-US" sz="4000" b="1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55" name="순서도: 처리 54"/>
          <p:cNvSpPr/>
          <p:nvPr/>
        </p:nvSpPr>
        <p:spPr>
          <a:xfrm>
            <a:off x="401443" y="1659541"/>
            <a:ext cx="1683835" cy="476823"/>
          </a:xfrm>
          <a:prstGeom prst="flowChartProcess">
            <a:avLst/>
          </a:prstGeom>
          <a:solidFill>
            <a:srgbClr val="538BE8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/>
          <p:cNvSpPr txBox="1"/>
          <p:nvPr/>
        </p:nvSpPr>
        <p:spPr>
          <a:xfrm>
            <a:off x="497333" y="1544010"/>
            <a:ext cx="8098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03</a:t>
            </a:r>
            <a:endParaRPr lang="ko-KR" altLang="en-US" sz="4000" b="1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938663D-C03E-1A68-4D05-58B3C5E52C3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2209716" y="3733402"/>
            <a:ext cx="3778180" cy="26284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38699DE-A4DF-FA7B-71E2-A7256B84A31A}"/>
              </a:ext>
            </a:extLst>
          </p:cNvPr>
          <p:cNvSpPr txBox="1"/>
          <p:nvPr/>
        </p:nvSpPr>
        <p:spPr>
          <a:xfrm>
            <a:off x="4373028" y="374458"/>
            <a:ext cx="24160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000" b="1" dirty="0"/>
              <a:t>프로그램 실행 순서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BE2BD63-62BF-459E-000A-7C591298336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2209716" y="890928"/>
            <a:ext cx="3784209" cy="2049825"/>
          </a:xfrm>
          <a:prstGeom prst="rect">
            <a:avLst/>
          </a:prstGeom>
          <a:effectLst>
            <a:softEdge rad="0"/>
          </a:effectLst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885E106D-B63C-4774-AAB1-FFEC9584BA02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86171" y="890928"/>
            <a:ext cx="5822862" cy="5472128"/>
          </a:xfrm>
          <a:prstGeom prst="rect">
            <a:avLst/>
          </a:prstGeom>
        </p:spPr>
      </p:pic>
      <p:pic>
        <p:nvPicPr>
          <p:cNvPr id="59" name="그림 5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7388" y="5472834"/>
            <a:ext cx="755970" cy="126807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409375E-F110-BA86-ECB5-622C01AB9929}"/>
              </a:ext>
            </a:extLst>
          </p:cNvPr>
          <p:cNvSpPr txBox="1"/>
          <p:nvPr/>
        </p:nvSpPr>
        <p:spPr>
          <a:xfrm>
            <a:off x="7435183" y="5375544"/>
            <a:ext cx="39208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>
                <a:solidFill>
                  <a:schemeClr val="bg1"/>
                </a:solidFill>
                <a:highlight>
                  <a:srgbClr val="000000"/>
                </a:highlight>
              </a:rPr>
              <a:t>2</a:t>
            </a:r>
            <a:r>
              <a:rPr kumimoji="1" lang="ko-KR" altLang="en-US" dirty="0">
                <a:solidFill>
                  <a:schemeClr val="bg1"/>
                </a:solidFill>
                <a:highlight>
                  <a:srgbClr val="000000"/>
                </a:highlight>
              </a:rPr>
              <a:t>개의 게임에 대한 선택하는 실행자</a:t>
            </a:r>
            <a:endParaRPr kumimoji="1" lang="en-US" altLang="ko-KR" dirty="0">
              <a:solidFill>
                <a:schemeClr val="bg1"/>
              </a:solidFill>
              <a:highlight>
                <a:srgbClr val="000000"/>
              </a:highlight>
            </a:endParaRPr>
          </a:p>
          <a:p>
            <a:r>
              <a:rPr kumimoji="1" lang="en-US" altLang="ko-KR" dirty="0">
                <a:solidFill>
                  <a:schemeClr val="bg1"/>
                </a:solidFill>
                <a:highlight>
                  <a:srgbClr val="000000"/>
                </a:highlight>
              </a:rPr>
              <a:t>+</a:t>
            </a:r>
            <a:r>
              <a:rPr kumimoji="1" lang="ko-KR" altLang="en-US" dirty="0">
                <a:solidFill>
                  <a:schemeClr val="bg1"/>
                </a:solidFill>
                <a:highlight>
                  <a:srgbClr val="000000"/>
                </a:highlight>
              </a:rPr>
              <a:t> </a:t>
            </a:r>
            <a:r>
              <a:rPr kumimoji="1" lang="en-US" altLang="ko-KR" dirty="0">
                <a:solidFill>
                  <a:schemeClr val="bg1"/>
                </a:solidFill>
                <a:highlight>
                  <a:srgbClr val="000000"/>
                </a:highlight>
              </a:rPr>
              <a:t>Info </a:t>
            </a:r>
            <a:r>
              <a:rPr kumimoji="1" lang="ko-KR" altLang="en-US" dirty="0">
                <a:solidFill>
                  <a:schemeClr val="bg1"/>
                </a:solidFill>
                <a:highlight>
                  <a:srgbClr val="000000"/>
                </a:highlight>
              </a:rPr>
              <a:t>메소드</a:t>
            </a: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DC53E8E7-BD0F-C6CF-952F-DF0AB88BEC28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85000"/>
          </a:blip>
          <a:stretch>
            <a:fillRect/>
          </a:stretch>
        </p:blipFill>
        <p:spPr>
          <a:xfrm rot="8545281">
            <a:off x="4124853" y="3937129"/>
            <a:ext cx="2617379" cy="654779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1724D7B2-207A-3DA3-7169-14AC533CB189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80000"/>
          </a:blip>
          <a:stretch>
            <a:fillRect/>
          </a:stretch>
        </p:blipFill>
        <p:spPr>
          <a:xfrm rot="4284594" flipV="1">
            <a:off x="1523264" y="4197821"/>
            <a:ext cx="2379854" cy="7418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43D333F-6E24-A9E8-3EC5-9EC0DAE1A822}"/>
              </a:ext>
            </a:extLst>
          </p:cNvPr>
          <p:cNvSpPr txBox="1"/>
          <p:nvPr/>
        </p:nvSpPr>
        <p:spPr>
          <a:xfrm>
            <a:off x="2313833" y="3206953"/>
            <a:ext cx="4024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>
                <a:solidFill>
                  <a:schemeClr val="bg1"/>
                </a:solidFill>
                <a:highlight>
                  <a:srgbClr val="000000"/>
                </a:highlight>
              </a:rPr>
              <a:t>프로그램의 시작을 알리는 </a:t>
            </a:r>
            <a:r>
              <a:rPr kumimoji="1" lang="en-US" altLang="ko-KR" dirty="0">
                <a:solidFill>
                  <a:schemeClr val="bg1"/>
                </a:solidFill>
                <a:highlight>
                  <a:srgbClr val="000000"/>
                </a:highlight>
              </a:rPr>
              <a:t>Class</a:t>
            </a:r>
            <a:endParaRPr kumimoji="1" lang="ko-KR" altLang="en-US" dirty="0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464376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ì¢ì´, ë°°ê²½, ë¹ Paper, ì°¸ê³ , ì°ê¸°, ë­ê°ë¥¼ ì°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741" y="142087"/>
            <a:ext cx="11846225" cy="6601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순서도: 처리 11"/>
          <p:cNvSpPr/>
          <p:nvPr/>
        </p:nvSpPr>
        <p:spPr>
          <a:xfrm>
            <a:off x="401443" y="243770"/>
            <a:ext cx="1683835" cy="476823"/>
          </a:xfrm>
          <a:prstGeom prst="flowChartProcess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497333" y="128239"/>
            <a:ext cx="8098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01</a:t>
            </a:r>
            <a:endParaRPr lang="ko-KR" altLang="en-US" sz="4000" b="1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52" name="순서도: 처리 51"/>
          <p:cNvSpPr/>
          <p:nvPr/>
        </p:nvSpPr>
        <p:spPr>
          <a:xfrm>
            <a:off x="401443" y="951656"/>
            <a:ext cx="1683835" cy="476823"/>
          </a:xfrm>
          <a:prstGeom prst="flowChartProcess">
            <a:avLst/>
          </a:prstGeom>
          <a:solidFill>
            <a:srgbClr val="E85B3B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/>
          <p:cNvSpPr txBox="1"/>
          <p:nvPr/>
        </p:nvSpPr>
        <p:spPr>
          <a:xfrm>
            <a:off x="497333" y="836125"/>
            <a:ext cx="8098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02</a:t>
            </a:r>
            <a:endParaRPr lang="ko-KR" altLang="en-US" sz="4000" b="1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55" name="순서도: 처리 54"/>
          <p:cNvSpPr/>
          <p:nvPr/>
        </p:nvSpPr>
        <p:spPr>
          <a:xfrm>
            <a:off x="401443" y="1659541"/>
            <a:ext cx="1683835" cy="476823"/>
          </a:xfrm>
          <a:prstGeom prst="flowChartProcess">
            <a:avLst/>
          </a:prstGeom>
          <a:solidFill>
            <a:srgbClr val="538BE8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/>
          <p:cNvSpPr txBox="1"/>
          <p:nvPr/>
        </p:nvSpPr>
        <p:spPr>
          <a:xfrm>
            <a:off x="497333" y="1544010"/>
            <a:ext cx="8098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03</a:t>
            </a:r>
            <a:endParaRPr lang="ko-KR" altLang="en-US" sz="4000" b="1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59" name="그림 5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7388" y="5472834"/>
            <a:ext cx="755970" cy="126807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52FD301-294F-F847-91D9-C86405F4F17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2181168" y="978887"/>
            <a:ext cx="5919364" cy="552588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08DA851-3F98-D84D-802C-95CE3D3FEB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9683" y="4557672"/>
            <a:ext cx="4846121" cy="195836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B9C7B4E0-5754-6E66-7CC3-ADFBB546D745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85000"/>
          </a:blip>
          <a:stretch>
            <a:fillRect/>
          </a:stretch>
        </p:blipFill>
        <p:spPr>
          <a:xfrm rot="8545281">
            <a:off x="6785548" y="2526890"/>
            <a:ext cx="2617379" cy="65477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6052E4B-A477-9F5A-E29C-855438EC6D8C}"/>
              </a:ext>
            </a:extLst>
          </p:cNvPr>
          <p:cNvSpPr txBox="1"/>
          <p:nvPr/>
        </p:nvSpPr>
        <p:spPr>
          <a:xfrm>
            <a:off x="7629935" y="1213034"/>
            <a:ext cx="45588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dirty="0">
                <a:solidFill>
                  <a:schemeClr val="bg1"/>
                </a:solidFill>
                <a:highlight>
                  <a:srgbClr val="000000"/>
                </a:highlight>
              </a:rPr>
              <a:t>2</a:t>
            </a:r>
            <a:r>
              <a:rPr kumimoji="1" lang="ko-KR" altLang="en-US" dirty="0">
                <a:solidFill>
                  <a:schemeClr val="bg1"/>
                </a:solidFill>
                <a:highlight>
                  <a:srgbClr val="000000"/>
                </a:highlight>
              </a:rPr>
              <a:t>가지 게임 중 </a:t>
            </a:r>
            <a:endParaRPr kumimoji="1" lang="en-US" altLang="ko-KR" dirty="0">
              <a:solidFill>
                <a:schemeClr val="bg1"/>
              </a:solidFill>
              <a:highlight>
                <a:srgbClr val="000000"/>
              </a:highlight>
            </a:endParaRPr>
          </a:p>
          <a:p>
            <a:pPr algn="ctr"/>
            <a:r>
              <a:rPr kumimoji="1" lang="ko-KR" altLang="en-US" dirty="0">
                <a:solidFill>
                  <a:schemeClr val="bg1"/>
                </a:solidFill>
                <a:highlight>
                  <a:srgbClr val="000000"/>
                </a:highlight>
              </a:rPr>
              <a:t>기억력 </a:t>
            </a:r>
            <a:r>
              <a:rPr kumimoji="1" lang="ko-KR" altLang="en-US" dirty="0" err="1">
                <a:solidFill>
                  <a:schemeClr val="bg1"/>
                </a:solidFill>
                <a:highlight>
                  <a:srgbClr val="000000"/>
                </a:highlight>
              </a:rPr>
              <a:t>영단어</a:t>
            </a:r>
            <a:r>
              <a:rPr kumimoji="1" lang="ko-KR" altLang="en-US" dirty="0">
                <a:solidFill>
                  <a:schemeClr val="bg1"/>
                </a:solidFill>
                <a:highlight>
                  <a:srgbClr val="000000"/>
                </a:highlight>
              </a:rPr>
              <a:t> 게임을 위한 </a:t>
            </a:r>
            <a:endParaRPr kumimoji="1" lang="en-US" altLang="ko-KR" dirty="0">
              <a:solidFill>
                <a:schemeClr val="bg1"/>
              </a:solidFill>
              <a:highlight>
                <a:srgbClr val="000000"/>
              </a:highlight>
            </a:endParaRPr>
          </a:p>
          <a:p>
            <a:pPr algn="ctr"/>
            <a:r>
              <a:rPr kumimoji="1" lang="ko-KR" altLang="en-US" dirty="0">
                <a:solidFill>
                  <a:schemeClr val="bg1"/>
                </a:solidFill>
                <a:highlight>
                  <a:srgbClr val="000000"/>
                </a:highlight>
              </a:rPr>
              <a:t>클래스의 내부 멤버변수</a:t>
            </a:r>
            <a:endParaRPr kumimoji="1" lang="en-US" altLang="ko-KR" dirty="0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22603302-59DE-9B63-4725-334E8A3568AD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85000"/>
          </a:blip>
          <a:stretch>
            <a:fillRect/>
          </a:stretch>
        </p:blipFill>
        <p:spPr>
          <a:xfrm rot="7452093" flipV="1">
            <a:off x="8310676" y="3723430"/>
            <a:ext cx="2617379" cy="64459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3610E43-42A7-76AA-46B2-98D9D07C3AB9}"/>
              </a:ext>
            </a:extLst>
          </p:cNvPr>
          <p:cNvSpPr txBox="1"/>
          <p:nvPr/>
        </p:nvSpPr>
        <p:spPr>
          <a:xfrm>
            <a:off x="8342134" y="2943698"/>
            <a:ext cx="45588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dirty="0">
                <a:solidFill>
                  <a:schemeClr val="bg1"/>
                </a:solidFill>
                <a:highlight>
                  <a:srgbClr val="000000"/>
                </a:highlight>
              </a:rPr>
              <a:t>메모리테스트 클래스 안 </a:t>
            </a:r>
            <a:endParaRPr kumimoji="1" lang="en-US" altLang="ko-KR" dirty="0">
              <a:solidFill>
                <a:schemeClr val="bg1"/>
              </a:solidFill>
              <a:highlight>
                <a:srgbClr val="000000"/>
              </a:highlight>
            </a:endParaRPr>
          </a:p>
          <a:p>
            <a:pPr algn="ctr"/>
            <a:r>
              <a:rPr kumimoji="1" lang="ko-KR" altLang="en-US" dirty="0">
                <a:solidFill>
                  <a:schemeClr val="bg1"/>
                </a:solidFill>
                <a:highlight>
                  <a:srgbClr val="000000"/>
                </a:highlight>
              </a:rPr>
              <a:t>생성자 내용</a:t>
            </a:r>
            <a:endParaRPr kumimoji="1" lang="en-US" altLang="ko-KR" dirty="0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A21594-5EAB-B0B5-0DE5-8DA953AFA4B5}"/>
              </a:ext>
            </a:extLst>
          </p:cNvPr>
          <p:cNvSpPr txBox="1"/>
          <p:nvPr/>
        </p:nvSpPr>
        <p:spPr>
          <a:xfrm>
            <a:off x="2313833" y="189793"/>
            <a:ext cx="3805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나눔고딕 ExtraBold" panose="020D0904000000000000" pitchFamily="50" charset="-127"/>
              </a:rPr>
              <a:t>메모리테스트 클래스</a:t>
            </a:r>
          </a:p>
        </p:txBody>
      </p:sp>
    </p:spTree>
    <p:extLst>
      <p:ext uri="{BB962C8B-B14F-4D97-AF65-F5344CB8AC3E}">
        <p14:creationId xmlns:p14="http://schemas.microsoft.com/office/powerpoint/2010/main" val="3712795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ì¢ì´, ë°°ê²½, ë¹ Paper, ì°¸ê³ , ì°ê¸°, ë­ê°ë¥¼ ì°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741" y="142087"/>
            <a:ext cx="11846225" cy="6601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순서도: 처리 11"/>
          <p:cNvSpPr/>
          <p:nvPr/>
        </p:nvSpPr>
        <p:spPr>
          <a:xfrm>
            <a:off x="401443" y="243770"/>
            <a:ext cx="1683835" cy="476823"/>
          </a:xfrm>
          <a:prstGeom prst="flowChartProcess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497333" y="128239"/>
            <a:ext cx="8098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01</a:t>
            </a:r>
            <a:endParaRPr lang="ko-KR" altLang="en-US" sz="4000" b="1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52" name="순서도: 처리 51"/>
          <p:cNvSpPr/>
          <p:nvPr/>
        </p:nvSpPr>
        <p:spPr>
          <a:xfrm>
            <a:off x="401443" y="951656"/>
            <a:ext cx="1683835" cy="476823"/>
          </a:xfrm>
          <a:prstGeom prst="flowChartProcess">
            <a:avLst/>
          </a:prstGeom>
          <a:solidFill>
            <a:srgbClr val="E85B3B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/>
          <p:cNvSpPr txBox="1"/>
          <p:nvPr/>
        </p:nvSpPr>
        <p:spPr>
          <a:xfrm>
            <a:off x="497333" y="836125"/>
            <a:ext cx="8098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02</a:t>
            </a:r>
            <a:endParaRPr lang="ko-KR" altLang="en-US" sz="4000" b="1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55" name="순서도: 처리 54"/>
          <p:cNvSpPr/>
          <p:nvPr/>
        </p:nvSpPr>
        <p:spPr>
          <a:xfrm>
            <a:off x="401443" y="1659541"/>
            <a:ext cx="1683835" cy="476823"/>
          </a:xfrm>
          <a:prstGeom prst="flowChartProcess">
            <a:avLst/>
          </a:prstGeom>
          <a:solidFill>
            <a:srgbClr val="538BE8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/>
          <p:cNvSpPr txBox="1"/>
          <p:nvPr/>
        </p:nvSpPr>
        <p:spPr>
          <a:xfrm>
            <a:off x="497333" y="1544010"/>
            <a:ext cx="8098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03</a:t>
            </a:r>
            <a:endParaRPr lang="ko-KR" altLang="en-US" sz="4000" b="1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A21594-5EAB-B0B5-0DE5-8DA953AFA4B5}"/>
              </a:ext>
            </a:extLst>
          </p:cNvPr>
          <p:cNvSpPr txBox="1"/>
          <p:nvPr/>
        </p:nvSpPr>
        <p:spPr>
          <a:xfrm>
            <a:off x="2313833" y="189793"/>
            <a:ext cx="3805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나눔고딕 ExtraBold" panose="020D0904000000000000" pitchFamily="50" charset="-127"/>
              </a:rPr>
              <a:t>메모리테스트 클래스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ECEF375-4DB5-DA51-4C50-59F99FF32C6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2181168" y="785863"/>
            <a:ext cx="4043351" cy="5833183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A94C3CD-4057-D99E-95AF-741FF0C121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6015" y="777476"/>
            <a:ext cx="6089803" cy="5833183"/>
          </a:xfrm>
          <a:prstGeom prst="rect">
            <a:avLst/>
          </a:prstGeom>
        </p:spPr>
      </p:pic>
      <p:pic>
        <p:nvPicPr>
          <p:cNvPr id="59" name="그림 5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7388" y="5472834"/>
            <a:ext cx="755970" cy="126807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8D223EA-2D9B-2C15-30BF-B903B277CE3E}"/>
              </a:ext>
            </a:extLst>
          </p:cNvPr>
          <p:cNvSpPr txBox="1"/>
          <p:nvPr/>
        </p:nvSpPr>
        <p:spPr>
          <a:xfrm>
            <a:off x="2648256" y="2136364"/>
            <a:ext cx="3909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dirty="0">
                <a:solidFill>
                  <a:schemeClr val="bg1"/>
                </a:solidFill>
                <a:highlight>
                  <a:srgbClr val="000000"/>
                </a:highlight>
              </a:rPr>
              <a:t>실제 게임 실행을 위한</a:t>
            </a:r>
            <a:endParaRPr kumimoji="1" lang="en-US" altLang="ko-KR" dirty="0">
              <a:solidFill>
                <a:schemeClr val="bg1"/>
              </a:solidFill>
              <a:highlight>
                <a:srgbClr val="000000"/>
              </a:highlight>
            </a:endParaRPr>
          </a:p>
          <a:p>
            <a:pPr algn="ctr"/>
            <a:r>
              <a:rPr kumimoji="1" lang="ko-KR" altLang="en-US" dirty="0">
                <a:solidFill>
                  <a:schemeClr val="bg1"/>
                </a:solidFill>
                <a:highlight>
                  <a:srgbClr val="000000"/>
                </a:highlight>
              </a:rPr>
              <a:t>메서드</a:t>
            </a:r>
            <a:endParaRPr kumimoji="1" lang="en-US" altLang="ko-KR" dirty="0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058857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ì¢ì´, ë°°ê²½, ë¹ Paper, ì°¸ê³ , ì°ê¸°, ë­ê°ë¥¼ ì°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741" y="142087"/>
            <a:ext cx="11846225" cy="6601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순서도: 처리 11"/>
          <p:cNvSpPr/>
          <p:nvPr/>
        </p:nvSpPr>
        <p:spPr>
          <a:xfrm>
            <a:off x="401443" y="243770"/>
            <a:ext cx="1683835" cy="476823"/>
          </a:xfrm>
          <a:prstGeom prst="flowChartProcess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497333" y="128239"/>
            <a:ext cx="8098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01</a:t>
            </a:r>
            <a:endParaRPr lang="ko-KR" altLang="en-US" sz="4000" b="1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52" name="순서도: 처리 51"/>
          <p:cNvSpPr/>
          <p:nvPr/>
        </p:nvSpPr>
        <p:spPr>
          <a:xfrm>
            <a:off x="401443" y="951656"/>
            <a:ext cx="1683835" cy="476823"/>
          </a:xfrm>
          <a:prstGeom prst="flowChartProcess">
            <a:avLst/>
          </a:prstGeom>
          <a:solidFill>
            <a:srgbClr val="E85B3B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/>
          <p:cNvSpPr txBox="1"/>
          <p:nvPr/>
        </p:nvSpPr>
        <p:spPr>
          <a:xfrm>
            <a:off x="497333" y="836125"/>
            <a:ext cx="8098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02</a:t>
            </a:r>
            <a:endParaRPr lang="ko-KR" altLang="en-US" sz="4000" b="1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55" name="순서도: 처리 54"/>
          <p:cNvSpPr/>
          <p:nvPr/>
        </p:nvSpPr>
        <p:spPr>
          <a:xfrm>
            <a:off x="401443" y="1659541"/>
            <a:ext cx="1683835" cy="476823"/>
          </a:xfrm>
          <a:prstGeom prst="flowChartProcess">
            <a:avLst/>
          </a:prstGeom>
          <a:solidFill>
            <a:srgbClr val="538BE8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/>
          <p:cNvSpPr txBox="1"/>
          <p:nvPr/>
        </p:nvSpPr>
        <p:spPr>
          <a:xfrm>
            <a:off x="497333" y="1544010"/>
            <a:ext cx="8098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03</a:t>
            </a:r>
            <a:endParaRPr lang="ko-KR" altLang="en-US" sz="4000" b="1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A21594-5EAB-B0B5-0DE5-8DA953AFA4B5}"/>
              </a:ext>
            </a:extLst>
          </p:cNvPr>
          <p:cNvSpPr txBox="1"/>
          <p:nvPr/>
        </p:nvSpPr>
        <p:spPr>
          <a:xfrm>
            <a:off x="2313833" y="189793"/>
            <a:ext cx="3805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나눔고딕 ExtraBold" panose="020D0904000000000000" pitchFamily="50" charset="-127"/>
              </a:rPr>
              <a:t>인피니티게임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나눔고딕 ExtraBold" panose="020D0904000000000000" pitchFamily="50" charset="-127"/>
              </a:rPr>
              <a:t> 클래스</a:t>
            </a:r>
          </a:p>
        </p:txBody>
      </p:sp>
      <p:pic>
        <p:nvPicPr>
          <p:cNvPr id="59" name="그림 5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7388" y="5472834"/>
            <a:ext cx="755970" cy="126807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82A215A4-48E5-CF12-8CEE-76AF74E930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5278" y="2606461"/>
            <a:ext cx="3519109" cy="366705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1848A6C-C33B-DF30-B93B-EB9C0FCCB3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5545" y="884105"/>
            <a:ext cx="7047621" cy="408020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211DAD6-06F3-D3D0-55D2-8C7B1794F1E1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85000"/>
          </a:blip>
          <a:stretch>
            <a:fillRect/>
          </a:stretch>
        </p:blipFill>
        <p:spPr>
          <a:xfrm rot="13272531">
            <a:off x="6348551" y="4679262"/>
            <a:ext cx="1574631" cy="6547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18F97E8-D7E1-C206-4701-B56630CC19C0}"/>
              </a:ext>
            </a:extLst>
          </p:cNvPr>
          <p:cNvSpPr txBox="1"/>
          <p:nvPr/>
        </p:nvSpPr>
        <p:spPr>
          <a:xfrm>
            <a:off x="6549200" y="5160849"/>
            <a:ext cx="45588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dirty="0">
                <a:solidFill>
                  <a:schemeClr val="bg1"/>
                </a:solidFill>
                <a:highlight>
                  <a:srgbClr val="000000"/>
                </a:highlight>
              </a:rPr>
              <a:t>무한 </a:t>
            </a:r>
            <a:r>
              <a:rPr kumimoji="1" lang="ko-KR" altLang="en-US" dirty="0" err="1">
                <a:solidFill>
                  <a:schemeClr val="bg1"/>
                </a:solidFill>
                <a:highlight>
                  <a:srgbClr val="000000"/>
                </a:highlight>
              </a:rPr>
              <a:t>영단어</a:t>
            </a:r>
            <a:r>
              <a:rPr kumimoji="1" lang="ko-KR" altLang="en-US" dirty="0">
                <a:solidFill>
                  <a:schemeClr val="bg1"/>
                </a:solidFill>
                <a:highlight>
                  <a:srgbClr val="000000"/>
                </a:highlight>
              </a:rPr>
              <a:t> 깨기 게임</a:t>
            </a:r>
            <a:endParaRPr kumimoji="1" lang="en-US" altLang="ko-KR" dirty="0">
              <a:solidFill>
                <a:schemeClr val="bg1"/>
              </a:solidFill>
              <a:highlight>
                <a:srgbClr val="000000"/>
              </a:highlight>
            </a:endParaRPr>
          </a:p>
          <a:p>
            <a:pPr algn="ctr"/>
            <a:r>
              <a:rPr kumimoji="1" lang="ko-KR" altLang="en-US" dirty="0">
                <a:solidFill>
                  <a:schemeClr val="bg1"/>
                </a:solidFill>
                <a:highlight>
                  <a:srgbClr val="000000"/>
                </a:highlight>
              </a:rPr>
              <a:t>생성자 내용</a:t>
            </a:r>
            <a:endParaRPr kumimoji="1" lang="en-US" altLang="ko-KR" dirty="0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0D3DA85-0FB9-F067-D0E6-7E42B61A82B0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85000"/>
          </a:blip>
          <a:stretch>
            <a:fillRect/>
          </a:stretch>
        </p:blipFill>
        <p:spPr>
          <a:xfrm rot="7452093" flipV="1">
            <a:off x="2004548" y="1986771"/>
            <a:ext cx="1311271" cy="4990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A4C3E60-41E8-706A-2B10-9F2362F1E958}"/>
              </a:ext>
            </a:extLst>
          </p:cNvPr>
          <p:cNvSpPr txBox="1"/>
          <p:nvPr/>
        </p:nvSpPr>
        <p:spPr>
          <a:xfrm>
            <a:off x="1243360" y="1394528"/>
            <a:ext cx="45588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dirty="0" err="1">
                <a:solidFill>
                  <a:schemeClr val="bg1"/>
                </a:solidFill>
                <a:highlight>
                  <a:srgbClr val="000000"/>
                </a:highlight>
              </a:rPr>
              <a:t>인피니티게임</a:t>
            </a:r>
            <a:r>
              <a:rPr kumimoji="1" lang="ko-KR" altLang="en-US" dirty="0">
                <a:solidFill>
                  <a:schemeClr val="bg1"/>
                </a:solidFill>
                <a:highlight>
                  <a:srgbClr val="000000"/>
                </a:highlight>
              </a:rPr>
              <a:t> 클래스의</a:t>
            </a:r>
            <a:endParaRPr kumimoji="1" lang="en-US" altLang="ko-KR" dirty="0">
              <a:solidFill>
                <a:schemeClr val="bg1"/>
              </a:solidFill>
              <a:highlight>
                <a:srgbClr val="000000"/>
              </a:highlight>
            </a:endParaRPr>
          </a:p>
          <a:p>
            <a:pPr algn="ctr"/>
            <a:r>
              <a:rPr kumimoji="1" lang="ko-KR" altLang="en-US" dirty="0">
                <a:solidFill>
                  <a:schemeClr val="bg1"/>
                </a:solidFill>
                <a:highlight>
                  <a:srgbClr val="000000"/>
                </a:highlight>
              </a:rPr>
              <a:t>멤버변수</a:t>
            </a:r>
            <a:endParaRPr kumimoji="1" lang="en-US" altLang="ko-KR" dirty="0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685303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ì¢ì´, ë°°ê²½, ë¹ Paper, ì°¸ê³ , ì°ê¸°, ë­ê°ë¥¼ ì°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125" y="139390"/>
            <a:ext cx="11846225" cy="6601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순서도: 처리 11"/>
          <p:cNvSpPr/>
          <p:nvPr/>
        </p:nvSpPr>
        <p:spPr>
          <a:xfrm>
            <a:off x="401443" y="243770"/>
            <a:ext cx="1683835" cy="476823"/>
          </a:xfrm>
          <a:prstGeom prst="flowChartProcess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497333" y="128239"/>
            <a:ext cx="8098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01</a:t>
            </a:r>
            <a:endParaRPr lang="ko-KR" altLang="en-US" sz="4000" b="1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52" name="순서도: 처리 51"/>
          <p:cNvSpPr/>
          <p:nvPr/>
        </p:nvSpPr>
        <p:spPr>
          <a:xfrm>
            <a:off x="401443" y="951656"/>
            <a:ext cx="1683835" cy="476823"/>
          </a:xfrm>
          <a:prstGeom prst="flowChartProcess">
            <a:avLst/>
          </a:prstGeom>
          <a:solidFill>
            <a:srgbClr val="E85B3B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/>
          <p:cNvSpPr txBox="1"/>
          <p:nvPr/>
        </p:nvSpPr>
        <p:spPr>
          <a:xfrm>
            <a:off x="497333" y="836125"/>
            <a:ext cx="8098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02</a:t>
            </a:r>
            <a:endParaRPr lang="ko-KR" altLang="en-US" sz="4000" b="1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55" name="순서도: 처리 54"/>
          <p:cNvSpPr/>
          <p:nvPr/>
        </p:nvSpPr>
        <p:spPr>
          <a:xfrm>
            <a:off x="401443" y="1659541"/>
            <a:ext cx="1683835" cy="476823"/>
          </a:xfrm>
          <a:prstGeom prst="flowChartProcess">
            <a:avLst/>
          </a:prstGeom>
          <a:solidFill>
            <a:srgbClr val="538BE8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/>
          <p:cNvSpPr txBox="1"/>
          <p:nvPr/>
        </p:nvSpPr>
        <p:spPr>
          <a:xfrm>
            <a:off x="497333" y="1544010"/>
            <a:ext cx="8098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03</a:t>
            </a:r>
            <a:endParaRPr lang="ko-KR" altLang="en-US" sz="4000" b="1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A21594-5EAB-B0B5-0DE5-8DA953AFA4B5}"/>
              </a:ext>
            </a:extLst>
          </p:cNvPr>
          <p:cNvSpPr txBox="1"/>
          <p:nvPr/>
        </p:nvSpPr>
        <p:spPr>
          <a:xfrm>
            <a:off x="2313833" y="189793"/>
            <a:ext cx="3805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나눔고딕 ExtraBold" panose="020D0904000000000000" pitchFamily="50" charset="-127"/>
              </a:rPr>
              <a:t>인피니티게임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나눔고딕 ExtraBold" panose="020D0904000000000000" pitchFamily="50" charset="-127"/>
              </a:rPr>
              <a:t> 클래스</a:t>
            </a:r>
          </a:p>
        </p:txBody>
      </p:sp>
      <p:pic>
        <p:nvPicPr>
          <p:cNvPr id="59" name="그림 5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7388" y="5472834"/>
            <a:ext cx="755970" cy="126807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01DD5F1-4E17-2081-ECFF-1E7E24268E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653" y="853626"/>
            <a:ext cx="6887018" cy="350795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ED7D59E-8AAA-07E2-50F7-D3C702380D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7134" y="4440643"/>
            <a:ext cx="5648671" cy="1726022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8A8B3C59-BDFF-6018-F835-ABC25E7E14F1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85000"/>
          </a:blip>
          <a:stretch>
            <a:fillRect/>
          </a:stretch>
        </p:blipFill>
        <p:spPr>
          <a:xfrm rot="9839525">
            <a:off x="6934803" y="5362767"/>
            <a:ext cx="2205293" cy="7444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896CBF1-9C5C-03AE-65C0-E624C0315809}"/>
              </a:ext>
            </a:extLst>
          </p:cNvPr>
          <p:cNvSpPr txBox="1"/>
          <p:nvPr/>
        </p:nvSpPr>
        <p:spPr>
          <a:xfrm>
            <a:off x="7201709" y="5048069"/>
            <a:ext cx="4558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dirty="0" err="1">
                <a:solidFill>
                  <a:schemeClr val="bg1"/>
                </a:solidFill>
                <a:highlight>
                  <a:srgbClr val="000000"/>
                </a:highlight>
              </a:rPr>
              <a:t>보드판</a:t>
            </a:r>
            <a:r>
              <a:rPr kumimoji="1" lang="ko-KR" altLang="en-US" dirty="0">
                <a:solidFill>
                  <a:schemeClr val="bg1"/>
                </a:solidFill>
                <a:highlight>
                  <a:srgbClr val="000000"/>
                </a:highlight>
              </a:rPr>
              <a:t> 먼저 생성</a:t>
            </a:r>
            <a:endParaRPr kumimoji="1" lang="en-US" altLang="ko-KR" dirty="0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023B0A53-F6AF-4DCE-E128-88499FE5AF00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85000"/>
          </a:blip>
          <a:stretch>
            <a:fillRect/>
          </a:stretch>
        </p:blipFill>
        <p:spPr>
          <a:xfrm rot="9559646">
            <a:off x="7709162" y="3406549"/>
            <a:ext cx="2205293" cy="7444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5362BE4-6B7F-1DEC-1A87-32D78A2FDF0D}"/>
              </a:ext>
            </a:extLst>
          </p:cNvPr>
          <p:cNvSpPr txBox="1"/>
          <p:nvPr/>
        </p:nvSpPr>
        <p:spPr>
          <a:xfrm>
            <a:off x="7735739" y="2030775"/>
            <a:ext cx="455883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dirty="0">
                <a:solidFill>
                  <a:schemeClr val="bg1"/>
                </a:solidFill>
                <a:highlight>
                  <a:srgbClr val="000000"/>
                </a:highlight>
              </a:rPr>
              <a:t>사용자 문제 </a:t>
            </a:r>
            <a:r>
              <a:rPr kumimoji="1" lang="ko-KR" altLang="en-US" dirty="0" err="1">
                <a:solidFill>
                  <a:schemeClr val="bg1"/>
                </a:solidFill>
                <a:highlight>
                  <a:srgbClr val="000000"/>
                </a:highlight>
              </a:rPr>
              <a:t>정답시</a:t>
            </a:r>
            <a:endParaRPr kumimoji="1" lang="en-US" altLang="ko-KR" dirty="0">
              <a:solidFill>
                <a:schemeClr val="bg1"/>
              </a:solidFill>
              <a:highlight>
                <a:srgbClr val="000000"/>
              </a:highlight>
            </a:endParaRPr>
          </a:p>
          <a:p>
            <a:pPr algn="ctr"/>
            <a:r>
              <a:rPr kumimoji="1" lang="ko-KR" altLang="en-US" dirty="0">
                <a:solidFill>
                  <a:schemeClr val="bg1"/>
                </a:solidFill>
                <a:highlight>
                  <a:srgbClr val="000000"/>
                </a:highlight>
              </a:rPr>
              <a:t>없어진 문자 자리에</a:t>
            </a:r>
            <a:r>
              <a:rPr kumimoji="1" lang="en-US" altLang="ko-KR" dirty="0">
                <a:solidFill>
                  <a:schemeClr val="bg1"/>
                </a:solidFill>
                <a:highlight>
                  <a:srgbClr val="000000"/>
                </a:highlight>
              </a:rPr>
              <a:t> String</a:t>
            </a:r>
            <a:r>
              <a:rPr kumimoji="1" lang="ko-KR" altLang="en-US" dirty="0">
                <a:solidFill>
                  <a:schemeClr val="bg1"/>
                </a:solidFill>
                <a:highlight>
                  <a:srgbClr val="000000"/>
                </a:highlight>
              </a:rPr>
              <a:t> 자료형</a:t>
            </a:r>
            <a:endParaRPr kumimoji="1" lang="en-US" altLang="ko-KR" dirty="0">
              <a:solidFill>
                <a:schemeClr val="bg1"/>
              </a:solidFill>
              <a:highlight>
                <a:srgbClr val="000000"/>
              </a:highlight>
            </a:endParaRPr>
          </a:p>
          <a:p>
            <a:pPr algn="ctr"/>
            <a:r>
              <a:rPr kumimoji="1" lang="en-US" altLang="ko-KR" dirty="0">
                <a:solidFill>
                  <a:schemeClr val="bg1"/>
                </a:solidFill>
                <a:highlight>
                  <a:srgbClr val="000000"/>
                </a:highlight>
              </a:rPr>
              <a:t>null</a:t>
            </a:r>
            <a:r>
              <a:rPr kumimoji="1" lang="ko-KR" altLang="en-US" dirty="0">
                <a:solidFill>
                  <a:schemeClr val="bg1"/>
                </a:solidFill>
                <a:highlight>
                  <a:srgbClr val="000000"/>
                </a:highlight>
              </a:rPr>
              <a:t> 이 </a:t>
            </a:r>
            <a:r>
              <a:rPr kumimoji="1" lang="ko-KR" altLang="en-US" dirty="0" err="1">
                <a:solidFill>
                  <a:schemeClr val="bg1"/>
                </a:solidFill>
                <a:highlight>
                  <a:srgbClr val="000000"/>
                </a:highlight>
              </a:rPr>
              <a:t>들어가있는걸</a:t>
            </a:r>
            <a:r>
              <a:rPr kumimoji="1" lang="ko-KR" altLang="en-US" dirty="0">
                <a:solidFill>
                  <a:schemeClr val="bg1"/>
                </a:solidFill>
                <a:highlight>
                  <a:srgbClr val="000000"/>
                </a:highlight>
              </a:rPr>
              <a:t> 탐색</a:t>
            </a:r>
            <a:endParaRPr kumimoji="1" lang="en-US" altLang="ko-KR" dirty="0">
              <a:solidFill>
                <a:schemeClr val="bg1"/>
              </a:solidFill>
              <a:highlight>
                <a:srgbClr val="000000"/>
              </a:highlight>
            </a:endParaRPr>
          </a:p>
          <a:p>
            <a:pPr algn="ctr"/>
            <a:r>
              <a:rPr kumimoji="1" lang="en-US" altLang="ko-KR" dirty="0">
                <a:solidFill>
                  <a:schemeClr val="bg1"/>
                </a:solidFill>
                <a:highlight>
                  <a:srgbClr val="000000"/>
                </a:highlight>
              </a:rPr>
              <a:t>null</a:t>
            </a:r>
            <a:r>
              <a:rPr kumimoji="1" lang="ko-KR" altLang="en-US" dirty="0">
                <a:solidFill>
                  <a:schemeClr val="bg1"/>
                </a:solidFill>
                <a:highlight>
                  <a:srgbClr val="000000"/>
                </a:highlight>
              </a:rPr>
              <a:t>이 </a:t>
            </a:r>
            <a:r>
              <a:rPr kumimoji="1" lang="ko-KR" altLang="en-US" dirty="0" err="1">
                <a:solidFill>
                  <a:schemeClr val="bg1"/>
                </a:solidFill>
                <a:highlight>
                  <a:srgbClr val="000000"/>
                </a:highlight>
              </a:rPr>
              <a:t>맞다면</a:t>
            </a:r>
            <a:r>
              <a:rPr kumimoji="1" lang="ko-KR" altLang="en-US" dirty="0">
                <a:solidFill>
                  <a:schemeClr val="bg1"/>
                </a:solidFill>
                <a:highlight>
                  <a:srgbClr val="000000"/>
                </a:highlight>
              </a:rPr>
              <a:t> 랜덤 영단어를</a:t>
            </a:r>
            <a:endParaRPr kumimoji="1" lang="en-US" altLang="ko-KR" dirty="0">
              <a:solidFill>
                <a:schemeClr val="bg1"/>
              </a:solidFill>
              <a:highlight>
                <a:srgbClr val="000000"/>
              </a:highlight>
            </a:endParaRPr>
          </a:p>
          <a:p>
            <a:pPr algn="ctr"/>
            <a:r>
              <a:rPr kumimoji="1" lang="ko-KR" altLang="en-US" dirty="0">
                <a:solidFill>
                  <a:schemeClr val="bg1"/>
                </a:solidFill>
                <a:highlight>
                  <a:srgbClr val="000000"/>
                </a:highlight>
              </a:rPr>
              <a:t>대입시키는 메서드</a:t>
            </a:r>
            <a:endParaRPr kumimoji="1" lang="en-US" altLang="ko-KR" dirty="0">
              <a:solidFill>
                <a:schemeClr val="bg1"/>
              </a:solidFill>
              <a:highlight>
                <a:srgbClr val="000000"/>
              </a:highlight>
            </a:endParaRPr>
          </a:p>
          <a:p>
            <a:pPr algn="ctr"/>
            <a:endParaRPr kumimoji="1" lang="en-US" altLang="ko-KR" dirty="0">
              <a:solidFill>
                <a:schemeClr val="bg1"/>
              </a:solidFill>
              <a:highlight>
                <a:srgbClr val="000000"/>
              </a:highlight>
            </a:endParaRPr>
          </a:p>
          <a:p>
            <a:pPr algn="ctr"/>
            <a:endParaRPr kumimoji="1" lang="en-US" altLang="ko-KR" dirty="0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8344495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ì¢ì´, ë°°ê²½, ë¹ Paper, ì°¸ê³ , ì°ê¸°, ë­ê°ë¥¼ ì°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125" y="139390"/>
            <a:ext cx="11846225" cy="6601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순서도: 처리 11"/>
          <p:cNvSpPr/>
          <p:nvPr/>
        </p:nvSpPr>
        <p:spPr>
          <a:xfrm>
            <a:off x="401443" y="243770"/>
            <a:ext cx="1683835" cy="476823"/>
          </a:xfrm>
          <a:prstGeom prst="flowChartProcess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497333" y="128239"/>
            <a:ext cx="8098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01</a:t>
            </a:r>
            <a:endParaRPr lang="ko-KR" altLang="en-US" sz="4000" b="1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52" name="순서도: 처리 51"/>
          <p:cNvSpPr/>
          <p:nvPr/>
        </p:nvSpPr>
        <p:spPr>
          <a:xfrm>
            <a:off x="401443" y="951656"/>
            <a:ext cx="1683835" cy="476823"/>
          </a:xfrm>
          <a:prstGeom prst="flowChartProcess">
            <a:avLst/>
          </a:prstGeom>
          <a:solidFill>
            <a:srgbClr val="E85B3B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/>
          <p:cNvSpPr txBox="1"/>
          <p:nvPr/>
        </p:nvSpPr>
        <p:spPr>
          <a:xfrm>
            <a:off x="497333" y="836125"/>
            <a:ext cx="8098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02</a:t>
            </a:r>
            <a:endParaRPr lang="ko-KR" altLang="en-US" sz="4000" b="1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55" name="순서도: 처리 54"/>
          <p:cNvSpPr/>
          <p:nvPr/>
        </p:nvSpPr>
        <p:spPr>
          <a:xfrm>
            <a:off x="401443" y="1659541"/>
            <a:ext cx="1683835" cy="476823"/>
          </a:xfrm>
          <a:prstGeom prst="flowChartProcess">
            <a:avLst/>
          </a:prstGeom>
          <a:solidFill>
            <a:srgbClr val="538BE8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/>
          <p:cNvSpPr txBox="1"/>
          <p:nvPr/>
        </p:nvSpPr>
        <p:spPr>
          <a:xfrm>
            <a:off x="497333" y="1544010"/>
            <a:ext cx="8098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03</a:t>
            </a:r>
            <a:endParaRPr lang="ko-KR" altLang="en-US" sz="4000" b="1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A21594-5EAB-B0B5-0DE5-8DA953AFA4B5}"/>
              </a:ext>
            </a:extLst>
          </p:cNvPr>
          <p:cNvSpPr txBox="1"/>
          <p:nvPr/>
        </p:nvSpPr>
        <p:spPr>
          <a:xfrm>
            <a:off x="2313833" y="189793"/>
            <a:ext cx="3805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나눔고딕 ExtraBold" panose="020D0904000000000000" pitchFamily="50" charset="-127"/>
              </a:rPr>
              <a:t>인피니티게임</a:t>
            </a:r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나눔고딕 ExtraBold" panose="020D0904000000000000" pitchFamily="50" charset="-127"/>
              </a:rPr>
              <a:t> 클래스</a:t>
            </a:r>
          </a:p>
        </p:txBody>
      </p:sp>
      <p:pic>
        <p:nvPicPr>
          <p:cNvPr id="59" name="그림 5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7388" y="5472834"/>
            <a:ext cx="755970" cy="1268078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612F70E-1316-85A5-86C3-6237D1E89E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9876" y="824971"/>
            <a:ext cx="5351466" cy="543813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C5A9969F-749C-AF8E-35B1-C8E8F544CF39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85000"/>
          </a:blip>
          <a:stretch>
            <a:fillRect/>
          </a:stretch>
        </p:blipFill>
        <p:spPr>
          <a:xfrm rot="9839525">
            <a:off x="6765301" y="4193128"/>
            <a:ext cx="2205293" cy="7444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854F5CF-9805-BDB9-BF37-24834CB7A3AA}"/>
              </a:ext>
            </a:extLst>
          </p:cNvPr>
          <p:cNvSpPr txBox="1"/>
          <p:nvPr/>
        </p:nvSpPr>
        <p:spPr>
          <a:xfrm>
            <a:off x="7456827" y="1897952"/>
            <a:ext cx="455883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dirty="0">
                <a:solidFill>
                  <a:schemeClr val="bg1"/>
                </a:solidFill>
                <a:highlight>
                  <a:srgbClr val="000000"/>
                </a:highlight>
              </a:rPr>
              <a:t>사용자가 키보드에 문자를 </a:t>
            </a:r>
            <a:r>
              <a:rPr kumimoji="1" lang="ko-KR" altLang="en-US" dirty="0" err="1">
                <a:solidFill>
                  <a:schemeClr val="bg1"/>
                </a:solidFill>
                <a:highlight>
                  <a:srgbClr val="000000"/>
                </a:highlight>
              </a:rPr>
              <a:t>입력시</a:t>
            </a:r>
            <a:endParaRPr kumimoji="1" lang="en-US" altLang="ko-KR" dirty="0">
              <a:solidFill>
                <a:schemeClr val="bg1"/>
              </a:solidFill>
              <a:highlight>
                <a:srgbClr val="000000"/>
              </a:highlight>
            </a:endParaRPr>
          </a:p>
          <a:p>
            <a:pPr algn="ctr"/>
            <a:r>
              <a:rPr kumimoji="1" lang="en-US" altLang="ko-KR" dirty="0">
                <a:solidFill>
                  <a:schemeClr val="bg1"/>
                </a:solidFill>
                <a:highlight>
                  <a:srgbClr val="000000"/>
                </a:highlight>
              </a:rPr>
              <a:t>q</a:t>
            </a:r>
            <a:r>
              <a:rPr kumimoji="1" lang="ko-KR" altLang="en-US" dirty="0" err="1">
                <a:solidFill>
                  <a:schemeClr val="bg1"/>
                </a:solidFill>
                <a:highlight>
                  <a:srgbClr val="000000"/>
                </a:highlight>
              </a:rPr>
              <a:t>를</a:t>
            </a:r>
            <a:r>
              <a:rPr kumimoji="1" lang="ko-KR" altLang="en-US" dirty="0">
                <a:solidFill>
                  <a:schemeClr val="bg1"/>
                </a:solidFill>
                <a:highlight>
                  <a:srgbClr val="000000"/>
                </a:highlight>
              </a:rPr>
              <a:t> 입력한 것 인지 판단하고</a:t>
            </a:r>
            <a:endParaRPr kumimoji="1" lang="en-US" altLang="ko-KR" dirty="0">
              <a:solidFill>
                <a:schemeClr val="bg1"/>
              </a:solidFill>
              <a:highlight>
                <a:srgbClr val="000000"/>
              </a:highlight>
            </a:endParaRPr>
          </a:p>
          <a:p>
            <a:pPr algn="ctr"/>
            <a:r>
              <a:rPr kumimoji="1" lang="en-US" altLang="ko-KR" dirty="0">
                <a:solidFill>
                  <a:schemeClr val="bg1"/>
                </a:solidFill>
                <a:highlight>
                  <a:srgbClr val="000000"/>
                </a:highlight>
              </a:rPr>
              <a:t>q</a:t>
            </a:r>
            <a:r>
              <a:rPr kumimoji="1" lang="ko-KR" altLang="en-US" dirty="0">
                <a:solidFill>
                  <a:schemeClr val="bg1"/>
                </a:solidFill>
                <a:highlight>
                  <a:srgbClr val="000000"/>
                </a:highlight>
              </a:rPr>
              <a:t>가 </a:t>
            </a:r>
            <a:r>
              <a:rPr kumimoji="1" lang="ko-KR" altLang="en-US" dirty="0" err="1">
                <a:solidFill>
                  <a:schemeClr val="bg1"/>
                </a:solidFill>
                <a:highlight>
                  <a:srgbClr val="000000"/>
                </a:highlight>
              </a:rPr>
              <a:t>아닌경우</a:t>
            </a:r>
            <a:endParaRPr kumimoji="1" lang="en-US" altLang="ko-KR" dirty="0">
              <a:solidFill>
                <a:schemeClr val="bg1"/>
              </a:solidFill>
              <a:highlight>
                <a:srgbClr val="000000"/>
              </a:highlight>
            </a:endParaRPr>
          </a:p>
          <a:p>
            <a:pPr algn="ctr"/>
            <a:r>
              <a:rPr kumimoji="1" lang="ko-KR" altLang="en-US" dirty="0">
                <a:solidFill>
                  <a:schemeClr val="bg1"/>
                </a:solidFill>
                <a:highlight>
                  <a:srgbClr val="000000"/>
                </a:highlight>
              </a:rPr>
              <a:t>동일 문자를 입력 한 것인지 아닌지</a:t>
            </a:r>
            <a:endParaRPr kumimoji="1" lang="en-US" altLang="ko-KR" dirty="0">
              <a:solidFill>
                <a:schemeClr val="bg1"/>
              </a:solidFill>
              <a:highlight>
                <a:srgbClr val="000000"/>
              </a:highlight>
            </a:endParaRPr>
          </a:p>
          <a:p>
            <a:pPr algn="ctr"/>
            <a:r>
              <a:rPr kumimoji="1" lang="ko-KR" altLang="en-US" dirty="0">
                <a:solidFill>
                  <a:schemeClr val="bg1"/>
                </a:solidFill>
                <a:highlight>
                  <a:srgbClr val="000000"/>
                </a:highlight>
              </a:rPr>
              <a:t>비교하여 정답과 오답 처리를 하는 메서드</a:t>
            </a:r>
            <a:endParaRPr kumimoji="1" lang="en-US" altLang="ko-KR" dirty="0">
              <a:solidFill>
                <a:schemeClr val="bg1"/>
              </a:solidFill>
              <a:highlight>
                <a:srgbClr val="000000"/>
              </a:highlight>
            </a:endParaRPr>
          </a:p>
          <a:p>
            <a:pPr algn="ctr"/>
            <a:endParaRPr kumimoji="1" lang="en-US" altLang="ko-KR" dirty="0">
              <a:solidFill>
                <a:schemeClr val="bg1"/>
              </a:solidFill>
              <a:highlight>
                <a:srgbClr val="000000"/>
              </a:highlight>
            </a:endParaRPr>
          </a:p>
          <a:p>
            <a:pPr algn="ctr"/>
            <a:r>
              <a:rPr kumimoji="1" lang="ko-KR" altLang="en-US" dirty="0">
                <a:solidFill>
                  <a:schemeClr val="bg1"/>
                </a:solidFill>
                <a:highlight>
                  <a:srgbClr val="000000"/>
                </a:highlight>
              </a:rPr>
              <a:t>추가로</a:t>
            </a:r>
            <a:endParaRPr kumimoji="1" lang="en-US" altLang="ko-KR" dirty="0">
              <a:solidFill>
                <a:schemeClr val="bg1"/>
              </a:solidFill>
              <a:highlight>
                <a:srgbClr val="000000"/>
              </a:highlight>
            </a:endParaRPr>
          </a:p>
          <a:p>
            <a:pPr algn="ctr"/>
            <a:r>
              <a:rPr kumimoji="1" lang="en-US" altLang="ko-KR" dirty="0">
                <a:solidFill>
                  <a:schemeClr val="bg1"/>
                </a:solidFill>
                <a:highlight>
                  <a:srgbClr val="000000"/>
                </a:highlight>
              </a:rPr>
              <a:t>String </a:t>
            </a:r>
            <a:r>
              <a:rPr kumimoji="1" lang="ko-KR" altLang="en-US" dirty="0">
                <a:solidFill>
                  <a:schemeClr val="bg1"/>
                </a:solidFill>
                <a:highlight>
                  <a:srgbClr val="000000"/>
                </a:highlight>
              </a:rPr>
              <a:t>자료형의 </a:t>
            </a:r>
            <a:r>
              <a:rPr kumimoji="1" lang="en-US" altLang="ko-KR" dirty="0">
                <a:solidFill>
                  <a:schemeClr val="bg1"/>
                </a:solidFill>
                <a:highlight>
                  <a:srgbClr val="000000"/>
                </a:highlight>
              </a:rPr>
              <a:t>null </a:t>
            </a:r>
            <a:r>
              <a:rPr kumimoji="1" lang="ko-KR" altLang="en-US" dirty="0">
                <a:solidFill>
                  <a:schemeClr val="bg1"/>
                </a:solidFill>
                <a:highlight>
                  <a:srgbClr val="000000"/>
                </a:highlight>
              </a:rPr>
              <a:t>문자가 있는지</a:t>
            </a:r>
            <a:endParaRPr kumimoji="1" lang="en-US" altLang="ko-KR" dirty="0">
              <a:solidFill>
                <a:schemeClr val="bg1"/>
              </a:solidFill>
              <a:highlight>
                <a:srgbClr val="000000"/>
              </a:highlight>
            </a:endParaRPr>
          </a:p>
          <a:p>
            <a:pPr algn="ctr"/>
            <a:r>
              <a:rPr kumimoji="1" lang="ko-KR" altLang="en-US" dirty="0">
                <a:solidFill>
                  <a:schemeClr val="bg1"/>
                </a:solidFill>
                <a:highlight>
                  <a:srgbClr val="000000"/>
                </a:highlight>
              </a:rPr>
              <a:t>탐색을 한 뒤 </a:t>
            </a:r>
            <a:r>
              <a:rPr kumimoji="1" lang="en-US" altLang="ko-KR" dirty="0">
                <a:solidFill>
                  <a:schemeClr val="bg1"/>
                </a:solidFill>
                <a:highlight>
                  <a:srgbClr val="000000"/>
                </a:highlight>
              </a:rPr>
              <a:t>null</a:t>
            </a:r>
            <a:r>
              <a:rPr kumimoji="1" lang="ko-KR" altLang="en-US" dirty="0">
                <a:solidFill>
                  <a:schemeClr val="bg1"/>
                </a:solidFill>
                <a:highlight>
                  <a:srgbClr val="000000"/>
                </a:highlight>
              </a:rPr>
              <a:t>문자를</a:t>
            </a:r>
            <a:endParaRPr kumimoji="1" lang="en-US" altLang="ko-KR" dirty="0">
              <a:solidFill>
                <a:schemeClr val="bg1"/>
              </a:solidFill>
              <a:highlight>
                <a:srgbClr val="000000"/>
              </a:highlight>
            </a:endParaRPr>
          </a:p>
          <a:p>
            <a:pPr algn="ctr"/>
            <a:r>
              <a:rPr kumimoji="1" lang="ko-KR" altLang="en-US" dirty="0">
                <a:solidFill>
                  <a:schemeClr val="bg1"/>
                </a:solidFill>
                <a:highlight>
                  <a:srgbClr val="000000"/>
                </a:highlight>
              </a:rPr>
              <a:t>가장 맨 위 행으로 올린다</a:t>
            </a:r>
            <a:endParaRPr kumimoji="1" lang="en-US" altLang="ko-KR" dirty="0">
              <a:solidFill>
                <a:schemeClr val="bg1"/>
              </a:solidFill>
              <a:highlight>
                <a:srgbClr val="000000"/>
              </a:highlight>
            </a:endParaRPr>
          </a:p>
          <a:p>
            <a:pPr algn="ctr"/>
            <a:endParaRPr kumimoji="1" lang="en-US" altLang="ko-KR" dirty="0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88689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ì¢ì´, ë°°ê²½, ë¹ Paper, ì°¸ê³ , ì°ê¸°, ë­ê°ë¥¼ ì°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888" y="128239"/>
            <a:ext cx="11846225" cy="6601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순서도: 처리 11"/>
          <p:cNvSpPr/>
          <p:nvPr/>
        </p:nvSpPr>
        <p:spPr>
          <a:xfrm>
            <a:off x="401443" y="243770"/>
            <a:ext cx="1683835" cy="476823"/>
          </a:xfrm>
          <a:prstGeom prst="flowChartProcess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497333" y="128239"/>
            <a:ext cx="8098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01</a:t>
            </a:r>
            <a:endParaRPr lang="ko-KR" altLang="en-US" sz="4000" b="1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52" name="순서도: 처리 51"/>
          <p:cNvSpPr/>
          <p:nvPr/>
        </p:nvSpPr>
        <p:spPr>
          <a:xfrm>
            <a:off x="401443" y="951656"/>
            <a:ext cx="1683835" cy="476823"/>
          </a:xfrm>
          <a:prstGeom prst="flowChartProcess">
            <a:avLst/>
          </a:prstGeom>
          <a:solidFill>
            <a:srgbClr val="E85B3B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/>
          <p:cNvSpPr txBox="1"/>
          <p:nvPr/>
        </p:nvSpPr>
        <p:spPr>
          <a:xfrm>
            <a:off x="497333" y="836125"/>
            <a:ext cx="8098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02</a:t>
            </a:r>
            <a:endParaRPr lang="ko-KR" altLang="en-US" sz="4000" b="1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55" name="순서도: 처리 54"/>
          <p:cNvSpPr/>
          <p:nvPr/>
        </p:nvSpPr>
        <p:spPr>
          <a:xfrm>
            <a:off x="401443" y="1659541"/>
            <a:ext cx="1683835" cy="476823"/>
          </a:xfrm>
          <a:prstGeom prst="flowChartProcess">
            <a:avLst/>
          </a:prstGeom>
          <a:solidFill>
            <a:srgbClr val="538BE8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/>
          <p:cNvSpPr txBox="1"/>
          <p:nvPr/>
        </p:nvSpPr>
        <p:spPr>
          <a:xfrm>
            <a:off x="497333" y="1544010"/>
            <a:ext cx="8098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03</a:t>
            </a:r>
            <a:endParaRPr lang="ko-KR" altLang="en-US" sz="4000" b="1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57" name="순서도: 처리 56"/>
          <p:cNvSpPr/>
          <p:nvPr/>
        </p:nvSpPr>
        <p:spPr>
          <a:xfrm>
            <a:off x="401443" y="2367425"/>
            <a:ext cx="1683835" cy="476823"/>
          </a:xfrm>
          <a:prstGeom prst="flowChartProcess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TextBox 57"/>
          <p:cNvSpPr txBox="1"/>
          <p:nvPr/>
        </p:nvSpPr>
        <p:spPr>
          <a:xfrm>
            <a:off x="497333" y="2251894"/>
            <a:ext cx="8098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04</a:t>
            </a:r>
            <a:endParaRPr lang="ko-KR" altLang="en-US" sz="4000" b="1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BA9B93-CA03-E1C5-F283-4811C8EDAB0E}"/>
              </a:ext>
            </a:extLst>
          </p:cNvPr>
          <p:cNvSpPr txBox="1"/>
          <p:nvPr/>
        </p:nvSpPr>
        <p:spPr>
          <a:xfrm>
            <a:off x="2313833" y="189793"/>
            <a:ext cx="18742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나눔고딕 ExtraBold" panose="020D0904000000000000" pitchFamily="50" charset="-127"/>
              </a:rPr>
              <a:t>구현 화면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5BE14A1-4AE2-A3E4-E0AC-63EC6D459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3833" y="951656"/>
            <a:ext cx="8972185" cy="4890053"/>
          </a:xfrm>
          <a:prstGeom prst="rect">
            <a:avLst/>
          </a:prstGeom>
        </p:spPr>
      </p:pic>
      <p:pic>
        <p:nvPicPr>
          <p:cNvPr id="59" name="그림 5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7388" y="5472834"/>
            <a:ext cx="755970" cy="1268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6314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ì¢ì´, ë°°ê²½, ë¹ Paper, ì°¸ê³ , ì°ê¸°, ë­ê°ë¥¼ ì°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888" y="128239"/>
            <a:ext cx="11846225" cy="6601522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alpha val="86161"/>
              </a:schemeClr>
            </a:solidFill>
          </a:ln>
        </p:spPr>
      </p:pic>
      <p:sp>
        <p:nvSpPr>
          <p:cNvPr id="12" name="순서도: 처리 11"/>
          <p:cNvSpPr/>
          <p:nvPr/>
        </p:nvSpPr>
        <p:spPr>
          <a:xfrm>
            <a:off x="401443" y="243770"/>
            <a:ext cx="1683835" cy="476823"/>
          </a:xfrm>
          <a:prstGeom prst="flowChartProcess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497333" y="128239"/>
            <a:ext cx="8098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01</a:t>
            </a:r>
            <a:endParaRPr lang="ko-KR" altLang="en-US" sz="4000" b="1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52" name="순서도: 처리 51"/>
          <p:cNvSpPr/>
          <p:nvPr/>
        </p:nvSpPr>
        <p:spPr>
          <a:xfrm>
            <a:off x="401443" y="951656"/>
            <a:ext cx="1683835" cy="476823"/>
          </a:xfrm>
          <a:prstGeom prst="flowChartProcess">
            <a:avLst/>
          </a:prstGeom>
          <a:solidFill>
            <a:srgbClr val="E85B3B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/>
          <p:cNvSpPr txBox="1"/>
          <p:nvPr/>
        </p:nvSpPr>
        <p:spPr>
          <a:xfrm>
            <a:off x="497333" y="836125"/>
            <a:ext cx="8098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02</a:t>
            </a:r>
            <a:endParaRPr lang="ko-KR" altLang="en-US" sz="4000" b="1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55" name="순서도: 처리 54"/>
          <p:cNvSpPr/>
          <p:nvPr/>
        </p:nvSpPr>
        <p:spPr>
          <a:xfrm>
            <a:off x="401443" y="1659541"/>
            <a:ext cx="1683835" cy="476823"/>
          </a:xfrm>
          <a:prstGeom prst="flowChartProcess">
            <a:avLst/>
          </a:prstGeom>
          <a:solidFill>
            <a:srgbClr val="538BE8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/>
          <p:cNvSpPr txBox="1"/>
          <p:nvPr/>
        </p:nvSpPr>
        <p:spPr>
          <a:xfrm>
            <a:off x="497333" y="1544010"/>
            <a:ext cx="8098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03</a:t>
            </a:r>
            <a:endParaRPr lang="ko-KR" altLang="en-US" sz="4000" b="1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57" name="순서도: 처리 56"/>
          <p:cNvSpPr/>
          <p:nvPr/>
        </p:nvSpPr>
        <p:spPr>
          <a:xfrm>
            <a:off x="401443" y="2367425"/>
            <a:ext cx="1683835" cy="476823"/>
          </a:xfrm>
          <a:prstGeom prst="flowChartProcess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TextBox 57"/>
          <p:cNvSpPr txBox="1"/>
          <p:nvPr/>
        </p:nvSpPr>
        <p:spPr>
          <a:xfrm>
            <a:off x="497333" y="2251894"/>
            <a:ext cx="8098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04</a:t>
            </a:r>
            <a:endParaRPr lang="ko-KR" altLang="en-US" sz="4000" b="1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59" name="그림 5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7388" y="5472834"/>
            <a:ext cx="755970" cy="126807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7BA9B93-CA03-E1C5-F283-4811C8EDAB0E}"/>
              </a:ext>
            </a:extLst>
          </p:cNvPr>
          <p:cNvSpPr txBox="1"/>
          <p:nvPr/>
        </p:nvSpPr>
        <p:spPr>
          <a:xfrm>
            <a:off x="2313833" y="189793"/>
            <a:ext cx="18742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나눔고딕 ExtraBold" panose="020D0904000000000000" pitchFamily="50" charset="-127"/>
              </a:rPr>
              <a:t>구현 화면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6A74687-ADDA-25E9-86F8-23A7FF899D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1167" y="825076"/>
            <a:ext cx="9703531" cy="260392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7D35EF0-2413-07A9-CA2B-0AB2FA73F9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1168" y="3167785"/>
            <a:ext cx="9703532" cy="28369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6AC31C3-919D-62BA-983F-1F6F858DE5E7}"/>
              </a:ext>
            </a:extLst>
          </p:cNvPr>
          <p:cNvSpPr txBox="1"/>
          <p:nvPr/>
        </p:nvSpPr>
        <p:spPr>
          <a:xfrm>
            <a:off x="6469861" y="1590173"/>
            <a:ext cx="5224806" cy="2031325"/>
          </a:xfrm>
          <a:prstGeom prst="rect">
            <a:avLst/>
          </a:prstGeom>
          <a:solidFill>
            <a:schemeClr val="bg1">
              <a:alpha val="29739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r"/>
            <a:endParaRPr kumimoji="1" lang="en-US" altLang="ko-KR" b="1" dirty="0">
              <a:ln w="6350">
                <a:solidFill>
                  <a:schemeClr val="tx1">
                    <a:alpha val="68000"/>
                  </a:schemeClr>
                </a:solidFill>
              </a:ln>
              <a:solidFill>
                <a:schemeClr val="bg1"/>
              </a:solidFill>
              <a:latin typeface="NANUMGOTHIC EXTRABOLD" panose="020D0604000000000000" pitchFamily="34" charset="-127"/>
              <a:ea typeface="NANUMGOTHIC EXTRABOLD" panose="020D0604000000000000" pitchFamily="34" charset="-127"/>
            </a:endParaRPr>
          </a:p>
          <a:p>
            <a:pPr algn="r"/>
            <a:r>
              <a:rPr kumimoji="1" lang="ko-KR" altLang="en-US" b="1" dirty="0">
                <a:ln w="6350">
                  <a:solidFill>
                    <a:schemeClr val="tx1">
                      <a:alpha val="68000"/>
                    </a:schemeClr>
                  </a:solidFill>
                </a:ln>
                <a:solidFill>
                  <a:schemeClr val="bg1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</a:rPr>
              <a:t>시작하면 암기를 할 수 있도록 문제가 </a:t>
            </a:r>
            <a:r>
              <a:rPr kumimoji="1" lang="ko-KR" altLang="en-US" b="1" dirty="0" err="1">
                <a:ln w="6350">
                  <a:solidFill>
                    <a:schemeClr val="tx1">
                      <a:alpha val="68000"/>
                    </a:schemeClr>
                  </a:solidFill>
                </a:ln>
                <a:solidFill>
                  <a:schemeClr val="bg1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</a:rPr>
              <a:t>오픈된다</a:t>
            </a:r>
            <a:endParaRPr kumimoji="1" lang="en-US" altLang="ko-KR" b="1" dirty="0">
              <a:ln w="6350">
                <a:solidFill>
                  <a:schemeClr val="tx1">
                    <a:alpha val="68000"/>
                  </a:schemeClr>
                </a:solidFill>
              </a:ln>
              <a:solidFill>
                <a:schemeClr val="bg1"/>
              </a:solidFill>
              <a:latin typeface="NANUMGOTHIC EXTRABOLD" panose="020D0604000000000000" pitchFamily="34" charset="-127"/>
              <a:ea typeface="NANUMGOTHIC EXTRABOLD" panose="020D0604000000000000" pitchFamily="34" charset="-127"/>
            </a:endParaRPr>
          </a:p>
          <a:p>
            <a:pPr algn="r"/>
            <a:r>
              <a:rPr kumimoji="1" lang="en-US" altLang="ko-KR" b="1" dirty="0">
                <a:ln w="6350">
                  <a:solidFill>
                    <a:schemeClr val="tx1">
                      <a:alpha val="68000"/>
                    </a:schemeClr>
                  </a:solidFill>
                </a:ln>
                <a:solidFill>
                  <a:schemeClr val="bg1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</a:rPr>
              <a:t>Enter</a:t>
            </a:r>
            <a:r>
              <a:rPr kumimoji="1" lang="ko-KR" altLang="en-US" b="1" dirty="0" err="1">
                <a:ln w="6350">
                  <a:solidFill>
                    <a:schemeClr val="tx1">
                      <a:alpha val="68000"/>
                    </a:schemeClr>
                  </a:solidFill>
                </a:ln>
                <a:solidFill>
                  <a:schemeClr val="bg1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</a:rPr>
              <a:t>입력시</a:t>
            </a:r>
            <a:r>
              <a:rPr kumimoji="1" lang="ko-KR" altLang="en-US" b="1" dirty="0">
                <a:ln w="6350">
                  <a:solidFill>
                    <a:schemeClr val="tx1">
                      <a:alpha val="68000"/>
                    </a:schemeClr>
                  </a:solidFill>
                </a:ln>
                <a:solidFill>
                  <a:schemeClr val="bg1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</a:rPr>
              <a:t> </a:t>
            </a:r>
            <a:r>
              <a:rPr kumimoji="1" lang="ko-KR" altLang="en-US" b="1" dirty="0" err="1">
                <a:ln w="6350">
                  <a:solidFill>
                    <a:schemeClr val="tx1">
                      <a:alpha val="68000"/>
                    </a:schemeClr>
                  </a:solidFill>
                </a:ln>
                <a:solidFill>
                  <a:schemeClr val="bg1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</a:rPr>
              <a:t>마스킹</a:t>
            </a:r>
            <a:r>
              <a:rPr kumimoji="1" lang="ko-KR" altLang="en-US" b="1" dirty="0">
                <a:ln w="6350">
                  <a:solidFill>
                    <a:schemeClr val="tx1">
                      <a:alpha val="68000"/>
                    </a:schemeClr>
                  </a:solidFill>
                </a:ln>
                <a:solidFill>
                  <a:schemeClr val="bg1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</a:rPr>
              <a:t> 처리 된다</a:t>
            </a:r>
            <a:r>
              <a:rPr kumimoji="1" lang="en-US" altLang="ko-KR" b="1" dirty="0">
                <a:ln w="6350">
                  <a:solidFill>
                    <a:schemeClr val="tx1">
                      <a:alpha val="68000"/>
                    </a:schemeClr>
                  </a:solidFill>
                </a:ln>
                <a:solidFill>
                  <a:schemeClr val="bg1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</a:rPr>
              <a:t>.</a:t>
            </a:r>
          </a:p>
          <a:p>
            <a:pPr algn="r"/>
            <a:r>
              <a:rPr kumimoji="1" lang="ko-KR" altLang="en-US" b="1" dirty="0" err="1">
                <a:ln w="6350">
                  <a:solidFill>
                    <a:schemeClr val="tx1">
                      <a:alpha val="68000"/>
                    </a:schemeClr>
                  </a:solidFill>
                </a:ln>
                <a:solidFill>
                  <a:schemeClr val="bg1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</a:rPr>
              <a:t>정답시</a:t>
            </a:r>
            <a:r>
              <a:rPr kumimoji="1" lang="ko-KR" altLang="en-US" b="1" dirty="0">
                <a:ln w="6350">
                  <a:solidFill>
                    <a:schemeClr val="tx1">
                      <a:alpha val="68000"/>
                    </a:schemeClr>
                  </a:solidFill>
                </a:ln>
                <a:solidFill>
                  <a:schemeClr val="bg1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</a:rPr>
              <a:t> 단어는 </a:t>
            </a:r>
            <a:r>
              <a:rPr kumimoji="1" lang="ko-KR" altLang="en-US" b="1" dirty="0" err="1">
                <a:ln w="6350">
                  <a:solidFill>
                    <a:schemeClr val="tx1">
                      <a:alpha val="68000"/>
                    </a:schemeClr>
                  </a:solidFill>
                </a:ln>
                <a:solidFill>
                  <a:schemeClr val="bg1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</a:rPr>
              <a:t>오픈되며</a:t>
            </a:r>
            <a:r>
              <a:rPr kumimoji="1" lang="ko-KR" altLang="en-US" b="1" dirty="0">
                <a:ln w="6350">
                  <a:solidFill>
                    <a:schemeClr val="tx1">
                      <a:alpha val="68000"/>
                    </a:schemeClr>
                  </a:solidFill>
                </a:ln>
                <a:solidFill>
                  <a:schemeClr val="bg1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</a:rPr>
              <a:t> 체크 처리 된다</a:t>
            </a:r>
            <a:endParaRPr kumimoji="1" lang="en-US" altLang="ko-KR" b="1" dirty="0">
              <a:ln w="6350">
                <a:solidFill>
                  <a:schemeClr val="tx1">
                    <a:alpha val="68000"/>
                  </a:schemeClr>
                </a:solidFill>
              </a:ln>
              <a:solidFill>
                <a:schemeClr val="bg1"/>
              </a:solidFill>
              <a:latin typeface="NANUMGOTHIC EXTRABOLD" panose="020D0604000000000000" pitchFamily="34" charset="-127"/>
              <a:ea typeface="NANUMGOTHIC EXTRABOLD" panose="020D0604000000000000" pitchFamily="34" charset="-127"/>
            </a:endParaRPr>
          </a:p>
          <a:p>
            <a:pPr algn="r"/>
            <a:r>
              <a:rPr kumimoji="1" lang="ko-KR" altLang="en-US" b="1" dirty="0">
                <a:ln w="6350">
                  <a:solidFill>
                    <a:schemeClr val="tx1">
                      <a:alpha val="68000"/>
                    </a:schemeClr>
                  </a:solidFill>
                </a:ln>
                <a:solidFill>
                  <a:schemeClr val="bg1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</a:rPr>
              <a:t>오답일 경우 </a:t>
            </a:r>
            <a:endParaRPr kumimoji="1" lang="en-US" altLang="ko-KR" b="1" dirty="0">
              <a:ln w="6350">
                <a:solidFill>
                  <a:schemeClr val="tx1">
                    <a:alpha val="68000"/>
                  </a:schemeClr>
                </a:solidFill>
              </a:ln>
              <a:solidFill>
                <a:schemeClr val="bg1"/>
              </a:solidFill>
              <a:latin typeface="NANUMGOTHIC EXTRABOLD" panose="020D0604000000000000" pitchFamily="34" charset="-127"/>
              <a:ea typeface="NANUMGOTHIC EXTRABOLD" panose="020D0604000000000000" pitchFamily="34" charset="-127"/>
            </a:endParaRPr>
          </a:p>
          <a:p>
            <a:pPr algn="r"/>
            <a:r>
              <a:rPr kumimoji="1" lang="ko-KR" altLang="en-US" b="1" dirty="0" err="1">
                <a:ln w="6350">
                  <a:solidFill>
                    <a:schemeClr val="tx1">
                      <a:alpha val="68000"/>
                    </a:schemeClr>
                  </a:solidFill>
                </a:ln>
                <a:solidFill>
                  <a:schemeClr val="bg1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</a:rPr>
              <a:t>글자별</a:t>
            </a:r>
            <a:r>
              <a:rPr kumimoji="1" lang="ko-KR" altLang="en-US" b="1" dirty="0">
                <a:ln w="6350">
                  <a:solidFill>
                    <a:schemeClr val="tx1">
                      <a:alpha val="68000"/>
                    </a:schemeClr>
                  </a:solidFill>
                </a:ln>
                <a:solidFill>
                  <a:schemeClr val="bg1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</a:rPr>
              <a:t> </a:t>
            </a:r>
            <a:r>
              <a:rPr kumimoji="1" lang="en-US" altLang="ko-KR" b="1" dirty="0">
                <a:ln w="6350">
                  <a:solidFill>
                    <a:schemeClr val="tx1">
                      <a:alpha val="68000"/>
                    </a:schemeClr>
                  </a:solidFill>
                </a:ln>
                <a:solidFill>
                  <a:schemeClr val="bg1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</a:rPr>
              <a:t>1</a:t>
            </a:r>
            <a:r>
              <a:rPr kumimoji="1" lang="ko-KR" altLang="en-US" b="1" dirty="0" err="1">
                <a:ln w="6350">
                  <a:solidFill>
                    <a:schemeClr val="tx1">
                      <a:alpha val="68000"/>
                    </a:schemeClr>
                  </a:solidFill>
                </a:ln>
                <a:solidFill>
                  <a:schemeClr val="bg1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</a:rPr>
              <a:t>자리씩</a:t>
            </a:r>
            <a:r>
              <a:rPr kumimoji="1" lang="ko-KR" altLang="en-US" b="1" dirty="0">
                <a:ln w="6350">
                  <a:solidFill>
                    <a:schemeClr val="tx1">
                      <a:alpha val="68000"/>
                    </a:schemeClr>
                  </a:solidFill>
                </a:ln>
                <a:solidFill>
                  <a:schemeClr val="bg1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</a:rPr>
              <a:t> 오픈이 된다</a:t>
            </a:r>
            <a:endParaRPr kumimoji="1" lang="en-US" altLang="ko-KR" b="1" dirty="0">
              <a:ln w="6350">
                <a:solidFill>
                  <a:schemeClr val="tx1">
                    <a:alpha val="68000"/>
                  </a:schemeClr>
                </a:solidFill>
              </a:ln>
              <a:solidFill>
                <a:schemeClr val="bg1"/>
              </a:solidFill>
              <a:latin typeface="NANUMGOTHIC EXTRABOLD" panose="020D0604000000000000" pitchFamily="34" charset="-127"/>
              <a:ea typeface="NANUMGOTHIC EXTRABOLD" panose="020D0604000000000000" pitchFamily="34" charset="-127"/>
            </a:endParaRPr>
          </a:p>
          <a:p>
            <a:pPr algn="r"/>
            <a:endParaRPr kumimoji="1" lang="en-US" altLang="ko-KR" b="1" dirty="0">
              <a:ln w="6350">
                <a:solidFill>
                  <a:schemeClr val="tx1">
                    <a:alpha val="68000"/>
                  </a:schemeClr>
                </a:solidFill>
              </a:ln>
              <a:solidFill>
                <a:schemeClr val="bg1"/>
              </a:solidFill>
              <a:latin typeface="NANUMGOTHIC EXTRABOLD" panose="020D0604000000000000" pitchFamily="34" charset="-127"/>
              <a:ea typeface="NANUMGOTHIC EXTRABOLD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499222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ì¢ì´, ë°°ê²½, ë¹ Paper, ì°¸ê³ , ì°ê¸°, ë­ê°ë¥¼ ì°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888" y="128239"/>
            <a:ext cx="11846225" cy="6601522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alpha val="86161"/>
              </a:schemeClr>
            </a:solidFill>
          </a:ln>
        </p:spPr>
      </p:pic>
      <p:sp>
        <p:nvSpPr>
          <p:cNvPr id="12" name="순서도: 처리 11"/>
          <p:cNvSpPr/>
          <p:nvPr/>
        </p:nvSpPr>
        <p:spPr>
          <a:xfrm>
            <a:off x="401443" y="243770"/>
            <a:ext cx="1683835" cy="476823"/>
          </a:xfrm>
          <a:prstGeom prst="flowChartProcess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497333" y="128239"/>
            <a:ext cx="8098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01</a:t>
            </a:r>
            <a:endParaRPr lang="ko-KR" altLang="en-US" sz="4000" b="1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52" name="순서도: 처리 51"/>
          <p:cNvSpPr/>
          <p:nvPr/>
        </p:nvSpPr>
        <p:spPr>
          <a:xfrm>
            <a:off x="401443" y="951656"/>
            <a:ext cx="1683835" cy="476823"/>
          </a:xfrm>
          <a:prstGeom prst="flowChartProcess">
            <a:avLst/>
          </a:prstGeom>
          <a:solidFill>
            <a:srgbClr val="E85B3B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/>
          <p:cNvSpPr txBox="1"/>
          <p:nvPr/>
        </p:nvSpPr>
        <p:spPr>
          <a:xfrm>
            <a:off x="497333" y="836125"/>
            <a:ext cx="8098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02</a:t>
            </a:r>
            <a:endParaRPr lang="ko-KR" altLang="en-US" sz="4000" b="1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55" name="순서도: 처리 54"/>
          <p:cNvSpPr/>
          <p:nvPr/>
        </p:nvSpPr>
        <p:spPr>
          <a:xfrm>
            <a:off x="401443" y="1659541"/>
            <a:ext cx="1683835" cy="476823"/>
          </a:xfrm>
          <a:prstGeom prst="flowChartProcess">
            <a:avLst/>
          </a:prstGeom>
          <a:solidFill>
            <a:srgbClr val="538BE8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/>
          <p:cNvSpPr txBox="1"/>
          <p:nvPr/>
        </p:nvSpPr>
        <p:spPr>
          <a:xfrm>
            <a:off x="497333" y="1544010"/>
            <a:ext cx="8098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03</a:t>
            </a:r>
            <a:endParaRPr lang="ko-KR" altLang="en-US" sz="4000" b="1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57" name="순서도: 처리 56"/>
          <p:cNvSpPr/>
          <p:nvPr/>
        </p:nvSpPr>
        <p:spPr>
          <a:xfrm>
            <a:off x="401443" y="2367425"/>
            <a:ext cx="1683835" cy="476823"/>
          </a:xfrm>
          <a:prstGeom prst="flowChartProcess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TextBox 57"/>
          <p:cNvSpPr txBox="1"/>
          <p:nvPr/>
        </p:nvSpPr>
        <p:spPr>
          <a:xfrm>
            <a:off x="497333" y="2251894"/>
            <a:ext cx="8098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04</a:t>
            </a:r>
            <a:endParaRPr lang="ko-KR" altLang="en-US" sz="4000" b="1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BA9B93-CA03-E1C5-F283-4811C8EDAB0E}"/>
              </a:ext>
            </a:extLst>
          </p:cNvPr>
          <p:cNvSpPr txBox="1"/>
          <p:nvPr/>
        </p:nvSpPr>
        <p:spPr>
          <a:xfrm>
            <a:off x="2313833" y="189793"/>
            <a:ext cx="18742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나눔고딕 ExtraBold" panose="020D0904000000000000" pitchFamily="50" charset="-127"/>
              </a:rPr>
              <a:t>구현 화면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87BF95B-3E78-CE2D-B094-8A398C39F0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1925" y="1134990"/>
            <a:ext cx="9312742" cy="45880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6AC31C3-919D-62BA-983F-1F6F858DE5E7}"/>
              </a:ext>
            </a:extLst>
          </p:cNvPr>
          <p:cNvSpPr txBox="1"/>
          <p:nvPr/>
        </p:nvSpPr>
        <p:spPr>
          <a:xfrm>
            <a:off x="9268330" y="2081287"/>
            <a:ext cx="2340508" cy="1200329"/>
          </a:xfrm>
          <a:prstGeom prst="rect">
            <a:avLst/>
          </a:prstGeom>
          <a:solidFill>
            <a:schemeClr val="bg1">
              <a:alpha val="29739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kumimoji="1" lang="en-US" altLang="ko-KR" b="1" dirty="0">
              <a:ln w="6350">
                <a:solidFill>
                  <a:schemeClr val="tx1">
                    <a:alpha val="68000"/>
                  </a:schemeClr>
                </a:solidFill>
              </a:ln>
              <a:solidFill>
                <a:schemeClr val="bg1"/>
              </a:solidFill>
              <a:latin typeface="NANUMGOTHIC EXTRABOLD" panose="020D0604000000000000" pitchFamily="34" charset="-127"/>
              <a:ea typeface="NANUMGOTHIC EXTRABOLD" panose="020D0604000000000000" pitchFamily="34" charset="-127"/>
            </a:endParaRPr>
          </a:p>
          <a:p>
            <a:r>
              <a:rPr kumimoji="1" lang="ko-KR" altLang="en-US" b="1" dirty="0">
                <a:ln w="6350">
                  <a:solidFill>
                    <a:schemeClr val="tx1">
                      <a:alpha val="68000"/>
                    </a:schemeClr>
                  </a:solidFill>
                </a:ln>
                <a:solidFill>
                  <a:schemeClr val="bg1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</a:rPr>
              <a:t>문제 </a:t>
            </a:r>
            <a:r>
              <a:rPr kumimoji="1" lang="ko-KR" altLang="en-US" b="1" dirty="0" err="1">
                <a:ln w="6350">
                  <a:solidFill>
                    <a:schemeClr val="tx1">
                      <a:alpha val="68000"/>
                    </a:schemeClr>
                  </a:solidFill>
                </a:ln>
                <a:solidFill>
                  <a:schemeClr val="bg1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</a:rPr>
              <a:t>완료시</a:t>
            </a:r>
            <a:r>
              <a:rPr kumimoji="1" lang="ko-KR" altLang="en-US" b="1" dirty="0">
                <a:ln w="6350">
                  <a:solidFill>
                    <a:schemeClr val="tx1">
                      <a:alpha val="68000"/>
                    </a:schemeClr>
                  </a:solidFill>
                </a:ln>
                <a:solidFill>
                  <a:schemeClr val="bg1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</a:rPr>
              <a:t> 출력 화면</a:t>
            </a:r>
            <a:r>
              <a:rPr kumimoji="1" lang="en-US" altLang="ko-KR" b="1" dirty="0">
                <a:ln w="6350">
                  <a:solidFill>
                    <a:schemeClr val="tx1">
                      <a:alpha val="68000"/>
                    </a:schemeClr>
                  </a:solidFill>
                </a:ln>
                <a:solidFill>
                  <a:schemeClr val="bg1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</a:rPr>
              <a:t>,</a:t>
            </a:r>
          </a:p>
          <a:p>
            <a:r>
              <a:rPr kumimoji="1" lang="ko-KR" altLang="en-US" b="1" dirty="0">
                <a:ln w="6350">
                  <a:solidFill>
                    <a:schemeClr val="tx1">
                      <a:alpha val="68000"/>
                    </a:schemeClr>
                  </a:solidFill>
                </a:ln>
                <a:solidFill>
                  <a:schemeClr val="bg1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</a:rPr>
              <a:t>완료 후 </a:t>
            </a:r>
            <a:r>
              <a:rPr kumimoji="1" lang="en-US" altLang="ko-KR" b="1" dirty="0">
                <a:ln w="6350">
                  <a:solidFill>
                    <a:schemeClr val="tx1">
                      <a:alpha val="68000"/>
                    </a:schemeClr>
                  </a:solidFill>
                </a:ln>
                <a:solidFill>
                  <a:schemeClr val="bg1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</a:rPr>
              <a:t>Info</a:t>
            </a:r>
            <a:r>
              <a:rPr kumimoji="1" lang="ko-KR" altLang="en-US" b="1" dirty="0">
                <a:ln w="6350">
                  <a:solidFill>
                    <a:schemeClr val="tx1">
                      <a:alpha val="68000"/>
                    </a:schemeClr>
                  </a:solidFill>
                </a:ln>
                <a:solidFill>
                  <a:schemeClr val="bg1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</a:rPr>
              <a:t>로 </a:t>
            </a:r>
            <a:r>
              <a:rPr kumimoji="1" lang="ko-KR" altLang="en-US" b="1" dirty="0" err="1">
                <a:ln w="6350">
                  <a:solidFill>
                    <a:schemeClr val="tx1">
                      <a:alpha val="68000"/>
                    </a:schemeClr>
                  </a:solidFill>
                </a:ln>
                <a:solidFill>
                  <a:schemeClr val="bg1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</a:rPr>
              <a:t>돌아감</a:t>
            </a:r>
            <a:endParaRPr kumimoji="1" lang="en-US" altLang="ko-KR" b="1" dirty="0">
              <a:ln w="6350">
                <a:solidFill>
                  <a:schemeClr val="tx1">
                    <a:alpha val="68000"/>
                  </a:schemeClr>
                </a:solidFill>
              </a:ln>
              <a:solidFill>
                <a:schemeClr val="bg1"/>
              </a:solidFill>
              <a:latin typeface="NANUMGOTHIC EXTRABOLD" panose="020D0604000000000000" pitchFamily="34" charset="-127"/>
              <a:ea typeface="NANUMGOTHIC EXTRABOLD" panose="020D0604000000000000" pitchFamily="34" charset="-127"/>
            </a:endParaRPr>
          </a:p>
          <a:p>
            <a:endParaRPr kumimoji="1" lang="en-US" altLang="ko-KR" b="1" dirty="0">
              <a:ln w="6350">
                <a:solidFill>
                  <a:schemeClr val="tx1">
                    <a:alpha val="68000"/>
                  </a:schemeClr>
                </a:solidFill>
              </a:ln>
              <a:solidFill>
                <a:schemeClr val="bg1"/>
              </a:solidFill>
              <a:latin typeface="NANUMGOTHIC EXTRABOLD" panose="020D0604000000000000" pitchFamily="34" charset="-127"/>
              <a:ea typeface="NANUMGOTHIC EXTRABOLD" panose="020D0604000000000000" pitchFamily="34" charset="-127"/>
            </a:endParaRPr>
          </a:p>
        </p:txBody>
      </p:sp>
      <p:pic>
        <p:nvPicPr>
          <p:cNvPr id="59" name="그림 5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7388" y="5472834"/>
            <a:ext cx="755970" cy="1268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3476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ì¢ì´, ë°°ê²½, ë¹ Paper, ì°¸ê³ , ì°ê¸°, ë­ê°ë¥¼ ì°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888" y="128239"/>
            <a:ext cx="11846225" cy="6601522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alpha val="86161"/>
              </a:schemeClr>
            </a:solidFill>
          </a:ln>
        </p:spPr>
      </p:pic>
      <p:sp>
        <p:nvSpPr>
          <p:cNvPr id="12" name="순서도: 처리 11"/>
          <p:cNvSpPr/>
          <p:nvPr/>
        </p:nvSpPr>
        <p:spPr>
          <a:xfrm>
            <a:off x="401443" y="243770"/>
            <a:ext cx="1683835" cy="476823"/>
          </a:xfrm>
          <a:prstGeom prst="flowChartProcess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497333" y="128239"/>
            <a:ext cx="8098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01</a:t>
            </a:r>
            <a:endParaRPr lang="ko-KR" altLang="en-US" sz="4000" b="1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52" name="순서도: 처리 51"/>
          <p:cNvSpPr/>
          <p:nvPr/>
        </p:nvSpPr>
        <p:spPr>
          <a:xfrm>
            <a:off x="401443" y="951656"/>
            <a:ext cx="1683835" cy="476823"/>
          </a:xfrm>
          <a:prstGeom prst="flowChartProcess">
            <a:avLst/>
          </a:prstGeom>
          <a:solidFill>
            <a:srgbClr val="E85B3B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/>
          <p:cNvSpPr txBox="1"/>
          <p:nvPr/>
        </p:nvSpPr>
        <p:spPr>
          <a:xfrm>
            <a:off x="497333" y="836125"/>
            <a:ext cx="8098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02</a:t>
            </a:r>
            <a:endParaRPr lang="ko-KR" altLang="en-US" sz="4000" b="1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55" name="순서도: 처리 54"/>
          <p:cNvSpPr/>
          <p:nvPr/>
        </p:nvSpPr>
        <p:spPr>
          <a:xfrm>
            <a:off x="401443" y="1659541"/>
            <a:ext cx="1683835" cy="476823"/>
          </a:xfrm>
          <a:prstGeom prst="flowChartProcess">
            <a:avLst/>
          </a:prstGeom>
          <a:solidFill>
            <a:srgbClr val="538BE8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/>
          <p:cNvSpPr txBox="1"/>
          <p:nvPr/>
        </p:nvSpPr>
        <p:spPr>
          <a:xfrm>
            <a:off x="497333" y="1544010"/>
            <a:ext cx="8098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03</a:t>
            </a:r>
            <a:endParaRPr lang="ko-KR" altLang="en-US" sz="4000" b="1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57" name="순서도: 처리 56"/>
          <p:cNvSpPr/>
          <p:nvPr/>
        </p:nvSpPr>
        <p:spPr>
          <a:xfrm>
            <a:off x="401443" y="2367425"/>
            <a:ext cx="1683835" cy="476823"/>
          </a:xfrm>
          <a:prstGeom prst="flowChartProcess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TextBox 57"/>
          <p:cNvSpPr txBox="1"/>
          <p:nvPr/>
        </p:nvSpPr>
        <p:spPr>
          <a:xfrm>
            <a:off x="497333" y="2251894"/>
            <a:ext cx="8098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04</a:t>
            </a:r>
            <a:endParaRPr lang="ko-KR" altLang="en-US" sz="4000" b="1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BA9B93-CA03-E1C5-F283-4811C8EDAB0E}"/>
              </a:ext>
            </a:extLst>
          </p:cNvPr>
          <p:cNvSpPr txBox="1"/>
          <p:nvPr/>
        </p:nvSpPr>
        <p:spPr>
          <a:xfrm>
            <a:off x="2313833" y="189793"/>
            <a:ext cx="18742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나눔고딕 ExtraBold" panose="020D0904000000000000" pitchFamily="50" charset="-127"/>
              </a:rPr>
              <a:t>구현 화면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DAF7DD3-0A90-84E7-EF4C-D7118DAC0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1168" y="969171"/>
            <a:ext cx="9656325" cy="5283041"/>
          </a:xfrm>
          <a:prstGeom prst="rect">
            <a:avLst/>
          </a:prstGeom>
        </p:spPr>
      </p:pic>
      <p:pic>
        <p:nvPicPr>
          <p:cNvPr id="59" name="그림 5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7388" y="5472834"/>
            <a:ext cx="755970" cy="1268078"/>
          </a:xfrm>
          <a:prstGeom prst="rect">
            <a:avLst/>
          </a:prstGeom>
        </p:spPr>
      </p:pic>
      <p:sp>
        <p:nvSpPr>
          <p:cNvPr id="5" name="대체 처리 4">
            <a:extLst>
              <a:ext uri="{FF2B5EF4-FFF2-40B4-BE49-F238E27FC236}">
                <a16:creationId xmlns:a16="http://schemas.microsoft.com/office/drawing/2014/main" id="{D1094243-B920-F56D-EEFB-055F2703D17E}"/>
              </a:ext>
            </a:extLst>
          </p:cNvPr>
          <p:cNvSpPr/>
          <p:nvPr/>
        </p:nvSpPr>
        <p:spPr>
          <a:xfrm>
            <a:off x="2102511" y="2259272"/>
            <a:ext cx="925826" cy="306947"/>
          </a:xfrm>
          <a:prstGeom prst="flowChartAlternateProcess">
            <a:avLst/>
          </a:prstGeom>
          <a:noFill/>
          <a:ln w="47625">
            <a:solidFill>
              <a:srgbClr val="E85B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" name="대체 처리 5">
            <a:extLst>
              <a:ext uri="{FF2B5EF4-FFF2-40B4-BE49-F238E27FC236}">
                <a16:creationId xmlns:a16="http://schemas.microsoft.com/office/drawing/2014/main" id="{BDCB6036-64D2-A053-CF65-1217C5DCE555}"/>
              </a:ext>
            </a:extLst>
          </p:cNvPr>
          <p:cNvSpPr/>
          <p:nvPr/>
        </p:nvSpPr>
        <p:spPr>
          <a:xfrm>
            <a:off x="4054230" y="2259272"/>
            <a:ext cx="925826" cy="306947"/>
          </a:xfrm>
          <a:prstGeom prst="flowChartAlternateProcess">
            <a:avLst/>
          </a:prstGeom>
          <a:noFill/>
          <a:ln w="47625">
            <a:solidFill>
              <a:srgbClr val="E85B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" name="대체 처리 7">
            <a:extLst>
              <a:ext uri="{FF2B5EF4-FFF2-40B4-BE49-F238E27FC236}">
                <a16:creationId xmlns:a16="http://schemas.microsoft.com/office/drawing/2014/main" id="{8772451D-0E82-CCB5-C9C6-F030526067FC}"/>
              </a:ext>
            </a:extLst>
          </p:cNvPr>
          <p:cNvSpPr/>
          <p:nvPr/>
        </p:nvSpPr>
        <p:spPr>
          <a:xfrm>
            <a:off x="5994142" y="2002803"/>
            <a:ext cx="925826" cy="563416"/>
          </a:xfrm>
          <a:prstGeom prst="flowChartAlternateProcess">
            <a:avLst/>
          </a:prstGeom>
          <a:noFill/>
          <a:ln w="47625">
            <a:solidFill>
              <a:srgbClr val="E85B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대체 처리 8">
            <a:extLst>
              <a:ext uri="{FF2B5EF4-FFF2-40B4-BE49-F238E27FC236}">
                <a16:creationId xmlns:a16="http://schemas.microsoft.com/office/drawing/2014/main" id="{F9B35A19-5C6C-1F67-2DF7-0B1950056557}"/>
              </a:ext>
            </a:extLst>
          </p:cNvPr>
          <p:cNvSpPr/>
          <p:nvPr/>
        </p:nvSpPr>
        <p:spPr>
          <a:xfrm>
            <a:off x="7934054" y="2251894"/>
            <a:ext cx="925826" cy="306947"/>
          </a:xfrm>
          <a:prstGeom prst="flowChartAlternateProcess">
            <a:avLst/>
          </a:prstGeom>
          <a:noFill/>
          <a:ln w="47625">
            <a:solidFill>
              <a:srgbClr val="E85B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" name="대체 처리 9">
            <a:extLst>
              <a:ext uri="{FF2B5EF4-FFF2-40B4-BE49-F238E27FC236}">
                <a16:creationId xmlns:a16="http://schemas.microsoft.com/office/drawing/2014/main" id="{720BD4D0-7FEA-B7CC-AA1A-FC2225D47092}"/>
              </a:ext>
            </a:extLst>
          </p:cNvPr>
          <p:cNvSpPr/>
          <p:nvPr/>
        </p:nvSpPr>
        <p:spPr>
          <a:xfrm>
            <a:off x="9885773" y="2251893"/>
            <a:ext cx="925826" cy="306947"/>
          </a:xfrm>
          <a:prstGeom prst="flowChartAlternateProcess">
            <a:avLst/>
          </a:prstGeom>
          <a:noFill/>
          <a:ln w="47625">
            <a:solidFill>
              <a:srgbClr val="E85B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7286FC25-ECB9-51C9-ECED-31CB9E6E0714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85000"/>
          </a:blip>
          <a:stretch>
            <a:fillRect/>
          </a:stretch>
        </p:blipFill>
        <p:spPr>
          <a:xfrm rot="5567620">
            <a:off x="3795120" y="3582263"/>
            <a:ext cx="2739256" cy="499981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33B622B6-7423-FE51-19EC-F5FBEB9AF089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85000"/>
          </a:blip>
          <a:stretch>
            <a:fillRect/>
          </a:stretch>
        </p:blipFill>
        <p:spPr>
          <a:xfrm rot="5567620">
            <a:off x="5683969" y="3414705"/>
            <a:ext cx="2739256" cy="499981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24376B5-BFC0-9917-0088-663A98CD8C5A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85000"/>
          </a:blip>
          <a:stretch>
            <a:fillRect/>
          </a:stretch>
        </p:blipFill>
        <p:spPr>
          <a:xfrm rot="5567620">
            <a:off x="1786718" y="3535560"/>
            <a:ext cx="2739256" cy="499981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ADAC48DF-5B29-40AA-4984-04265D71BDD8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85000"/>
          </a:blip>
          <a:stretch>
            <a:fillRect/>
          </a:stretch>
        </p:blipFill>
        <p:spPr>
          <a:xfrm rot="5567620">
            <a:off x="7446250" y="3582264"/>
            <a:ext cx="2739256" cy="499981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F00C2726-15E2-1EE6-1DDD-CA045D7BD303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85000"/>
          </a:blip>
          <a:stretch>
            <a:fillRect/>
          </a:stretch>
        </p:blipFill>
        <p:spPr>
          <a:xfrm rot="5567620">
            <a:off x="9335099" y="3621722"/>
            <a:ext cx="2739256" cy="4999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6AC31C3-919D-62BA-983F-1F6F858DE5E7}"/>
              </a:ext>
            </a:extLst>
          </p:cNvPr>
          <p:cNvSpPr txBox="1"/>
          <p:nvPr/>
        </p:nvSpPr>
        <p:spPr>
          <a:xfrm>
            <a:off x="8468062" y="2750452"/>
            <a:ext cx="2786018" cy="1200329"/>
          </a:xfrm>
          <a:prstGeom prst="rect">
            <a:avLst/>
          </a:prstGeom>
          <a:solidFill>
            <a:schemeClr val="bg1">
              <a:alpha val="29739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kumimoji="1" lang="en-US" altLang="ko-KR" b="1" dirty="0">
              <a:ln w="6350">
                <a:solidFill>
                  <a:schemeClr val="tx1">
                    <a:alpha val="68000"/>
                  </a:schemeClr>
                </a:solidFill>
              </a:ln>
              <a:solidFill>
                <a:schemeClr val="bg1"/>
              </a:solidFill>
              <a:latin typeface="NANUMGOTHIC EXTRABOLD" panose="020D0604000000000000" pitchFamily="34" charset="-127"/>
              <a:ea typeface="NANUMGOTHIC EXTRABOLD" panose="020D0604000000000000" pitchFamily="34" charset="-127"/>
            </a:endParaRPr>
          </a:p>
          <a:p>
            <a:r>
              <a:rPr kumimoji="1" lang="ko-KR" altLang="en-US" b="1" dirty="0">
                <a:ln w="6350">
                  <a:solidFill>
                    <a:schemeClr val="tx1">
                      <a:alpha val="68000"/>
                    </a:schemeClr>
                  </a:solidFill>
                </a:ln>
                <a:solidFill>
                  <a:schemeClr val="bg1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</a:rPr>
              <a:t>동일 단어를 입력 시 </a:t>
            </a:r>
            <a:endParaRPr kumimoji="1" lang="en-US" altLang="ko-KR" b="1" dirty="0">
              <a:ln w="6350">
                <a:solidFill>
                  <a:schemeClr val="tx1">
                    <a:alpha val="68000"/>
                  </a:schemeClr>
                </a:solidFill>
              </a:ln>
              <a:solidFill>
                <a:schemeClr val="bg1"/>
              </a:solidFill>
              <a:latin typeface="NANUMGOTHIC EXTRABOLD" panose="020D0604000000000000" pitchFamily="34" charset="-127"/>
              <a:ea typeface="NANUMGOTHIC EXTRABOLD" panose="020D0604000000000000" pitchFamily="34" charset="-127"/>
            </a:endParaRPr>
          </a:p>
          <a:p>
            <a:r>
              <a:rPr kumimoji="1" lang="ko-KR" altLang="en-US" b="1" dirty="0">
                <a:ln w="6350">
                  <a:solidFill>
                    <a:schemeClr val="tx1">
                      <a:alpha val="68000"/>
                    </a:schemeClr>
                  </a:solidFill>
                </a:ln>
                <a:solidFill>
                  <a:schemeClr val="bg1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</a:rPr>
              <a:t>동시에 삭제하는 기능 확인</a:t>
            </a:r>
            <a:endParaRPr kumimoji="1" lang="en-US" altLang="ko-KR" b="1" dirty="0">
              <a:ln w="6350">
                <a:solidFill>
                  <a:schemeClr val="tx1">
                    <a:alpha val="68000"/>
                  </a:schemeClr>
                </a:solidFill>
              </a:ln>
              <a:solidFill>
                <a:schemeClr val="bg1"/>
              </a:solidFill>
              <a:latin typeface="NANUMGOTHIC EXTRABOLD" panose="020D0604000000000000" pitchFamily="34" charset="-127"/>
              <a:ea typeface="NANUMGOTHIC EXTRABOLD" panose="020D0604000000000000" pitchFamily="34" charset="-127"/>
            </a:endParaRPr>
          </a:p>
          <a:p>
            <a:endParaRPr kumimoji="1" lang="en-US" altLang="ko-KR" b="1" dirty="0">
              <a:ln w="6350">
                <a:solidFill>
                  <a:schemeClr val="tx1">
                    <a:alpha val="68000"/>
                  </a:schemeClr>
                </a:solidFill>
              </a:ln>
              <a:solidFill>
                <a:schemeClr val="bg1"/>
              </a:solidFill>
              <a:latin typeface="NANUMGOTHIC EXTRABOLD" panose="020D0604000000000000" pitchFamily="34" charset="-127"/>
              <a:ea typeface="NANUMGOTHIC EXTRABOLD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563797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ì¢ì´, ë°°ê²½, ë¹ Paper, ì°¸ê³ , ì°ê¸°, ë­ê°ë¥¼ ì°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888" y="128239"/>
            <a:ext cx="11846225" cy="6601522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alpha val="86161"/>
              </a:schemeClr>
            </a:solidFill>
          </a:ln>
        </p:spPr>
      </p:pic>
      <p:sp>
        <p:nvSpPr>
          <p:cNvPr id="12" name="순서도: 처리 11"/>
          <p:cNvSpPr/>
          <p:nvPr/>
        </p:nvSpPr>
        <p:spPr>
          <a:xfrm>
            <a:off x="401443" y="243770"/>
            <a:ext cx="1683835" cy="476823"/>
          </a:xfrm>
          <a:prstGeom prst="flowChartProcess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497333" y="128239"/>
            <a:ext cx="8098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01</a:t>
            </a:r>
            <a:endParaRPr lang="ko-KR" altLang="en-US" sz="4000" b="1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52" name="순서도: 처리 51"/>
          <p:cNvSpPr/>
          <p:nvPr/>
        </p:nvSpPr>
        <p:spPr>
          <a:xfrm>
            <a:off x="401443" y="951656"/>
            <a:ext cx="1683835" cy="476823"/>
          </a:xfrm>
          <a:prstGeom prst="flowChartProcess">
            <a:avLst/>
          </a:prstGeom>
          <a:solidFill>
            <a:srgbClr val="E85B3B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/>
          <p:cNvSpPr txBox="1"/>
          <p:nvPr/>
        </p:nvSpPr>
        <p:spPr>
          <a:xfrm>
            <a:off x="497333" y="836125"/>
            <a:ext cx="8098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02</a:t>
            </a:r>
            <a:endParaRPr lang="ko-KR" altLang="en-US" sz="4000" b="1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55" name="순서도: 처리 54"/>
          <p:cNvSpPr/>
          <p:nvPr/>
        </p:nvSpPr>
        <p:spPr>
          <a:xfrm>
            <a:off x="401443" y="1659541"/>
            <a:ext cx="1683835" cy="476823"/>
          </a:xfrm>
          <a:prstGeom prst="flowChartProcess">
            <a:avLst/>
          </a:prstGeom>
          <a:solidFill>
            <a:srgbClr val="538BE8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/>
          <p:cNvSpPr txBox="1"/>
          <p:nvPr/>
        </p:nvSpPr>
        <p:spPr>
          <a:xfrm>
            <a:off x="497333" y="1544010"/>
            <a:ext cx="8098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03</a:t>
            </a:r>
            <a:endParaRPr lang="ko-KR" altLang="en-US" sz="4000" b="1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57" name="순서도: 처리 56"/>
          <p:cNvSpPr/>
          <p:nvPr/>
        </p:nvSpPr>
        <p:spPr>
          <a:xfrm>
            <a:off x="401443" y="2367425"/>
            <a:ext cx="1683835" cy="476823"/>
          </a:xfrm>
          <a:prstGeom prst="flowChartProcess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TextBox 57"/>
          <p:cNvSpPr txBox="1"/>
          <p:nvPr/>
        </p:nvSpPr>
        <p:spPr>
          <a:xfrm>
            <a:off x="497333" y="2251894"/>
            <a:ext cx="8098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04</a:t>
            </a:r>
            <a:endParaRPr lang="ko-KR" altLang="en-US" sz="4000" b="1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BA9B93-CA03-E1C5-F283-4811C8EDAB0E}"/>
              </a:ext>
            </a:extLst>
          </p:cNvPr>
          <p:cNvSpPr txBox="1"/>
          <p:nvPr/>
        </p:nvSpPr>
        <p:spPr>
          <a:xfrm>
            <a:off x="2313833" y="189793"/>
            <a:ext cx="18742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나눔고딕 ExtraBold" panose="020D0904000000000000" pitchFamily="50" charset="-127"/>
              </a:rPr>
              <a:t>구현 화면</a:t>
            </a:r>
          </a:p>
        </p:txBody>
      </p:sp>
      <p:pic>
        <p:nvPicPr>
          <p:cNvPr id="59" name="그림 5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7388" y="5472834"/>
            <a:ext cx="755970" cy="126807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CC4E36F6-640B-BE98-547D-5E4862AB56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9388" y="873302"/>
            <a:ext cx="5349320" cy="3885511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87F1585C-4455-5F52-79EF-11EEC6168B4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45069"/>
          <a:stretch/>
        </p:blipFill>
        <p:spPr>
          <a:xfrm>
            <a:off x="2229387" y="4735415"/>
            <a:ext cx="5349319" cy="1486607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FE039A74-3575-4F7B-1DA7-D6A70D7DABE9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85000"/>
          </a:blip>
          <a:stretch>
            <a:fillRect/>
          </a:stretch>
        </p:blipFill>
        <p:spPr>
          <a:xfrm rot="11804705" flipV="1">
            <a:off x="6498573" y="1098470"/>
            <a:ext cx="2617379" cy="85029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6AC31C3-919D-62BA-983F-1F6F858DE5E7}"/>
              </a:ext>
            </a:extLst>
          </p:cNvPr>
          <p:cNvSpPr txBox="1"/>
          <p:nvPr/>
        </p:nvSpPr>
        <p:spPr>
          <a:xfrm>
            <a:off x="8569603" y="1696797"/>
            <a:ext cx="2786018" cy="1477328"/>
          </a:xfrm>
          <a:prstGeom prst="rect">
            <a:avLst/>
          </a:prstGeom>
          <a:solidFill>
            <a:schemeClr val="tx1">
              <a:alpha val="31941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endParaRPr kumimoji="1" lang="en-US" altLang="ko-KR" b="1" dirty="0">
              <a:ln w="6350">
                <a:solidFill>
                  <a:schemeClr val="tx1">
                    <a:alpha val="68000"/>
                  </a:schemeClr>
                </a:solidFill>
              </a:ln>
              <a:solidFill>
                <a:schemeClr val="bg1"/>
              </a:solidFill>
              <a:latin typeface="NANUMGOTHIC EXTRABOLD" panose="020D0604000000000000" pitchFamily="34" charset="-127"/>
              <a:ea typeface="NANUMGOTHIC EXTRABOLD" panose="020D0604000000000000" pitchFamily="34" charset="-127"/>
            </a:endParaRPr>
          </a:p>
          <a:p>
            <a:pPr algn="ctr"/>
            <a:r>
              <a:rPr kumimoji="1" lang="en-US" altLang="ko-KR" b="1" dirty="0">
                <a:ln w="6350">
                  <a:solidFill>
                    <a:schemeClr val="tx1">
                      <a:alpha val="68000"/>
                    </a:schemeClr>
                  </a:solidFill>
                </a:ln>
                <a:solidFill>
                  <a:schemeClr val="bg1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</a:rPr>
              <a:t>Q </a:t>
            </a:r>
            <a:r>
              <a:rPr kumimoji="1" lang="ko-KR" altLang="en-US" b="1" dirty="0" err="1">
                <a:ln w="6350">
                  <a:solidFill>
                    <a:schemeClr val="tx1">
                      <a:alpha val="68000"/>
                    </a:schemeClr>
                  </a:solidFill>
                </a:ln>
                <a:solidFill>
                  <a:schemeClr val="bg1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</a:rPr>
              <a:t>입력시</a:t>
            </a:r>
            <a:r>
              <a:rPr kumimoji="1" lang="ko-KR" altLang="en-US" b="1" dirty="0">
                <a:ln w="6350">
                  <a:solidFill>
                    <a:schemeClr val="tx1">
                      <a:alpha val="68000"/>
                    </a:schemeClr>
                  </a:solidFill>
                </a:ln>
                <a:solidFill>
                  <a:schemeClr val="bg1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</a:rPr>
              <a:t> </a:t>
            </a:r>
            <a:endParaRPr kumimoji="1" lang="en-US" altLang="ko-KR" b="1" dirty="0">
              <a:ln w="6350">
                <a:solidFill>
                  <a:schemeClr val="tx1">
                    <a:alpha val="68000"/>
                  </a:schemeClr>
                </a:solidFill>
              </a:ln>
              <a:solidFill>
                <a:schemeClr val="bg1"/>
              </a:solidFill>
              <a:latin typeface="NANUMGOTHIC EXTRABOLD" panose="020D0604000000000000" pitchFamily="34" charset="-127"/>
              <a:ea typeface="NANUMGOTHIC EXTRABOLD" panose="020D0604000000000000" pitchFamily="34" charset="-127"/>
            </a:endParaRPr>
          </a:p>
          <a:p>
            <a:pPr algn="ctr"/>
            <a:r>
              <a:rPr kumimoji="1" lang="ko-KR" altLang="en-US" b="1" dirty="0">
                <a:ln w="6350">
                  <a:solidFill>
                    <a:schemeClr val="tx1">
                      <a:alpha val="68000"/>
                    </a:schemeClr>
                  </a:solidFill>
                </a:ln>
                <a:solidFill>
                  <a:schemeClr val="bg1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</a:rPr>
              <a:t>게임 종료 되며</a:t>
            </a:r>
            <a:endParaRPr kumimoji="1" lang="en-US" altLang="ko-KR" b="1" dirty="0">
              <a:ln w="6350">
                <a:solidFill>
                  <a:schemeClr val="tx1">
                    <a:alpha val="68000"/>
                  </a:schemeClr>
                </a:solidFill>
              </a:ln>
              <a:solidFill>
                <a:schemeClr val="bg1"/>
              </a:solidFill>
              <a:latin typeface="NANUMGOTHIC EXTRABOLD" panose="020D0604000000000000" pitchFamily="34" charset="-127"/>
              <a:ea typeface="NANUMGOTHIC EXTRABOLD" panose="020D0604000000000000" pitchFamily="34" charset="-127"/>
            </a:endParaRPr>
          </a:p>
          <a:p>
            <a:pPr algn="ctr"/>
            <a:r>
              <a:rPr kumimoji="1" lang="en-US" altLang="ko-KR" b="1" dirty="0">
                <a:ln w="6350">
                  <a:solidFill>
                    <a:schemeClr val="tx1">
                      <a:alpha val="68000"/>
                    </a:schemeClr>
                  </a:solidFill>
                </a:ln>
                <a:solidFill>
                  <a:schemeClr val="bg1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</a:rPr>
              <a:t>INFO</a:t>
            </a:r>
            <a:r>
              <a:rPr kumimoji="1" lang="ko-KR" altLang="en-US" b="1" dirty="0">
                <a:ln w="6350">
                  <a:solidFill>
                    <a:schemeClr val="tx1">
                      <a:alpha val="68000"/>
                    </a:schemeClr>
                  </a:solidFill>
                </a:ln>
                <a:solidFill>
                  <a:schemeClr val="bg1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</a:rPr>
              <a:t>로 이동</a:t>
            </a:r>
            <a:endParaRPr kumimoji="1" lang="en-US" altLang="ko-KR" b="1" dirty="0">
              <a:ln w="6350">
                <a:solidFill>
                  <a:schemeClr val="tx1">
                    <a:alpha val="68000"/>
                  </a:schemeClr>
                </a:solidFill>
              </a:ln>
              <a:solidFill>
                <a:schemeClr val="bg1"/>
              </a:solidFill>
              <a:latin typeface="NANUMGOTHIC EXTRABOLD" panose="020D0604000000000000" pitchFamily="34" charset="-127"/>
              <a:ea typeface="NANUMGOTHIC EXTRABOLD" panose="020D0604000000000000" pitchFamily="34" charset="-127"/>
            </a:endParaRPr>
          </a:p>
          <a:p>
            <a:pPr algn="ctr"/>
            <a:endParaRPr kumimoji="1" lang="en-US" altLang="ko-KR" b="1" dirty="0">
              <a:ln w="6350">
                <a:solidFill>
                  <a:schemeClr val="tx1">
                    <a:alpha val="68000"/>
                  </a:schemeClr>
                </a:solidFill>
              </a:ln>
              <a:solidFill>
                <a:schemeClr val="bg1"/>
              </a:solidFill>
              <a:latin typeface="NANUMGOTHIC EXTRABOLD" panose="020D0604000000000000" pitchFamily="34" charset="-127"/>
              <a:ea typeface="NANUMGOTHIC EXTRABOLD" panose="020D0604000000000000" pitchFamily="34" charset="-127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FDF684AD-DDEB-CE2D-2B21-2A3C747BD482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85000"/>
          </a:blip>
          <a:stretch>
            <a:fillRect/>
          </a:stretch>
        </p:blipFill>
        <p:spPr>
          <a:xfrm rot="9786139">
            <a:off x="6597421" y="4775140"/>
            <a:ext cx="2617379" cy="65477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F8869AC-AA25-3396-DE57-C9E4B4A40714}"/>
              </a:ext>
            </a:extLst>
          </p:cNvPr>
          <p:cNvSpPr txBox="1"/>
          <p:nvPr/>
        </p:nvSpPr>
        <p:spPr>
          <a:xfrm>
            <a:off x="8569603" y="3474615"/>
            <a:ext cx="2786018" cy="1200329"/>
          </a:xfrm>
          <a:prstGeom prst="rect">
            <a:avLst/>
          </a:prstGeom>
          <a:solidFill>
            <a:schemeClr val="tx1">
              <a:alpha val="31941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endParaRPr kumimoji="1" lang="en-US" altLang="ko-KR" b="1" dirty="0">
              <a:ln w="6350">
                <a:solidFill>
                  <a:schemeClr val="tx1">
                    <a:alpha val="68000"/>
                  </a:schemeClr>
                </a:solidFill>
              </a:ln>
              <a:solidFill>
                <a:schemeClr val="bg1"/>
              </a:solidFill>
              <a:latin typeface="NANUMGOTHIC EXTRABOLD" panose="020D0604000000000000" pitchFamily="34" charset="-127"/>
              <a:ea typeface="NANUMGOTHIC EXTRABOLD" panose="020D0604000000000000" pitchFamily="34" charset="-127"/>
            </a:endParaRPr>
          </a:p>
          <a:p>
            <a:pPr algn="ctr"/>
            <a:r>
              <a:rPr kumimoji="1" lang="en-US" altLang="ko-KR" b="1" dirty="0">
                <a:ln w="6350">
                  <a:solidFill>
                    <a:schemeClr val="tx1">
                      <a:alpha val="68000"/>
                    </a:schemeClr>
                  </a:solidFill>
                </a:ln>
                <a:solidFill>
                  <a:schemeClr val="bg1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</a:rPr>
              <a:t>INFO</a:t>
            </a:r>
            <a:r>
              <a:rPr kumimoji="1" lang="ko-KR" altLang="en-US" b="1" dirty="0">
                <a:ln w="6350">
                  <a:solidFill>
                    <a:schemeClr val="tx1">
                      <a:alpha val="68000"/>
                    </a:schemeClr>
                  </a:solidFill>
                </a:ln>
                <a:solidFill>
                  <a:schemeClr val="bg1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</a:rPr>
              <a:t>에서</a:t>
            </a:r>
            <a:endParaRPr kumimoji="1" lang="en-US" altLang="ko-KR" b="1" dirty="0">
              <a:ln w="6350">
                <a:solidFill>
                  <a:schemeClr val="tx1">
                    <a:alpha val="68000"/>
                  </a:schemeClr>
                </a:solidFill>
              </a:ln>
              <a:solidFill>
                <a:schemeClr val="bg1"/>
              </a:solidFill>
              <a:latin typeface="NANUMGOTHIC EXTRABOLD" panose="020D0604000000000000" pitchFamily="34" charset="-127"/>
              <a:ea typeface="NANUMGOTHIC EXTRABOLD" panose="020D0604000000000000" pitchFamily="34" charset="-127"/>
            </a:endParaRPr>
          </a:p>
          <a:p>
            <a:pPr algn="ctr"/>
            <a:r>
              <a:rPr kumimoji="1" lang="en-US" altLang="ko-KR" b="1" dirty="0">
                <a:ln w="6350">
                  <a:solidFill>
                    <a:schemeClr val="tx1">
                      <a:alpha val="68000"/>
                    </a:schemeClr>
                  </a:solidFill>
                </a:ln>
                <a:solidFill>
                  <a:schemeClr val="bg1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</a:rPr>
              <a:t>3</a:t>
            </a:r>
            <a:r>
              <a:rPr kumimoji="1" lang="ko-KR" altLang="en-US" b="1" dirty="0">
                <a:ln w="6350">
                  <a:solidFill>
                    <a:schemeClr val="tx1">
                      <a:alpha val="68000"/>
                    </a:schemeClr>
                  </a:solidFill>
                </a:ln>
                <a:solidFill>
                  <a:schemeClr val="bg1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</a:rPr>
              <a:t>번 </a:t>
            </a:r>
            <a:r>
              <a:rPr kumimoji="1" lang="ko-KR" altLang="en-US" b="1" dirty="0" err="1">
                <a:ln w="6350">
                  <a:solidFill>
                    <a:schemeClr val="tx1">
                      <a:alpha val="68000"/>
                    </a:schemeClr>
                  </a:solidFill>
                </a:ln>
                <a:solidFill>
                  <a:schemeClr val="bg1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</a:rPr>
              <a:t>입력시</a:t>
            </a:r>
            <a:r>
              <a:rPr kumimoji="1" lang="ko-KR" altLang="en-US" b="1" dirty="0">
                <a:ln w="6350">
                  <a:solidFill>
                    <a:schemeClr val="tx1">
                      <a:alpha val="68000"/>
                    </a:schemeClr>
                  </a:solidFill>
                </a:ln>
                <a:solidFill>
                  <a:schemeClr val="bg1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</a:rPr>
              <a:t> 게임종료</a:t>
            </a:r>
            <a:endParaRPr kumimoji="1" lang="en-US" altLang="ko-KR" b="1" dirty="0">
              <a:ln w="6350">
                <a:solidFill>
                  <a:schemeClr val="tx1">
                    <a:alpha val="68000"/>
                  </a:schemeClr>
                </a:solidFill>
              </a:ln>
              <a:solidFill>
                <a:schemeClr val="bg1"/>
              </a:solidFill>
              <a:latin typeface="NANUMGOTHIC EXTRABOLD" panose="020D0604000000000000" pitchFamily="34" charset="-127"/>
              <a:ea typeface="NANUMGOTHIC EXTRABOLD" panose="020D0604000000000000" pitchFamily="34" charset="-127"/>
            </a:endParaRPr>
          </a:p>
          <a:p>
            <a:pPr algn="ctr"/>
            <a:endParaRPr kumimoji="1" lang="en-US" altLang="ko-KR" b="1" dirty="0">
              <a:ln w="6350">
                <a:solidFill>
                  <a:schemeClr val="tx1">
                    <a:alpha val="68000"/>
                  </a:schemeClr>
                </a:solidFill>
              </a:ln>
              <a:solidFill>
                <a:schemeClr val="bg1"/>
              </a:solidFill>
              <a:latin typeface="NANUMGOTHIC EXTRABOLD" panose="020D0604000000000000" pitchFamily="34" charset="-127"/>
              <a:ea typeface="NANUMGOTHIC EXTRABOLD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680546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ì¢ì´, ë°°ê²½, ë¹ Paper, ì°¸ê³ , ì°ê¸°, ë­ê°ë¥¼ ì°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888" y="128239"/>
            <a:ext cx="11846225" cy="6601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순서도: 처리 11"/>
          <p:cNvSpPr/>
          <p:nvPr/>
        </p:nvSpPr>
        <p:spPr>
          <a:xfrm>
            <a:off x="401443" y="243770"/>
            <a:ext cx="1683835" cy="476823"/>
          </a:xfrm>
          <a:prstGeom prst="flowChartProcess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497333" y="128239"/>
            <a:ext cx="8098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01</a:t>
            </a:r>
            <a:endParaRPr lang="ko-KR" altLang="en-US" sz="4000" b="1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2313833" y="189793"/>
            <a:ext cx="9573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리뷰</a:t>
            </a:r>
          </a:p>
        </p:txBody>
      </p:sp>
      <p:sp>
        <p:nvSpPr>
          <p:cNvPr id="52" name="순서도: 처리 51"/>
          <p:cNvSpPr/>
          <p:nvPr/>
        </p:nvSpPr>
        <p:spPr>
          <a:xfrm>
            <a:off x="401443" y="951656"/>
            <a:ext cx="1683835" cy="476823"/>
          </a:xfrm>
          <a:prstGeom prst="flowChartProcess">
            <a:avLst/>
          </a:prstGeom>
          <a:solidFill>
            <a:srgbClr val="E85B3B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/>
          <p:cNvSpPr txBox="1"/>
          <p:nvPr/>
        </p:nvSpPr>
        <p:spPr>
          <a:xfrm>
            <a:off x="497333" y="836125"/>
            <a:ext cx="8098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02</a:t>
            </a:r>
            <a:endParaRPr lang="ko-KR" altLang="en-US" sz="4000" b="1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55" name="순서도: 처리 54"/>
          <p:cNvSpPr/>
          <p:nvPr/>
        </p:nvSpPr>
        <p:spPr>
          <a:xfrm>
            <a:off x="401443" y="1659541"/>
            <a:ext cx="1683835" cy="476823"/>
          </a:xfrm>
          <a:prstGeom prst="flowChartProcess">
            <a:avLst/>
          </a:prstGeom>
          <a:solidFill>
            <a:srgbClr val="538BE8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/>
          <p:cNvSpPr txBox="1"/>
          <p:nvPr/>
        </p:nvSpPr>
        <p:spPr>
          <a:xfrm>
            <a:off x="497333" y="1544010"/>
            <a:ext cx="8098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03</a:t>
            </a:r>
            <a:endParaRPr lang="ko-KR" altLang="en-US" sz="4000" b="1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57" name="순서도: 처리 56"/>
          <p:cNvSpPr/>
          <p:nvPr/>
        </p:nvSpPr>
        <p:spPr>
          <a:xfrm>
            <a:off x="401443" y="2367425"/>
            <a:ext cx="1683835" cy="476823"/>
          </a:xfrm>
          <a:prstGeom prst="flowChartProcess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TextBox 57"/>
          <p:cNvSpPr txBox="1"/>
          <p:nvPr/>
        </p:nvSpPr>
        <p:spPr>
          <a:xfrm>
            <a:off x="497333" y="2251894"/>
            <a:ext cx="8098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04</a:t>
            </a:r>
            <a:endParaRPr lang="ko-KR" altLang="en-US" sz="4000" b="1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59" name="그림 5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7388" y="5472834"/>
            <a:ext cx="755970" cy="1268078"/>
          </a:xfrm>
          <a:prstGeom prst="rect">
            <a:avLst/>
          </a:prstGeom>
        </p:spPr>
      </p:pic>
      <p:sp>
        <p:nvSpPr>
          <p:cNvPr id="41" name="순서도: 처리 40"/>
          <p:cNvSpPr/>
          <p:nvPr/>
        </p:nvSpPr>
        <p:spPr>
          <a:xfrm>
            <a:off x="401443" y="3190841"/>
            <a:ext cx="1683835" cy="476823"/>
          </a:xfrm>
          <a:prstGeom prst="flowChartProcess">
            <a:avLst/>
          </a:prstGeom>
          <a:solidFill>
            <a:srgbClr val="0D0D0D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/>
          <p:cNvSpPr txBox="1"/>
          <p:nvPr/>
        </p:nvSpPr>
        <p:spPr>
          <a:xfrm>
            <a:off x="497333" y="3075310"/>
            <a:ext cx="8098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05</a:t>
            </a:r>
            <a:endParaRPr lang="ko-KR" altLang="en-US" sz="4000" b="1" dirty="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8" name="순서도: 처리 27"/>
          <p:cNvSpPr/>
          <p:nvPr/>
        </p:nvSpPr>
        <p:spPr>
          <a:xfrm>
            <a:off x="2409723" y="1130710"/>
            <a:ext cx="3961580" cy="4601495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200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lang="ko-KR" altLang="en-US" sz="1200" dirty="0">
                <a:solidFill>
                  <a:schemeClr val="tx1"/>
                </a:solidFill>
              </a:rPr>
              <a:t>이번 프로젝트를 진행하면서 조별미션에서 필수적으로 </a:t>
            </a:r>
            <a:r>
              <a:rPr lang="ko-KR" altLang="en-US" sz="1200" dirty="0" err="1">
                <a:solidFill>
                  <a:schemeClr val="tx1"/>
                </a:solidFill>
              </a:rPr>
              <a:t>넣어야할</a:t>
            </a:r>
            <a:r>
              <a:rPr lang="ko-KR" altLang="en-US" sz="1200" dirty="0">
                <a:solidFill>
                  <a:schemeClr val="tx1"/>
                </a:solidFill>
              </a:rPr>
              <a:t> 기능들은 다 추가했지만</a:t>
            </a:r>
            <a:r>
              <a:rPr lang="en-US" altLang="ko-KR" sz="1200" dirty="0">
                <a:solidFill>
                  <a:schemeClr val="tx1"/>
                </a:solidFill>
              </a:rPr>
              <a:t>,</a:t>
            </a:r>
            <a:r>
              <a:rPr lang="ko-KR" altLang="en-US" sz="1200" dirty="0">
                <a:solidFill>
                  <a:schemeClr val="tx1"/>
                </a:solidFill>
              </a:rPr>
              <a:t> 다른 프로젝트와 차별을 </a:t>
            </a:r>
            <a:r>
              <a:rPr lang="ko-KR" altLang="en-US" sz="1200" dirty="0" err="1">
                <a:solidFill>
                  <a:schemeClr val="tx1"/>
                </a:solidFill>
              </a:rPr>
              <a:t>두고싶어서</a:t>
            </a:r>
            <a:r>
              <a:rPr lang="en-US" altLang="ko-KR" sz="1200" dirty="0">
                <a:solidFill>
                  <a:schemeClr val="tx1"/>
                </a:solidFill>
              </a:rPr>
              <a:t>,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 err="1">
                <a:solidFill>
                  <a:schemeClr val="tx1"/>
                </a:solidFill>
              </a:rPr>
              <a:t>단기기억력</a:t>
            </a:r>
            <a:r>
              <a:rPr lang="ko-KR" altLang="en-US" sz="1200" dirty="0">
                <a:solidFill>
                  <a:schemeClr val="tx1"/>
                </a:solidFill>
              </a:rPr>
              <a:t> 테스트와 무한 단어 맞추기를 구현하였습니다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  <a:r>
              <a:rPr lang="ko-KR" altLang="en-US" sz="1200" dirty="0">
                <a:solidFill>
                  <a:schemeClr val="tx1"/>
                </a:solidFill>
              </a:rPr>
              <a:t> 이중 하나만 넣을까 했지만</a:t>
            </a:r>
            <a:r>
              <a:rPr lang="en-US" altLang="ko-KR" sz="1200" dirty="0">
                <a:solidFill>
                  <a:schemeClr val="tx1"/>
                </a:solidFill>
              </a:rPr>
              <a:t>,</a:t>
            </a:r>
            <a:r>
              <a:rPr lang="ko-KR" altLang="en-US" sz="1200" dirty="0">
                <a:solidFill>
                  <a:schemeClr val="tx1"/>
                </a:solidFill>
              </a:rPr>
              <a:t> 게임시작때 모드선택을 넣어서 </a:t>
            </a:r>
            <a:r>
              <a:rPr lang="ko-KR" altLang="en-US" sz="1200" dirty="0" err="1">
                <a:solidFill>
                  <a:schemeClr val="tx1"/>
                </a:solidFill>
              </a:rPr>
              <a:t>둘다</a:t>
            </a:r>
            <a:r>
              <a:rPr lang="ko-KR" altLang="en-US" sz="1200" dirty="0">
                <a:solidFill>
                  <a:schemeClr val="tx1"/>
                </a:solidFill>
              </a:rPr>
              <a:t> 실행할 수 있게 만들어서 서로의견을 </a:t>
            </a:r>
            <a:r>
              <a:rPr lang="ko-KR" altLang="en-US" sz="1200" dirty="0" err="1">
                <a:solidFill>
                  <a:schemeClr val="tx1"/>
                </a:solidFill>
              </a:rPr>
              <a:t>모두반영하였습니다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</a:p>
          <a:p>
            <a:pPr marL="228600" indent="-228600">
              <a:buAutoNum type="arabicPeriod"/>
            </a:pPr>
            <a:endParaRPr lang="en-US" altLang="ko-KR" sz="1200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lang="ko-KR" altLang="en-US" sz="1200" dirty="0">
                <a:solidFill>
                  <a:schemeClr val="tx1"/>
                </a:solidFill>
              </a:rPr>
              <a:t>이번 미니미션을 하면서 메서드와 클래스에 대해 좀더 알아가는 시간이 되었습니다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  <a:r>
              <a:rPr lang="ko-KR" altLang="en-US" sz="1200" dirty="0">
                <a:solidFill>
                  <a:schemeClr val="tx1"/>
                </a:solidFill>
              </a:rPr>
              <a:t> 단일책임의 원칙에 대해서도 좀더 알아가는 시간이 되어 유익한 </a:t>
            </a:r>
            <a:r>
              <a:rPr lang="ko-KR" altLang="en-US" sz="1200" dirty="0" err="1">
                <a:solidFill>
                  <a:schemeClr val="tx1"/>
                </a:solidFill>
              </a:rPr>
              <a:t>미션이였습니다</a:t>
            </a:r>
            <a:r>
              <a:rPr lang="ko-KR" altLang="en-US" sz="1200" dirty="0">
                <a:solidFill>
                  <a:schemeClr val="tx1"/>
                </a:solidFill>
              </a:rPr>
              <a:t> 혼자서도 이런 기능들을 사용하는 프로그램을 만들어보면서 많이 숙달해야 함을 느꼈습니다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45" name="순서도: 처리 44"/>
          <p:cNvSpPr/>
          <p:nvPr/>
        </p:nvSpPr>
        <p:spPr>
          <a:xfrm>
            <a:off x="7244492" y="1130711"/>
            <a:ext cx="3962896" cy="4601494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AutoNum type="arabicPeriod"/>
            </a:pPr>
            <a:endParaRPr lang="en-US" altLang="ko-KR" sz="1200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lang="ko-KR" altLang="en-US" sz="1200" dirty="0">
                <a:solidFill>
                  <a:schemeClr val="tx1"/>
                </a:solidFill>
              </a:rPr>
              <a:t>과제 기간을 고려하여 두 클래스를 합치기에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 err="1">
                <a:solidFill>
                  <a:schemeClr val="tx1"/>
                </a:solidFill>
              </a:rPr>
              <a:t>시간이없어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 err="1">
                <a:solidFill>
                  <a:schemeClr val="tx1"/>
                </a:solidFill>
              </a:rPr>
              <a:t>호출하는식으로</a:t>
            </a:r>
            <a:r>
              <a:rPr lang="ko-KR" altLang="en-US" sz="1200" dirty="0">
                <a:solidFill>
                  <a:schemeClr val="tx1"/>
                </a:solidFill>
              </a:rPr>
              <a:t> 만들었습니다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</a:p>
          <a:p>
            <a:r>
              <a:rPr lang="ko-KR" altLang="en-US" sz="1200" dirty="0">
                <a:solidFill>
                  <a:schemeClr val="tx1"/>
                </a:solidFill>
              </a:rPr>
              <a:t>이과정에서 코드는 몇배로 늘어나 이 부분을 개선할 필요성을 느꼈습니다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2.</a:t>
            </a:r>
            <a:r>
              <a:rPr lang="ko-KR" altLang="en-US" sz="1200" dirty="0">
                <a:solidFill>
                  <a:schemeClr val="tx1"/>
                </a:solidFill>
              </a:rPr>
              <a:t> 단일책임의 원칙과 메서드 별 사용법 </a:t>
            </a:r>
            <a:r>
              <a:rPr lang="en-US" altLang="ko-KR" sz="1200" dirty="0">
                <a:solidFill>
                  <a:schemeClr val="tx1"/>
                </a:solidFill>
              </a:rPr>
              <a:t>,</a:t>
            </a:r>
            <a:r>
              <a:rPr lang="ko-KR" altLang="en-US" sz="1200" dirty="0">
                <a:solidFill>
                  <a:schemeClr val="tx1"/>
                </a:solidFill>
              </a:rPr>
              <a:t> 기능 정의 등 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많은 것을 고려해야하는 부분들이 아직 개선해야 할 것 같습니다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</a:p>
          <a:p>
            <a:r>
              <a:rPr lang="ko-KR" altLang="en-US" sz="1200" dirty="0">
                <a:solidFill>
                  <a:schemeClr val="tx1"/>
                </a:solidFill>
              </a:rPr>
              <a:t>적절한 사용을 할 수 있도록 개선하겠습니다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30" name="갈매기형 수장 29"/>
          <p:cNvSpPr/>
          <p:nvPr/>
        </p:nvSpPr>
        <p:spPr>
          <a:xfrm>
            <a:off x="6427339" y="2844248"/>
            <a:ext cx="817153" cy="1352624"/>
          </a:xfrm>
          <a:prstGeom prst="chevron">
            <a:avLst>
              <a:gd name="adj" fmla="val 58393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8" name="그림 47"/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0141" y="1367763"/>
            <a:ext cx="1083944" cy="1083944"/>
          </a:xfrm>
          <a:prstGeom prst="rect">
            <a:avLst/>
          </a:prstGeom>
          <a:noFill/>
        </p:spPr>
      </p:pic>
      <p:pic>
        <p:nvPicPr>
          <p:cNvPr id="49" name="그림 48"/>
          <p:cNvPicPr>
            <a:picLocks noChangeAspect="1"/>
          </p:cNvPicPr>
          <p:nvPr/>
        </p:nvPicPr>
        <p:blipFill>
          <a:blip r:embed="rId5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9034" y="1428479"/>
            <a:ext cx="1083944" cy="1083944"/>
          </a:xfrm>
          <a:prstGeom prst="rect">
            <a:avLst/>
          </a:prstGeom>
          <a:noFill/>
        </p:spPr>
      </p:pic>
      <p:sp>
        <p:nvSpPr>
          <p:cNvPr id="31" name="TextBox 30"/>
          <p:cNvSpPr txBox="1"/>
          <p:nvPr/>
        </p:nvSpPr>
        <p:spPr>
          <a:xfrm>
            <a:off x="3528776" y="2608920"/>
            <a:ext cx="1574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latin typeface="+mj-lt"/>
                <a:ea typeface="나눔바른고딕" panose="020B0603020101020101" pitchFamily="50" charset="-127"/>
              </a:rPr>
              <a:t>프로젝트 후기</a:t>
            </a:r>
            <a:endParaRPr lang="en-US" altLang="ko-KR" dirty="0">
              <a:latin typeface="+mj-lt"/>
              <a:ea typeface="나눔바른고딕" panose="020B0603020101020101" pitchFamily="50" charset="-127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8928072" y="2590448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latin typeface="+mj-lt"/>
                <a:ea typeface="나눔바른고딕" panose="020B0603020101020101" pitchFamily="50" charset="-127"/>
              </a:rPr>
              <a:t>개선점</a:t>
            </a:r>
          </a:p>
        </p:txBody>
      </p:sp>
    </p:spTree>
    <p:extLst>
      <p:ext uri="{BB962C8B-B14F-4D97-AF65-F5344CB8AC3E}">
        <p14:creationId xmlns:p14="http://schemas.microsoft.com/office/powerpoint/2010/main" val="23394453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순서도: 처리 1">
            <a:extLst>
              <a:ext uri="{FF2B5EF4-FFF2-40B4-BE49-F238E27FC236}">
                <a16:creationId xmlns:a16="http://schemas.microsoft.com/office/drawing/2014/main" id="{1395E281-3F06-48FC-B504-2C4604DC75EC}"/>
              </a:ext>
            </a:extLst>
          </p:cNvPr>
          <p:cNvSpPr/>
          <p:nvPr/>
        </p:nvSpPr>
        <p:spPr>
          <a:xfrm>
            <a:off x="236376" y="228600"/>
            <a:ext cx="11719249" cy="6400800"/>
          </a:xfrm>
          <a:prstGeom prst="flowChartProcess">
            <a:avLst/>
          </a:prstGeom>
          <a:solidFill>
            <a:srgbClr val="A9D18E"/>
          </a:solidFill>
          <a:ln w="38100">
            <a:solidFill>
              <a:srgbClr val="0D0D0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3" name="TextBox 82"/>
          <p:cNvSpPr txBox="1"/>
          <p:nvPr/>
        </p:nvSpPr>
        <p:spPr>
          <a:xfrm>
            <a:off x="4347007" y="1388414"/>
            <a:ext cx="370325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감사합니다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483"/>
          <a:stretch/>
        </p:blipFill>
        <p:spPr>
          <a:xfrm>
            <a:off x="3157855" y="3159516"/>
            <a:ext cx="5876290" cy="4434464"/>
          </a:xfrm>
          <a:prstGeom prst="rect">
            <a:avLst/>
          </a:prstGeom>
        </p:spPr>
      </p:pic>
      <p:cxnSp>
        <p:nvCxnSpPr>
          <p:cNvPr id="7" name="직선 연결선 6"/>
          <p:cNvCxnSpPr/>
          <p:nvPr/>
        </p:nvCxnSpPr>
        <p:spPr>
          <a:xfrm>
            <a:off x="2161079" y="3011951"/>
            <a:ext cx="1300563" cy="589893"/>
          </a:xfrm>
          <a:prstGeom prst="line">
            <a:avLst/>
          </a:prstGeom>
          <a:ln w="571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/>
          <p:cNvCxnSpPr/>
          <p:nvPr/>
        </p:nvCxnSpPr>
        <p:spPr>
          <a:xfrm>
            <a:off x="1800738" y="4056164"/>
            <a:ext cx="1416712" cy="31486"/>
          </a:xfrm>
          <a:prstGeom prst="line">
            <a:avLst/>
          </a:prstGeom>
          <a:ln w="571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 flipV="1">
            <a:off x="2002689" y="4551918"/>
            <a:ext cx="1078623" cy="158022"/>
          </a:xfrm>
          <a:prstGeom prst="line">
            <a:avLst/>
          </a:prstGeom>
          <a:ln w="571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 flipV="1">
            <a:off x="8484339" y="3239634"/>
            <a:ext cx="1550124" cy="455809"/>
          </a:xfrm>
          <a:prstGeom prst="line">
            <a:avLst/>
          </a:prstGeom>
          <a:ln w="571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 flipV="1">
            <a:off x="9259401" y="4087650"/>
            <a:ext cx="1416712" cy="105661"/>
          </a:xfrm>
          <a:prstGeom prst="line">
            <a:avLst/>
          </a:prstGeom>
          <a:ln w="571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/>
        </p:nvCxnSpPr>
        <p:spPr>
          <a:xfrm>
            <a:off x="9431315" y="5015167"/>
            <a:ext cx="962435" cy="414736"/>
          </a:xfrm>
          <a:prstGeom prst="line">
            <a:avLst/>
          </a:prstGeom>
          <a:ln w="571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33581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660</TotalTime>
  <Words>589</Words>
  <Application>Microsoft Macintosh PowerPoint</Application>
  <PresentationFormat>와이드스크린</PresentationFormat>
  <Paragraphs>223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3" baseType="lpstr">
      <vt:lpstr>나눔고딕 ExtraBold</vt:lpstr>
      <vt:lpstr>NANUMGOTHIC EXTRABOLD</vt:lpstr>
      <vt:lpstr>맑은 고딕</vt:lpstr>
      <vt:lpstr>Arial</vt:lpstr>
      <vt:lpstr>배달의민족 한나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김가율</cp:lastModifiedBy>
  <cp:revision>20</cp:revision>
  <dcterms:created xsi:type="dcterms:W3CDTF">2018-08-23T08:42:47Z</dcterms:created>
  <dcterms:modified xsi:type="dcterms:W3CDTF">2023-11-28T17:17:54Z</dcterms:modified>
</cp:coreProperties>
</file>